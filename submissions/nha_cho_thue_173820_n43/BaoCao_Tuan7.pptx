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48"/>
  </p:notesMasterIdLst>
  <p:sldIdLst>
    <p:sldId id="256" r:id="rId2"/>
    <p:sldId id="257" r:id="rId3"/>
    <p:sldId id="258" r:id="rId4"/>
    <p:sldId id="304" r:id="rId5"/>
    <p:sldId id="260" r:id="rId6"/>
    <p:sldId id="278" r:id="rId7"/>
    <p:sldId id="268" r:id="rId8"/>
    <p:sldId id="273" r:id="rId9"/>
    <p:sldId id="282" r:id="rId10"/>
    <p:sldId id="305" r:id="rId11"/>
    <p:sldId id="262" r:id="rId12"/>
    <p:sldId id="263" r:id="rId13"/>
    <p:sldId id="264" r:id="rId14"/>
    <p:sldId id="279" r:id="rId15"/>
    <p:sldId id="302" r:id="rId16"/>
    <p:sldId id="303" r:id="rId17"/>
    <p:sldId id="306" r:id="rId18"/>
    <p:sldId id="300" r:id="rId19"/>
    <p:sldId id="271" r:id="rId20"/>
    <p:sldId id="307" r:id="rId21"/>
    <p:sldId id="308" r:id="rId22"/>
    <p:sldId id="309" r:id="rId23"/>
    <p:sldId id="310" r:id="rId24"/>
    <p:sldId id="270" r:id="rId25"/>
    <p:sldId id="274" r:id="rId26"/>
    <p:sldId id="281" r:id="rId27"/>
    <p:sldId id="283" r:id="rId28"/>
    <p:sldId id="284" r:id="rId29"/>
    <p:sldId id="285" r:id="rId30"/>
    <p:sldId id="275" r:id="rId31"/>
    <p:sldId id="287" r:id="rId32"/>
    <p:sldId id="288" r:id="rId33"/>
    <p:sldId id="290" r:id="rId34"/>
    <p:sldId id="289" r:id="rId35"/>
    <p:sldId id="292" r:id="rId36"/>
    <p:sldId id="293" r:id="rId37"/>
    <p:sldId id="294" r:id="rId38"/>
    <p:sldId id="295" r:id="rId39"/>
    <p:sldId id="296" r:id="rId40"/>
    <p:sldId id="297" r:id="rId41"/>
    <p:sldId id="311" r:id="rId42"/>
    <p:sldId id="298" r:id="rId43"/>
    <p:sldId id="299" r:id="rId44"/>
    <p:sldId id="301" r:id="rId45"/>
    <p:sldId id="291" r:id="rId46"/>
    <p:sldId id="277" r:id="rId47"/>
  </p:sldIdLst>
  <p:sldSz cx="12192000" cy="6858000"/>
  <p:notesSz cx="6858000" cy="9144000"/>
  <p:embeddedFontLst>
    <p:embeddedFont>
      <p:font typeface="Lato" panose="020F0502020204030203"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511797-984D-44DA-BBBC-5FB16A20FFCF}">
  <a:tblStyle styleId="{01511797-984D-44DA-BBBC-5FB16A20FF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E1E6508-F367-4ECA-80C0-B89025BEE641}" styleName="Table_1">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ADF8732-23A7-3C8F-1CAB-7271747CCB5A}"/>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AB4C994E-7CBB-2587-3637-FD91B37B9C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8ADABBF4-9A12-97E5-40BC-2ED06B13FB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7215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409d7afccd9_1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409d7afccd9_1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51189884-FDE0-9091-32AF-FDCAA51FF885}"/>
            </a:ext>
          </a:extLst>
        </p:cNvPr>
        <p:cNvGrpSpPr/>
        <p:nvPr/>
      </p:nvGrpSpPr>
      <p:grpSpPr>
        <a:xfrm>
          <a:off x="0" y="0"/>
          <a:ext cx="0" cy="0"/>
          <a:chOff x="0" y="0"/>
          <a:chExt cx="0" cy="0"/>
        </a:xfrm>
      </p:grpSpPr>
      <p:sp>
        <p:nvSpPr>
          <p:cNvPr id="106" name="Google Shape;106;g409d7afccd9_1_6:notes">
            <a:extLst>
              <a:ext uri="{FF2B5EF4-FFF2-40B4-BE49-F238E27FC236}">
                <a16:creationId xmlns:a16="http://schemas.microsoft.com/office/drawing/2014/main" id="{7A7EFD0D-563C-BC47-BB81-9285BF359A3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409d7afccd9_1_6:notes">
            <a:extLst>
              <a:ext uri="{FF2B5EF4-FFF2-40B4-BE49-F238E27FC236}">
                <a16:creationId xmlns:a16="http://schemas.microsoft.com/office/drawing/2014/main" id="{276B3C3F-203C-9C31-418D-845D28EC68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365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b4776426e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fb4776426e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6C023E1-1836-0259-E0EE-A127805768E1}"/>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D3AD58C3-EDD9-BBA5-A64F-615FEAA812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D36431D7-D5BF-3731-14BF-6A756C7EF5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821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b4776426e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fb4776426e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fb4776426e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3fb4776426e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EA70F503-AA67-5189-5B4E-4670C5DC3DB1}"/>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4F8AA90D-69D3-B12F-8944-77D53BD5FD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AA43CBFB-1220-9149-9278-8C262FB1C6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955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412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33859A0A-1FFD-9C37-C721-460FE062838C}"/>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FF3555A4-117D-0EC2-00FF-9053E9B414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a:extLst>
              <a:ext uri="{FF2B5EF4-FFF2-40B4-BE49-F238E27FC236}">
                <a16:creationId xmlns:a16="http://schemas.microsoft.com/office/drawing/2014/main" id="{51E6D782-FF1E-1668-DAA8-A031B4704C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1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D92ABB51-5193-3081-0AB0-0200250BE3D4}"/>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B5783378-67F7-A957-CBC5-D70F4F6CAB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a:extLst>
              <a:ext uri="{FF2B5EF4-FFF2-40B4-BE49-F238E27FC236}">
                <a16:creationId xmlns:a16="http://schemas.microsoft.com/office/drawing/2014/main" id="{6E84F338-C09B-19DA-807C-5359FE3D2B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1194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31788A33-1F44-A412-4141-5620C99293C1}"/>
            </a:ext>
          </a:extLst>
        </p:cNvPr>
        <p:cNvGrpSpPr/>
        <p:nvPr/>
      </p:nvGrpSpPr>
      <p:grpSpPr>
        <a:xfrm>
          <a:off x="0" y="0"/>
          <a:ext cx="0" cy="0"/>
          <a:chOff x="0" y="0"/>
          <a:chExt cx="0" cy="0"/>
        </a:xfrm>
      </p:grpSpPr>
      <p:sp>
        <p:nvSpPr>
          <p:cNvPr id="185" name="Google Shape;185;p7:notes">
            <a:extLst>
              <a:ext uri="{FF2B5EF4-FFF2-40B4-BE49-F238E27FC236}">
                <a16:creationId xmlns:a16="http://schemas.microsoft.com/office/drawing/2014/main" id="{56FEEBE6-8C23-5E6C-A24B-4A812AF6A8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a:extLst>
              <a:ext uri="{FF2B5EF4-FFF2-40B4-BE49-F238E27FC236}">
                <a16:creationId xmlns:a16="http://schemas.microsoft.com/office/drawing/2014/main" id="{D482B45E-874B-F1EA-7FC8-9089D81300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55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94C7DE6-DDAB-0505-C02C-9F7578CC76F3}"/>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8F6A4392-990F-6CA5-1BF9-AC3501561D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95426A8B-9D2F-60F9-5212-548A881355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9009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32FED7AE-12FE-7480-1428-C16FC9850320}"/>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B821FB95-F07A-0438-4C17-5C8621C087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44433FC9-E4B3-3736-9C06-92269640E8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180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1426E4C6-37A8-0BDC-C31E-F88D220DBEAB}"/>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CFBB3350-081A-2C47-C719-A9C728C3AF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621D7F40-46DB-75C2-3D95-891D35EC1B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6043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A0B952BC-0178-D793-74D5-1AB7B3AB3A2F}"/>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177540F7-63D8-C9C9-3EAF-F06FAE4C22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EA5D014A-514A-DB1E-1249-024661EDA8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6631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3B9EEBC7-8AFC-CBD2-F9A8-B9E706956B65}"/>
            </a:ext>
          </a:extLst>
        </p:cNvPr>
        <p:cNvGrpSpPr/>
        <p:nvPr/>
      </p:nvGrpSpPr>
      <p:grpSpPr>
        <a:xfrm>
          <a:off x="0" y="0"/>
          <a:ext cx="0" cy="0"/>
          <a:chOff x="0" y="0"/>
          <a:chExt cx="0" cy="0"/>
        </a:xfrm>
      </p:grpSpPr>
      <p:sp>
        <p:nvSpPr>
          <p:cNvPr id="215" name="Google Shape;215;p11:notes">
            <a:extLst>
              <a:ext uri="{FF2B5EF4-FFF2-40B4-BE49-F238E27FC236}">
                <a16:creationId xmlns:a16="http://schemas.microsoft.com/office/drawing/2014/main" id="{69C55005-A578-0515-CAC0-3009AEE953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1:notes">
            <a:extLst>
              <a:ext uri="{FF2B5EF4-FFF2-40B4-BE49-F238E27FC236}">
                <a16:creationId xmlns:a16="http://schemas.microsoft.com/office/drawing/2014/main" id="{28EE9F84-FB78-A8A5-F4DA-3FD51F7CC6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5189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EDE51C7-1C50-70A1-1C5A-D68CC981BE0A}"/>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70EFA57E-2B88-CA9D-E25F-FEE8288BD9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C781DD6E-6FEC-2944-140F-4D68BDF1FC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2021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4"/>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5"/>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5"/>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5"/>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5"/>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6"/>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6"/>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6"/>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6"/>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6"/>
          <p:cNvSpPr>
            <a:spLocks noGrp="1"/>
          </p:cNvSpPr>
          <p:nvPr>
            <p:ph type="pic" idx="3"/>
          </p:nvPr>
        </p:nvSpPr>
        <p:spPr>
          <a:xfrm>
            <a:off x="6238875" y="1414463"/>
            <a:ext cx="5445125" cy="4656137"/>
          </a:xfrm>
          <a:prstGeom prst="rect">
            <a:avLst/>
          </a:prstGeom>
          <a:noFill/>
          <a:ln>
            <a:no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7"/>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7"/>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7"/>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8"/>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8"/>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8"/>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8"/>
          <p:cNvSpPr>
            <a:spLocks noGrp="1"/>
          </p:cNvSpPr>
          <p:nvPr>
            <p:ph type="chart" idx="2"/>
          </p:nvPr>
        </p:nvSpPr>
        <p:spPr>
          <a:xfrm>
            <a:off x="338736" y="1406525"/>
            <a:ext cx="5757264" cy="46704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a:spLocks noGrp="1"/>
          </p:cNvSpPr>
          <p:nvPr>
            <p:ph type="tbl" idx="3"/>
          </p:nvPr>
        </p:nvSpPr>
        <p:spPr>
          <a:xfrm>
            <a:off x="6210300" y="1392239"/>
            <a:ext cx="5592763" cy="46847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10"/>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10"/>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10"/>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0"/>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1"/>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11"/>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1"/>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11"/>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11"/>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1" name="Google Shape;61;p11"/>
          <p:cNvSpPr>
            <a:spLocks noGrp="1"/>
          </p:cNvSpPr>
          <p:nvPr>
            <p:ph type="pic" idx="3"/>
          </p:nvPr>
        </p:nvSpPr>
        <p:spPr>
          <a:xfrm>
            <a:off x="6238875" y="1414463"/>
            <a:ext cx="5445125" cy="4656137"/>
          </a:xfrm>
          <a:prstGeom prst="rect">
            <a:avLst/>
          </a:prstGeom>
          <a:noFill/>
          <a:ln>
            <a:no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2"/>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 name="Google Shape;64;p12"/>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2"/>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2"/>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3"/>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3"/>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3"/>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13"/>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3" name="Google Shape;73;p13"/>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4" name="Google Shape;74;p13"/>
          <p:cNvSpPr>
            <a:spLocks noGrp="1"/>
          </p:cNvSpPr>
          <p:nvPr>
            <p:ph type="pic" idx="3"/>
          </p:nvPr>
        </p:nvSpPr>
        <p:spPr>
          <a:xfrm>
            <a:off x="6238875" y="1414463"/>
            <a:ext cx="5445125" cy="4656137"/>
          </a:xfrm>
          <a:prstGeom prst="rect">
            <a:avLst/>
          </a:prstGeom>
          <a:noFill/>
          <a:ln>
            <a:no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alphaModFix/>
          </a:blip>
          <a:stretch>
            <a:fillRect/>
          </a:stretch>
        </a:blipFill>
        <a:effectLst/>
      </p:bgPr>
    </p:bg>
    <p:spTree>
      <p:nvGrpSpPr>
        <p:cNvPr id="1" name="Shape 75"/>
        <p:cNvGrpSpPr/>
        <p:nvPr/>
      </p:nvGrpSpPr>
      <p:grpSpPr>
        <a:xfrm>
          <a:off x="0" y="0"/>
          <a:ext cx="0" cy="0"/>
          <a:chOff x="0" y="0"/>
          <a:chExt cx="0" cy="0"/>
        </a:xfrm>
      </p:grpSpPr>
      <p:sp>
        <p:nvSpPr>
          <p:cNvPr id="76" name="Google Shape;76;p1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fossbk-spec.github.io/ktpmud-book/ch02_yeu_cau_thiet_ke_c4" TargetMode="External"/><Relationship Id="rId2" Type="http://schemas.openxmlformats.org/officeDocument/2006/relationships/hyperlink" Target="https://fptshop.com.vn/tin-tuc/danh-gia/phan-mem-quan-ly-nha-tro-172485" TargetMode="External"/><Relationship Id="rId1" Type="http://schemas.openxmlformats.org/officeDocument/2006/relationships/slideLayout" Target="../slideLayouts/slideLayout9.xml"/><Relationship Id="rId4" Type="http://schemas.openxmlformats.org/officeDocument/2006/relationships/hyperlink" Target="https://fossbk-spec.github.io/ktpmud-book/ch01_tong_quan_sdlc"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6"/>
          <p:cNvPicPr preferRelativeResize="0"/>
          <p:nvPr/>
        </p:nvPicPr>
        <p:blipFill rotWithShape="1">
          <a:blip r:embed="rId3">
            <a:alphaModFix/>
          </a:blip>
          <a:srcRect/>
          <a:stretch/>
        </p:blipFill>
        <p:spPr>
          <a:xfrm>
            <a:off x="386634" y="331380"/>
            <a:ext cx="3174367" cy="952975"/>
          </a:xfrm>
          <a:prstGeom prst="rect">
            <a:avLst/>
          </a:prstGeom>
          <a:noFill/>
          <a:ln>
            <a:noFill/>
          </a:ln>
        </p:spPr>
      </p:pic>
      <p:sp>
        <p:nvSpPr>
          <p:cNvPr id="88" name="Google Shape;88;p16"/>
          <p:cNvSpPr txBox="1"/>
          <p:nvPr/>
        </p:nvSpPr>
        <p:spPr>
          <a:xfrm>
            <a:off x="386625" y="1824325"/>
            <a:ext cx="10107300" cy="1623300"/>
          </a:xfrm>
          <a:prstGeom prst="rect">
            <a:avLst/>
          </a:prstGeom>
          <a:noFill/>
          <a:ln>
            <a:noFill/>
          </a:ln>
        </p:spPr>
        <p:txBody>
          <a:bodyPr spcFirstLastPara="1" wrap="square" lIns="91425" tIns="45700" rIns="91425" bIns="45700" anchor="t" anchorCtr="0">
            <a:noAutofit/>
          </a:bodyPr>
          <a:lstStyle/>
          <a:p>
            <a:pPr lvl="0">
              <a:lnSpc>
                <a:spcPct val="90000"/>
              </a:lnSpc>
              <a:buClr>
                <a:srgbClr val="C00000"/>
              </a:buClr>
              <a:buSzPts val="5400"/>
            </a:pPr>
            <a:r>
              <a:rPr lang="en-US" sz="4000" b="1" dirty="0">
                <a:solidFill>
                  <a:srgbClr val="C00000"/>
                </a:solidFill>
              </a:rPr>
              <a:t>BÁO CÁO QUÁ TRÌNH TUẦN </a:t>
            </a:r>
            <a:r>
              <a:rPr lang="vi-VN" sz="4000" b="1" dirty="0">
                <a:solidFill>
                  <a:srgbClr val="C00000"/>
                </a:solidFill>
              </a:rPr>
              <a:t>5</a:t>
            </a:r>
            <a:br>
              <a:rPr lang="en-US" sz="4000" b="1" dirty="0">
                <a:solidFill>
                  <a:srgbClr val="C00000"/>
                </a:solidFill>
              </a:rPr>
            </a:br>
            <a:r>
              <a:rPr lang="en-US" sz="4000" b="1" dirty="0">
                <a:solidFill>
                  <a:srgbClr val="C00000"/>
                </a:solidFill>
              </a:rPr>
              <a:t>ĐỀ TÀI:</a:t>
            </a:r>
            <a:r>
              <a:rPr lang="en-US" sz="4000" b="1" dirty="0">
                <a:solidFill>
                  <a:srgbClr val="C00000"/>
                </a:solidFill>
                <a:latin typeface="Lato"/>
                <a:ea typeface="Lato"/>
                <a:cs typeface="Lato"/>
                <a:sym typeface="Lato"/>
              </a:rPr>
              <a:t> </a:t>
            </a:r>
            <a:r>
              <a:rPr lang="en-US" sz="4000" b="1" dirty="0" err="1">
                <a:solidFill>
                  <a:srgbClr val="C00000"/>
                </a:solidFill>
              </a:rPr>
              <a:t>Xây</a:t>
            </a:r>
            <a:r>
              <a:rPr lang="en-US" sz="4000" b="1" dirty="0">
                <a:solidFill>
                  <a:srgbClr val="C00000"/>
                </a:solidFill>
              </a:rPr>
              <a:t> </a:t>
            </a:r>
            <a:r>
              <a:rPr lang="en-US" sz="4000" b="1" dirty="0" err="1">
                <a:solidFill>
                  <a:srgbClr val="C00000"/>
                </a:solidFill>
              </a:rPr>
              <a:t>dựng</a:t>
            </a:r>
            <a:r>
              <a:rPr lang="en-US" sz="4000" b="1" dirty="0">
                <a:solidFill>
                  <a:srgbClr val="C00000"/>
                </a:solidFill>
              </a:rPr>
              <a:t> </a:t>
            </a:r>
            <a:r>
              <a:rPr lang="en-US" sz="4000" b="1" dirty="0" err="1">
                <a:solidFill>
                  <a:srgbClr val="C00000"/>
                </a:solidFill>
              </a:rPr>
              <a:t>phần</a:t>
            </a:r>
            <a:r>
              <a:rPr lang="en-US" sz="4000" b="1" dirty="0">
                <a:solidFill>
                  <a:srgbClr val="C00000"/>
                </a:solidFill>
              </a:rPr>
              <a:t> </a:t>
            </a:r>
            <a:r>
              <a:rPr lang="en-US" sz="4000" b="1" dirty="0" err="1">
                <a:solidFill>
                  <a:srgbClr val="C00000"/>
                </a:solidFill>
              </a:rPr>
              <a:t>mềm</a:t>
            </a:r>
            <a:r>
              <a:rPr lang="en-US" sz="4000" b="1" dirty="0">
                <a:solidFill>
                  <a:srgbClr val="C00000"/>
                </a:solidFill>
              </a:rPr>
              <a:t> </a:t>
            </a:r>
            <a:r>
              <a:rPr lang="en-US" sz="4000" b="1" dirty="0" err="1">
                <a:solidFill>
                  <a:srgbClr val="C00000"/>
                </a:solidFill>
              </a:rPr>
              <a:t>quản</a:t>
            </a:r>
            <a:r>
              <a:rPr lang="en-US" sz="4000" b="1" dirty="0">
                <a:solidFill>
                  <a:srgbClr val="C00000"/>
                </a:solidFill>
              </a:rPr>
              <a:t> </a:t>
            </a:r>
            <a:r>
              <a:rPr lang="en-US" sz="4000" b="1" dirty="0" err="1">
                <a:solidFill>
                  <a:srgbClr val="C00000"/>
                </a:solidFill>
              </a:rPr>
              <a:t>lý</a:t>
            </a:r>
            <a:r>
              <a:rPr lang="en-US" sz="4000" b="1" dirty="0">
                <a:solidFill>
                  <a:srgbClr val="C00000"/>
                </a:solidFill>
              </a:rPr>
              <a:t> </a:t>
            </a:r>
            <a:r>
              <a:rPr lang="en-US" sz="4000" b="1" dirty="0" err="1">
                <a:solidFill>
                  <a:srgbClr val="C00000"/>
                </a:solidFill>
              </a:rPr>
              <a:t>nhà</a:t>
            </a:r>
            <a:r>
              <a:rPr lang="en-US" sz="4000" b="1" dirty="0">
                <a:solidFill>
                  <a:srgbClr val="C00000"/>
                </a:solidFill>
              </a:rPr>
              <a:t> </a:t>
            </a:r>
            <a:r>
              <a:rPr lang="en-US" sz="4000" b="1" dirty="0" err="1">
                <a:solidFill>
                  <a:srgbClr val="C00000"/>
                </a:solidFill>
              </a:rPr>
              <a:t>cho</a:t>
            </a:r>
            <a:r>
              <a:rPr lang="vi-VN" sz="4000" b="1" dirty="0">
                <a:solidFill>
                  <a:srgbClr val="C00000"/>
                </a:solidFill>
              </a:rPr>
              <a:t> thuê tại Nhà 57 Giảng Võ</a:t>
            </a:r>
            <a:endParaRPr sz="4000" b="1" dirty="0">
              <a:solidFill>
                <a:srgbClr val="C00000"/>
              </a:solidFill>
            </a:endParaRPr>
          </a:p>
        </p:txBody>
      </p:sp>
      <p:sp>
        <p:nvSpPr>
          <p:cNvPr id="89" name="Google Shape;89;p16"/>
          <p:cNvSpPr txBox="1"/>
          <p:nvPr/>
        </p:nvSpPr>
        <p:spPr>
          <a:xfrm>
            <a:off x="386634" y="4137574"/>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800"/>
              <a:buFont typeface="Lato"/>
              <a:buNone/>
            </a:pPr>
            <a:r>
              <a:rPr lang="en-US" sz="2800" dirty="0">
                <a:solidFill>
                  <a:srgbClr val="C00000"/>
                </a:solidFill>
              </a:rPr>
              <a:t>GVHD: TS Hoàng Quang Huy</a:t>
            </a:r>
            <a:endParaRPr sz="2800" dirty="0">
              <a:solidFill>
                <a:srgbClr val="C00000"/>
              </a:solidFill>
            </a:endParaRPr>
          </a:p>
          <a:p>
            <a:pPr marL="0" marR="0" lvl="0" indent="0" algn="l" rtl="0">
              <a:lnSpc>
                <a:spcPct val="90000"/>
              </a:lnSpc>
              <a:spcBef>
                <a:spcPts val="0"/>
              </a:spcBef>
              <a:spcAft>
                <a:spcPts val="0"/>
              </a:spcAft>
              <a:buClr>
                <a:srgbClr val="C00000"/>
              </a:buClr>
              <a:buSzPts val="2800"/>
              <a:buFont typeface="Lato"/>
              <a:buNone/>
            </a:pPr>
            <a:r>
              <a:rPr lang="en-US" sz="2800" dirty="0" err="1">
                <a:solidFill>
                  <a:srgbClr val="C00000"/>
                </a:solidFill>
              </a:rPr>
              <a:t>Mã</a:t>
            </a:r>
            <a:r>
              <a:rPr lang="en-US" sz="2800" dirty="0">
                <a:solidFill>
                  <a:srgbClr val="C00000"/>
                </a:solidFill>
              </a:rPr>
              <a:t> </a:t>
            </a:r>
            <a:r>
              <a:rPr lang="en-US" sz="2800" dirty="0" err="1">
                <a:solidFill>
                  <a:srgbClr val="C00000"/>
                </a:solidFill>
              </a:rPr>
              <a:t>học</a:t>
            </a:r>
            <a:r>
              <a:rPr lang="en-US" sz="2800" dirty="0">
                <a:solidFill>
                  <a:srgbClr val="C00000"/>
                </a:solidFill>
              </a:rPr>
              <a:t> </a:t>
            </a:r>
            <a:r>
              <a:rPr lang="en-US" sz="2800" dirty="0" err="1">
                <a:solidFill>
                  <a:srgbClr val="C00000"/>
                </a:solidFill>
              </a:rPr>
              <a:t>phần</a:t>
            </a:r>
            <a:r>
              <a:rPr lang="en-US" sz="2800" dirty="0">
                <a:solidFill>
                  <a:srgbClr val="C00000"/>
                </a:solidFill>
              </a:rPr>
              <a:t>: ET3260</a:t>
            </a:r>
            <a:endParaRPr sz="2800" dirty="0">
              <a:solidFill>
                <a:srgbClr val="C00000"/>
              </a:solidFill>
            </a:endParaRPr>
          </a:p>
          <a:p>
            <a:pPr marL="0" marR="0" lvl="0" indent="0" algn="l" rtl="0">
              <a:lnSpc>
                <a:spcPct val="90000"/>
              </a:lnSpc>
              <a:spcBef>
                <a:spcPts val="0"/>
              </a:spcBef>
              <a:spcAft>
                <a:spcPts val="0"/>
              </a:spcAft>
              <a:buClr>
                <a:srgbClr val="C00000"/>
              </a:buClr>
              <a:buSzPts val="2800"/>
              <a:buFont typeface="Lato"/>
              <a:buNone/>
            </a:pPr>
            <a:r>
              <a:rPr lang="en-US" sz="2800" dirty="0" err="1">
                <a:solidFill>
                  <a:srgbClr val="C00000"/>
                </a:solidFill>
              </a:rPr>
              <a:t>Mã</a:t>
            </a:r>
            <a:r>
              <a:rPr lang="en-US" sz="2800" dirty="0">
                <a:solidFill>
                  <a:srgbClr val="C00000"/>
                </a:solidFill>
              </a:rPr>
              <a:t> </a:t>
            </a:r>
            <a:r>
              <a:rPr lang="en-US" sz="2800" dirty="0" err="1">
                <a:solidFill>
                  <a:srgbClr val="C00000"/>
                </a:solidFill>
              </a:rPr>
              <a:t>lớp</a:t>
            </a:r>
            <a:r>
              <a:rPr lang="en-US" sz="2800" dirty="0">
                <a:solidFill>
                  <a:srgbClr val="C00000"/>
                </a:solidFill>
              </a:rPr>
              <a:t>: 173820</a:t>
            </a:r>
            <a:br>
              <a:rPr lang="en-US" sz="2800" dirty="0">
                <a:solidFill>
                  <a:srgbClr val="C00000"/>
                </a:solidFill>
              </a:rPr>
            </a:br>
            <a:r>
              <a:rPr lang="en-US" sz="2800" dirty="0" err="1">
                <a:solidFill>
                  <a:srgbClr val="C00000"/>
                </a:solidFill>
              </a:rPr>
              <a:t>Nhóm</a:t>
            </a:r>
            <a:r>
              <a:rPr lang="en-US" sz="2800" dirty="0">
                <a:solidFill>
                  <a:srgbClr val="C00000"/>
                </a:solidFill>
              </a:rPr>
              <a:t> </a:t>
            </a:r>
            <a:r>
              <a:rPr lang="en-US" sz="2800" dirty="0" err="1">
                <a:solidFill>
                  <a:srgbClr val="C00000"/>
                </a:solidFill>
              </a:rPr>
              <a:t>thực</a:t>
            </a:r>
            <a:r>
              <a:rPr lang="en-US" sz="2800" dirty="0">
                <a:solidFill>
                  <a:srgbClr val="C00000"/>
                </a:solidFill>
              </a:rPr>
              <a:t> </a:t>
            </a:r>
            <a:r>
              <a:rPr lang="en-US" sz="2800" dirty="0" err="1">
                <a:solidFill>
                  <a:srgbClr val="C00000"/>
                </a:solidFill>
              </a:rPr>
              <a:t>hiện</a:t>
            </a:r>
            <a:r>
              <a:rPr lang="en-US" sz="2800" dirty="0">
                <a:solidFill>
                  <a:srgbClr val="C00000"/>
                </a:solidFill>
              </a:rPr>
              <a:t>: </a:t>
            </a:r>
            <a:r>
              <a:rPr lang="en-US" sz="2800" dirty="0" err="1">
                <a:solidFill>
                  <a:srgbClr val="C00000"/>
                </a:solidFill>
              </a:rPr>
              <a:t>Nhóm</a:t>
            </a:r>
            <a:r>
              <a:rPr lang="en-US" sz="2800" dirty="0">
                <a:solidFill>
                  <a:srgbClr val="C00000"/>
                </a:solidFill>
              </a:rPr>
              <a:t> 43</a:t>
            </a:r>
            <a:endParaRPr dirty="0"/>
          </a:p>
        </p:txBody>
      </p:sp>
      <p:sp>
        <p:nvSpPr>
          <p:cNvPr id="90" name="Google Shape;90;p1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1.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thành</a:t>
            </a:r>
            <a:r>
              <a:rPr lang="en-US" dirty="0">
                <a:latin typeface="Arial"/>
                <a:ea typeface="Arial"/>
                <a:cs typeface="Arial"/>
                <a:sym typeface="Arial"/>
              </a:rPr>
              <a:t> </a:t>
            </a:r>
            <a:r>
              <a:rPr lang="en-US" dirty="0" err="1">
                <a:latin typeface="Arial"/>
                <a:ea typeface="Arial"/>
                <a:cs typeface="Arial"/>
                <a:sym typeface="Arial"/>
              </a:rPr>
              <a:t>viên</a:t>
            </a:r>
            <a:r>
              <a:rPr lang="en-US" dirty="0">
                <a:latin typeface="Arial"/>
                <a:ea typeface="Arial"/>
                <a:cs typeface="Arial"/>
                <a:sym typeface="Arial"/>
              </a:rPr>
              <a:t>,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công</a:t>
            </a:r>
            <a:r>
              <a:rPr lang="en-US" dirty="0">
                <a:latin typeface="Arial"/>
                <a:ea typeface="Arial"/>
                <a:cs typeface="Arial"/>
                <a:sym typeface="Arial"/>
              </a:rPr>
              <a:t> </a:t>
            </a:r>
            <a:r>
              <a:rPr lang="en-US" dirty="0" err="1">
                <a:latin typeface="Arial"/>
                <a:ea typeface="Arial"/>
                <a:cs typeface="Arial"/>
                <a:sym typeface="Arial"/>
              </a:rPr>
              <a:t>nhiệm</a:t>
            </a:r>
            <a:r>
              <a:rPr lang="en-US" dirty="0">
                <a:latin typeface="Arial"/>
                <a:ea typeface="Arial"/>
                <a:cs typeface="Arial"/>
                <a:sym typeface="Arial"/>
              </a:rPr>
              <a:t> </a:t>
            </a:r>
            <a:r>
              <a:rPr lang="en-US" dirty="0" err="1">
                <a:latin typeface="Arial"/>
                <a:ea typeface="Arial"/>
                <a:cs typeface="Arial"/>
                <a:sym typeface="Arial"/>
              </a:rPr>
              <a:t>vụ</a:t>
            </a:r>
            <a:r>
              <a:rPr lang="en-US" dirty="0">
                <a:latin typeface="Arial"/>
                <a:ea typeface="Arial"/>
                <a:cs typeface="Arial"/>
                <a:sym typeface="Arial"/>
              </a:rPr>
              <a:t>, Timeline </a:t>
            </a:r>
            <a:r>
              <a:rPr lang="en-US" dirty="0" err="1">
                <a:latin typeface="Arial"/>
                <a:ea typeface="Arial"/>
                <a:cs typeface="Arial"/>
                <a:sym typeface="Arial"/>
              </a:rPr>
              <a:t>dự</a:t>
            </a:r>
            <a:r>
              <a:rPr lang="en-US" dirty="0">
                <a:latin typeface="Arial"/>
                <a:ea typeface="Arial"/>
                <a:cs typeface="Arial"/>
                <a:sym typeface="Arial"/>
              </a:rPr>
              <a:t> </a:t>
            </a:r>
            <a:r>
              <a:rPr lang="en-US" dirty="0" err="1">
                <a:latin typeface="Arial"/>
                <a:ea typeface="Arial"/>
                <a:cs typeface="Arial"/>
                <a:sym typeface="Arial"/>
              </a:rPr>
              <a:t>kiến</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3.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yêu</a:t>
            </a:r>
            <a:r>
              <a:rPr lang="en-US" dirty="0">
                <a:latin typeface="Arial"/>
                <a:ea typeface="Arial"/>
                <a:cs typeface="Arial"/>
                <a:sym typeface="Arial"/>
              </a:rPr>
              <a:t> </a:t>
            </a:r>
            <a:r>
              <a:rPr lang="en-US" dirty="0" err="1">
                <a:latin typeface="Arial"/>
                <a:ea typeface="Arial"/>
                <a:cs typeface="Arial"/>
                <a:sym typeface="Arial"/>
              </a:rPr>
              <a:t>cầu</a:t>
            </a:r>
            <a:endParaRPr lang="en-US"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897CBD8-84F7-952D-C6F4-1546D7AA1974}"/>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2CE91023-4CD6-A990-62A3-9DD59C6DE6A5}"/>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6B570980-4C13-3CF4-BCD5-C4CA50962858}"/>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rgbClr val="FF0000"/>
                </a:solidFill>
                <a:latin typeface="Arial"/>
                <a:ea typeface="Arial"/>
                <a:cs typeface="Arial"/>
                <a:sym typeface="Arial"/>
              </a:rPr>
              <a:t>1. </a:t>
            </a:r>
            <a:r>
              <a:rPr lang="en-US" dirty="0" err="1">
                <a:solidFill>
                  <a:srgbClr val="FF0000"/>
                </a:solidFill>
                <a:latin typeface="Arial"/>
                <a:ea typeface="Arial"/>
                <a:cs typeface="Arial"/>
                <a:sym typeface="Arial"/>
              </a:rPr>
              <a:t>Giới</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thiệu</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thành</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viên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Phân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công</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nhiệm</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vụ</a:t>
            </a:r>
            <a:r>
              <a:rPr lang="en-US" dirty="0">
                <a:solidFill>
                  <a:srgbClr val="FF0000"/>
                </a:solidFill>
                <a:latin typeface="Arial"/>
                <a:ea typeface="Arial"/>
                <a:cs typeface="Arial"/>
                <a:sym typeface="Arial"/>
              </a:rPr>
              <a:t>, Timeline </a:t>
            </a:r>
            <a:r>
              <a:rPr lang="en-US" dirty="0" err="1">
                <a:solidFill>
                  <a:srgbClr val="FF0000"/>
                </a:solidFill>
                <a:latin typeface="Arial"/>
                <a:ea typeface="Arial"/>
                <a:cs typeface="Arial"/>
                <a:sym typeface="Arial"/>
              </a:rPr>
              <a:t>dự</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kiến</a:t>
            </a:r>
            <a:endParaRPr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3.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yêu</a:t>
            </a:r>
            <a:r>
              <a:rPr lang="en-US" dirty="0">
                <a:latin typeface="Arial"/>
                <a:ea typeface="Arial"/>
                <a:cs typeface="Arial"/>
                <a:sym typeface="Arial"/>
              </a:rPr>
              <a:t> </a:t>
            </a:r>
            <a:r>
              <a:rPr lang="en-US" dirty="0" err="1">
                <a:latin typeface="Arial"/>
                <a:ea typeface="Arial"/>
                <a:cs typeface="Arial"/>
                <a:sym typeface="Arial"/>
              </a:rPr>
              <a:t>cầu</a:t>
            </a:r>
            <a:endParaRPr lang="en-US"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BD532170-4821-5C8F-465D-7E2E7A9CF0E6}"/>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16424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p:txBody>
      </p:sp>
      <p:sp>
        <p:nvSpPr>
          <p:cNvPr id="111" name="Google Shape;111;p19"/>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2" name="Google Shape;783;p32">
            <a:extLst>
              <a:ext uri="{FF2B5EF4-FFF2-40B4-BE49-F238E27FC236}">
                <a16:creationId xmlns:a16="http://schemas.microsoft.com/office/drawing/2014/main" id="{6A7566EA-1686-66BD-583A-52D300AFBAC5}"/>
              </a:ext>
            </a:extLst>
          </p:cNvPr>
          <p:cNvSpPr txBox="1">
            <a:spLocks/>
          </p:cNvSpPr>
          <p:nvPr/>
        </p:nvSpPr>
        <p:spPr>
          <a:xfrm>
            <a:off x="6728878" y="1509828"/>
            <a:ext cx="3453600" cy="843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a:buNone/>
              <a:defRPr sz="2800" b="1" i="0" u="none" strike="noStrike" cap="none" spc="0">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lgn="ctr">
              <a:lnSpc>
                <a:spcPct val="100000"/>
              </a:lnSpc>
              <a:buSzPts val="3000"/>
            </a:pPr>
            <a:r>
              <a:rPr lang="en-US" sz="2400" dirty="0">
                <a:solidFill>
                  <a:schemeClr val="tx1"/>
                </a:solidFill>
                <a:latin typeface="Times New Roman" panose="02020603050405020304" pitchFamily="18" charset="0"/>
                <a:ea typeface="Arial"/>
                <a:cs typeface="Times New Roman" panose="02020603050405020304" pitchFamily="18" charset="0"/>
                <a:sym typeface="Arial"/>
              </a:rPr>
              <a:t>Hoàng Nhật Minh</a:t>
            </a:r>
          </a:p>
        </p:txBody>
      </p:sp>
      <p:sp>
        <p:nvSpPr>
          <p:cNvPr id="3" name="Google Shape;784;p32">
            <a:extLst>
              <a:ext uri="{FF2B5EF4-FFF2-40B4-BE49-F238E27FC236}">
                <a16:creationId xmlns:a16="http://schemas.microsoft.com/office/drawing/2014/main" id="{6E962E3A-7220-5843-C527-83901E12B590}"/>
              </a:ext>
            </a:extLst>
          </p:cNvPr>
          <p:cNvSpPr txBox="1">
            <a:spLocks/>
          </p:cNvSpPr>
          <p:nvPr/>
        </p:nvSpPr>
        <p:spPr>
          <a:xfrm>
            <a:off x="6729528" y="2412928"/>
            <a:ext cx="3452400" cy="168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spc="0">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spc="0">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spc="0">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STT: 43</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MSSV: 202414266</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Lớp: Điện tử 06 K69</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Định hướng: Xử lý tín hiệu &amp; đa phương tiện, viễn thông, ...</a:t>
            </a:r>
            <a:endParaRPr lang="vi-VN" sz="2400">
              <a:latin typeface="Times New Roman" panose="02020603050405020304" pitchFamily="18" charset="0"/>
              <a:cs typeface="Times New Roman" panose="02020603050405020304" pitchFamily="18" charset="0"/>
            </a:endParaRPr>
          </a:p>
          <a:p>
            <a:pPr marL="0" indent="0">
              <a:lnSpc>
                <a:spcPct val="100000"/>
              </a:lnSpc>
              <a:spcBef>
                <a:spcPts val="0"/>
              </a:spcBef>
              <a:buSzPts val="1400"/>
              <a:buFont typeface="Arial"/>
              <a:buNone/>
            </a:pPr>
            <a:r>
              <a:rPr lang="vi-VN" sz="2400">
                <a:latin typeface="Times New Roman" panose="02020603050405020304" pitchFamily="18" charset="0"/>
                <a:ea typeface="Arial"/>
                <a:cs typeface="Times New Roman" panose="02020603050405020304" pitchFamily="18" charset="0"/>
                <a:sym typeface="Arial"/>
              </a:rPr>
              <a:t>Nhiệm vụ: Thiết kế sản phẩm, làm powerpoint, viết báo cáo</a:t>
            </a:r>
          </a:p>
        </p:txBody>
      </p:sp>
      <p:pic>
        <p:nvPicPr>
          <p:cNvPr id="4" name="Google Shape;797;p32">
            <a:extLst>
              <a:ext uri="{FF2B5EF4-FFF2-40B4-BE49-F238E27FC236}">
                <a16:creationId xmlns:a16="http://schemas.microsoft.com/office/drawing/2014/main" id="{445218E5-F214-BBFD-C2A2-2D5AFF8A866A}"/>
              </a:ext>
            </a:extLst>
          </p:cNvPr>
          <p:cNvPicPr preferRelativeResize="0"/>
          <p:nvPr/>
        </p:nvPicPr>
        <p:blipFill rotWithShape="1">
          <a:blip r:embed="rId3">
            <a:alphaModFix/>
          </a:blip>
          <a:srcRect/>
          <a:stretch/>
        </p:blipFill>
        <p:spPr>
          <a:xfrm>
            <a:off x="2354471" y="1622981"/>
            <a:ext cx="2417531" cy="3731075"/>
          </a:xfrm>
          <a:prstGeom prst="rect">
            <a:avLst/>
          </a:prstGeom>
          <a:noFill/>
          <a:ln>
            <a:noFill/>
          </a:ln>
        </p:spPr>
      </p:pic>
      <p:pic>
        <p:nvPicPr>
          <p:cNvPr id="5" name="Google Shape;798;p32">
            <a:extLst>
              <a:ext uri="{FF2B5EF4-FFF2-40B4-BE49-F238E27FC236}">
                <a16:creationId xmlns:a16="http://schemas.microsoft.com/office/drawing/2014/main" id="{802586D0-1FF3-637A-E5B4-F5A185CD9F47}"/>
              </a:ext>
            </a:extLst>
          </p:cNvPr>
          <p:cNvPicPr preferRelativeResize="0"/>
          <p:nvPr/>
        </p:nvPicPr>
        <p:blipFill rotWithShape="1">
          <a:blip r:embed="rId4">
            <a:alphaModFix/>
          </a:blip>
          <a:srcRect/>
          <a:stretch/>
        </p:blipFill>
        <p:spPr>
          <a:xfrm>
            <a:off x="2442140" y="1754804"/>
            <a:ext cx="2240652" cy="33483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F7C5C8FA-1916-B372-8406-E9EE29B88DA3}"/>
            </a:ext>
          </a:extLst>
        </p:cNvPr>
        <p:cNvGrpSpPr/>
        <p:nvPr/>
      </p:nvGrpSpPr>
      <p:grpSpPr>
        <a:xfrm>
          <a:off x="0" y="0"/>
          <a:ext cx="0" cy="0"/>
          <a:chOff x="0" y="0"/>
          <a:chExt cx="0" cy="0"/>
        </a:xfrm>
      </p:grpSpPr>
      <p:sp>
        <p:nvSpPr>
          <p:cNvPr id="109" name="Google Shape;109;p19">
            <a:extLst>
              <a:ext uri="{FF2B5EF4-FFF2-40B4-BE49-F238E27FC236}">
                <a16:creationId xmlns:a16="http://schemas.microsoft.com/office/drawing/2014/main" id="{9414F4C9-58D9-EB69-FB76-DE388747BFB6}"/>
              </a:ext>
            </a:extLst>
          </p:cNvPr>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p:txBody>
      </p:sp>
      <p:sp>
        <p:nvSpPr>
          <p:cNvPr id="111" name="Google Shape;111;p19">
            <a:extLst>
              <a:ext uri="{FF2B5EF4-FFF2-40B4-BE49-F238E27FC236}">
                <a16:creationId xmlns:a16="http://schemas.microsoft.com/office/drawing/2014/main" id="{A94AB0D9-B2BE-F69A-9A95-ACAB31D81E22}"/>
              </a:ext>
            </a:extLst>
          </p:cNvPr>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6" name="Google Shape;803;p33">
            <a:extLst>
              <a:ext uri="{FF2B5EF4-FFF2-40B4-BE49-F238E27FC236}">
                <a16:creationId xmlns:a16="http://schemas.microsoft.com/office/drawing/2014/main" id="{65319C74-6ABA-4F10-A8EC-97DD0D98B36D}"/>
              </a:ext>
            </a:extLst>
          </p:cNvPr>
          <p:cNvSpPr txBox="1">
            <a:spLocks/>
          </p:cNvSpPr>
          <p:nvPr/>
        </p:nvSpPr>
        <p:spPr>
          <a:xfrm>
            <a:off x="2139838" y="1508456"/>
            <a:ext cx="3264300" cy="59473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2800"/>
              <a:buFont typeface="Lato"/>
              <a:buNone/>
              <a:defRPr sz="2800" b="1" i="0" u="none" strike="noStrike" cap="none" spc="0">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sym typeface="Arial"/>
              </a:defRPr>
            </a:lvl9pPr>
          </a:lstStyle>
          <a:p>
            <a:pPr algn="ctr">
              <a:lnSpc>
                <a:spcPct val="100000"/>
              </a:lnSpc>
              <a:buSzPts val="3000"/>
            </a:pPr>
            <a:r>
              <a:rPr lang="vi-VN" sz="2400">
                <a:solidFill>
                  <a:schemeClr val="tx1"/>
                </a:solidFill>
                <a:latin typeface="Arial"/>
                <a:ea typeface="Arial"/>
                <a:cs typeface="Arial"/>
                <a:sym typeface="Arial"/>
              </a:rPr>
              <a:t>Lê Minh Sơn</a:t>
            </a:r>
          </a:p>
        </p:txBody>
      </p:sp>
      <p:sp>
        <p:nvSpPr>
          <p:cNvPr id="7" name="Google Shape;804;p33">
            <a:extLst>
              <a:ext uri="{FF2B5EF4-FFF2-40B4-BE49-F238E27FC236}">
                <a16:creationId xmlns:a16="http://schemas.microsoft.com/office/drawing/2014/main" id="{71A74080-DE59-65BB-75BB-28D6AC23EF3E}"/>
              </a:ext>
            </a:extLst>
          </p:cNvPr>
          <p:cNvSpPr txBox="1">
            <a:spLocks/>
          </p:cNvSpPr>
          <p:nvPr/>
        </p:nvSpPr>
        <p:spPr>
          <a:xfrm>
            <a:off x="2139838" y="2214699"/>
            <a:ext cx="3264300" cy="18338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spc="0">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spc="0">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spc="0">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STT: 47</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MSSV: 202414351</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Lớp: Điện tử 07 K69</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Định hướng: Analog IC</a:t>
            </a:r>
            <a:endParaRPr lang="vi-VN" sz="2400">
              <a:solidFill>
                <a:schemeClr val="tx1"/>
              </a:solidFill>
            </a:endParaRPr>
          </a:p>
          <a:p>
            <a:pPr marL="0" indent="0">
              <a:lnSpc>
                <a:spcPct val="100000"/>
              </a:lnSpc>
              <a:spcBef>
                <a:spcPts val="0"/>
              </a:spcBef>
              <a:buSzPts val="1200"/>
              <a:buFont typeface="Arial"/>
              <a:buNone/>
            </a:pPr>
            <a:r>
              <a:rPr lang="vi-VN" sz="2400">
                <a:solidFill>
                  <a:schemeClr val="tx1"/>
                </a:solidFill>
                <a:latin typeface="Arial"/>
                <a:ea typeface="Arial"/>
                <a:cs typeface="Arial"/>
                <a:sym typeface="Arial"/>
              </a:rPr>
              <a:t>Nhiệm vụ: Thiết kế sản phẩm, làm powerpoint, viết báo cáo</a:t>
            </a:r>
          </a:p>
        </p:txBody>
      </p:sp>
      <p:pic>
        <p:nvPicPr>
          <p:cNvPr id="8" name="Google Shape;816;p33">
            <a:extLst>
              <a:ext uri="{FF2B5EF4-FFF2-40B4-BE49-F238E27FC236}">
                <a16:creationId xmlns:a16="http://schemas.microsoft.com/office/drawing/2014/main" id="{18C55FEF-1805-83F1-6E5E-B756B90B34D9}"/>
              </a:ext>
            </a:extLst>
          </p:cNvPr>
          <p:cNvPicPr preferRelativeResize="0"/>
          <p:nvPr/>
        </p:nvPicPr>
        <p:blipFill rotWithShape="1">
          <a:blip r:embed="rId3">
            <a:alphaModFix/>
          </a:blip>
          <a:srcRect/>
          <a:stretch/>
        </p:blipFill>
        <p:spPr>
          <a:xfrm>
            <a:off x="7505066" y="1655271"/>
            <a:ext cx="2414225" cy="3731075"/>
          </a:xfrm>
          <a:prstGeom prst="rect">
            <a:avLst/>
          </a:prstGeom>
          <a:noFill/>
          <a:ln>
            <a:noFill/>
          </a:ln>
        </p:spPr>
      </p:pic>
      <p:pic>
        <p:nvPicPr>
          <p:cNvPr id="9" name="Google Shape;817;p33">
            <a:extLst>
              <a:ext uri="{FF2B5EF4-FFF2-40B4-BE49-F238E27FC236}">
                <a16:creationId xmlns:a16="http://schemas.microsoft.com/office/drawing/2014/main" id="{7E8EF4DD-FFE0-9CD8-499C-02E60DD1D1CE}"/>
              </a:ext>
            </a:extLst>
          </p:cNvPr>
          <p:cNvPicPr preferRelativeResize="0"/>
          <p:nvPr/>
        </p:nvPicPr>
        <p:blipFill>
          <a:blip r:embed="rId4">
            <a:alphaModFix/>
          </a:blip>
          <a:stretch>
            <a:fillRect/>
          </a:stretch>
        </p:blipFill>
        <p:spPr>
          <a:xfrm>
            <a:off x="7576731" y="1802086"/>
            <a:ext cx="2255527" cy="3333136"/>
          </a:xfrm>
          <a:prstGeom prst="rect">
            <a:avLst/>
          </a:prstGeom>
          <a:noFill/>
          <a:ln>
            <a:noFill/>
          </a:ln>
        </p:spPr>
      </p:pic>
    </p:spTree>
    <p:extLst>
      <p:ext uri="{BB962C8B-B14F-4D97-AF65-F5344CB8AC3E}">
        <p14:creationId xmlns:p14="http://schemas.microsoft.com/office/powerpoint/2010/main" val="3540079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3. Timeline dự kiến</a:t>
            </a:r>
            <a:endParaRPr>
              <a:latin typeface="Arial"/>
              <a:ea typeface="Arial"/>
              <a:cs typeface="Arial"/>
              <a:sym typeface="Arial"/>
            </a:endParaRPr>
          </a:p>
        </p:txBody>
      </p:sp>
      <p:sp>
        <p:nvSpPr>
          <p:cNvPr id="169" name="Google Shape;169;p27"/>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3" name="Google Shape;829;p35">
            <a:extLst>
              <a:ext uri="{FF2B5EF4-FFF2-40B4-BE49-F238E27FC236}">
                <a16:creationId xmlns:a16="http://schemas.microsoft.com/office/drawing/2014/main" id="{9BEBAEC8-F8D3-3442-81F5-93FAED6F2913}"/>
              </a:ext>
            </a:extLst>
          </p:cNvPr>
          <p:cNvGraphicFramePr/>
          <p:nvPr>
            <p:extLst>
              <p:ext uri="{D42A27DB-BD31-4B8C-83A1-F6EECF244321}">
                <p14:modId xmlns:p14="http://schemas.microsoft.com/office/powerpoint/2010/main" val="3391216389"/>
              </p:ext>
            </p:extLst>
          </p:nvPr>
        </p:nvGraphicFramePr>
        <p:xfrm>
          <a:off x="1441548" y="1358200"/>
          <a:ext cx="9308903" cy="4141600"/>
        </p:xfrm>
        <a:graphic>
          <a:graphicData uri="http://schemas.openxmlformats.org/drawingml/2006/table">
            <a:tbl>
              <a:tblPr>
                <a:noFill/>
              </a:tblPr>
              <a:tblGrid>
                <a:gridCol w="3165649">
                  <a:extLst>
                    <a:ext uri="{9D8B030D-6E8A-4147-A177-3AD203B41FA5}">
                      <a16:colId xmlns:a16="http://schemas.microsoft.com/office/drawing/2014/main" val="20000"/>
                    </a:ext>
                  </a:extLst>
                </a:gridCol>
                <a:gridCol w="6143254">
                  <a:extLst>
                    <a:ext uri="{9D8B030D-6E8A-4147-A177-3AD203B41FA5}">
                      <a16:colId xmlns:a16="http://schemas.microsoft.com/office/drawing/2014/main" val="20001"/>
                    </a:ext>
                  </a:extLst>
                </a:gridCol>
              </a:tblGrid>
              <a:tr h="500803">
                <a:tc>
                  <a:txBody>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Thời</a:t>
                      </a:r>
                      <a:r>
                        <a:rPr lang="en-US" sz="24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en-US" sz="24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gian</a:t>
                      </a:r>
                      <a:endParaRPr sz="24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dirty="0" err="1">
                          <a:solidFill>
                            <a:schemeClr val="dk1"/>
                          </a:solidFill>
                          <a:latin typeface="Arial"/>
                          <a:ea typeface="Arial"/>
                          <a:cs typeface="Arial"/>
                          <a:sym typeface="Arial"/>
                        </a:rPr>
                        <a:t>Nhiệm</a:t>
                      </a:r>
                      <a:r>
                        <a:rPr lang="en-US" sz="2400" b="1" u="none" strike="noStrike" cap="none" dirty="0">
                          <a:solidFill>
                            <a:schemeClr val="dk1"/>
                          </a:solidFill>
                          <a:latin typeface="Arial"/>
                          <a:ea typeface="Arial"/>
                          <a:cs typeface="Arial"/>
                          <a:sym typeface="Arial"/>
                        </a:rPr>
                        <a:t> </a:t>
                      </a:r>
                      <a:r>
                        <a:rPr lang="en-US" sz="2400" b="1" u="none" strike="noStrike" cap="none" dirty="0" err="1">
                          <a:solidFill>
                            <a:schemeClr val="dk1"/>
                          </a:solidFill>
                          <a:latin typeface="Arial"/>
                          <a:ea typeface="Arial"/>
                          <a:cs typeface="Arial"/>
                          <a:sym typeface="Arial"/>
                        </a:rPr>
                        <a:t>vụ</a:t>
                      </a:r>
                      <a:endParaRPr sz="2400" b="1" u="none" strike="noStrike" cap="none" dirty="0">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Tìm hiểu và lựa chọn đề tài</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2</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Làm powerpoint giới thiệu nhóm và đề tài</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5979">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3 - </a:t>
                      </a:r>
                      <a:r>
                        <a:rPr lang="vi-VN"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6</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Thiết kế sản phẩm, làm báo cáo và powerpoint giữa kỳ</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vi-VN"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7</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Hoàn thiện báo cáo giữa kỳ</a:t>
                      </a:r>
                      <a:endParaRPr sz="160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a:t>
                      </a:r>
                      <a:r>
                        <a:rPr lang="vi-VN"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8</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- 13</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chemeClr val="dk1"/>
                          </a:solidFill>
                          <a:latin typeface="Arial"/>
                          <a:ea typeface="Arial"/>
                          <a:cs typeface="Arial"/>
                          <a:sym typeface="Arial"/>
                        </a:rPr>
                        <a:t>Hoàn thiện sản phẩm, chạy thử và sửa lỗi</a:t>
                      </a:r>
                      <a:endParaRPr sz="1600" b="1"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14</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0" u="none" strike="noStrike" cap="none">
                          <a:solidFill>
                            <a:schemeClr val="dk1"/>
                          </a:solidFill>
                          <a:latin typeface="Arial"/>
                          <a:ea typeface="Arial"/>
                          <a:cs typeface="Arial"/>
                          <a:sym typeface="Arial"/>
                        </a:rPr>
                        <a:t>Hoàn thiện báo cáo và powerpoint</a:t>
                      </a:r>
                      <a:endParaRPr sz="1600" b="0" u="none" strike="noStrike" cap="none">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00803">
                <a:tc>
                  <a:txBody>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err="1">
                          <a:solidFill>
                            <a:schemeClr val="dk1"/>
                          </a:solidFill>
                          <a:latin typeface="Times New Roman" panose="02020603050405020304" pitchFamily="18" charset="0"/>
                          <a:ea typeface="Arial"/>
                          <a:cs typeface="Times New Roman" panose="02020603050405020304" pitchFamily="18" charset="0"/>
                          <a:sym typeface="Arial"/>
                        </a:rPr>
                        <a:t>Tuần</a:t>
                      </a:r>
                      <a:r>
                        <a:rPr lang="en-US"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rPr>
                        <a:t> 15</a:t>
                      </a:r>
                      <a:endParaRPr sz="1600" b="1" i="0" u="none" strike="noStrike" cap="none" dirty="0">
                        <a:solidFill>
                          <a:schemeClr val="dk1"/>
                        </a:solidFill>
                        <a:latin typeface="Times New Roman" panose="02020603050405020304" pitchFamily="18" charset="0"/>
                        <a:ea typeface="Arial"/>
                        <a:cs typeface="Times New Roman" panose="02020603050405020304" pitchFamily="18" charset="0"/>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b="0" u="none" strike="noStrike" cap="none" dirty="0">
                          <a:solidFill>
                            <a:schemeClr val="dk1"/>
                          </a:solidFill>
                          <a:latin typeface="Arial"/>
                          <a:ea typeface="Arial"/>
                          <a:cs typeface="Arial"/>
                          <a:sym typeface="Arial"/>
                        </a:rPr>
                        <a:t>Báo </a:t>
                      </a:r>
                      <a:r>
                        <a:rPr lang="en-US" sz="1600" b="0" u="none" strike="noStrike" cap="none" dirty="0" err="1">
                          <a:solidFill>
                            <a:schemeClr val="dk1"/>
                          </a:solidFill>
                          <a:latin typeface="Arial"/>
                          <a:ea typeface="Arial"/>
                          <a:cs typeface="Arial"/>
                          <a:sym typeface="Arial"/>
                        </a:rPr>
                        <a:t>cáo</a:t>
                      </a:r>
                      <a:r>
                        <a:rPr lang="en-US" sz="1600" b="0" u="none" strike="noStrike" cap="none" dirty="0">
                          <a:solidFill>
                            <a:schemeClr val="dk1"/>
                          </a:solidFill>
                          <a:latin typeface="Arial"/>
                          <a:ea typeface="Arial"/>
                          <a:cs typeface="Arial"/>
                          <a:sym typeface="Arial"/>
                        </a:rPr>
                        <a:t> </a:t>
                      </a:r>
                      <a:r>
                        <a:rPr lang="en-US" sz="1600" b="0" u="none" strike="noStrike" cap="none" dirty="0" err="1">
                          <a:solidFill>
                            <a:schemeClr val="dk1"/>
                          </a:solidFill>
                          <a:latin typeface="Arial"/>
                          <a:ea typeface="Arial"/>
                          <a:cs typeface="Arial"/>
                          <a:sym typeface="Arial"/>
                        </a:rPr>
                        <a:t>sản</a:t>
                      </a:r>
                      <a:r>
                        <a:rPr lang="en-US" sz="1600" b="0" u="none" strike="noStrike" cap="none" dirty="0">
                          <a:solidFill>
                            <a:schemeClr val="dk1"/>
                          </a:solidFill>
                          <a:latin typeface="Arial"/>
                          <a:ea typeface="Arial"/>
                          <a:cs typeface="Arial"/>
                          <a:sym typeface="Arial"/>
                        </a:rPr>
                        <a:t> </a:t>
                      </a:r>
                      <a:r>
                        <a:rPr lang="en-US" sz="1600" b="0" u="none" strike="noStrike" cap="none" dirty="0" err="1">
                          <a:solidFill>
                            <a:schemeClr val="dk1"/>
                          </a:solidFill>
                          <a:latin typeface="Arial"/>
                          <a:ea typeface="Arial"/>
                          <a:cs typeface="Arial"/>
                          <a:sym typeface="Arial"/>
                        </a:rPr>
                        <a:t>phẩm</a:t>
                      </a:r>
                      <a:endParaRPr sz="1600" b="0" u="none" strike="noStrike" cap="none" dirty="0">
                        <a:solidFill>
                          <a:schemeClr val="dk1"/>
                        </a:solidFill>
                        <a:latin typeface="Arial"/>
                        <a:ea typeface="Arial"/>
                        <a:cs typeface="Arial"/>
                        <a:sym typeface="Arial"/>
                      </a:endParaRPr>
                    </a:p>
                  </a:txBody>
                  <a:tcPr marL="9142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a:t>Mô hình xây dựng hệ thống</a:t>
            </a:r>
            <a:endParaRPr dirty="0"/>
          </a:p>
        </p:txBody>
      </p:sp>
      <p:sp>
        <p:nvSpPr>
          <p:cNvPr id="205" name="Google Shape;205;p32"/>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2" name="Google Shape;916;p42">
            <a:extLst>
              <a:ext uri="{FF2B5EF4-FFF2-40B4-BE49-F238E27FC236}">
                <a16:creationId xmlns:a16="http://schemas.microsoft.com/office/drawing/2014/main" id="{F5985DFF-A4D5-F853-5FA2-BEF470C7FA58}"/>
              </a:ext>
            </a:extLst>
          </p:cNvPr>
          <p:cNvSpPr txBox="1"/>
          <p:nvPr/>
        </p:nvSpPr>
        <p:spPr>
          <a:xfrm>
            <a:off x="3092716" y="2084983"/>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3" name="Google Shape;917;p42">
            <a:extLst>
              <a:ext uri="{FF2B5EF4-FFF2-40B4-BE49-F238E27FC236}">
                <a16:creationId xmlns:a16="http://schemas.microsoft.com/office/drawing/2014/main" id="{549B1EAD-3BE5-8B5D-54C8-C1B74D5E1CC0}"/>
              </a:ext>
            </a:extLst>
          </p:cNvPr>
          <p:cNvSpPr txBox="1"/>
          <p:nvPr/>
        </p:nvSpPr>
        <p:spPr>
          <a:xfrm>
            <a:off x="4429802" y="2084983"/>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4" name="Google Shape;918;p42">
            <a:extLst>
              <a:ext uri="{FF2B5EF4-FFF2-40B4-BE49-F238E27FC236}">
                <a16:creationId xmlns:a16="http://schemas.microsoft.com/office/drawing/2014/main" id="{CAA88035-7644-B828-0963-4D7AC9EC9571}"/>
              </a:ext>
            </a:extLst>
          </p:cNvPr>
          <p:cNvSpPr txBox="1"/>
          <p:nvPr/>
        </p:nvSpPr>
        <p:spPr>
          <a:xfrm>
            <a:off x="7186102" y="2084983"/>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5" name="Google Shape;919;p42">
            <a:extLst>
              <a:ext uri="{FF2B5EF4-FFF2-40B4-BE49-F238E27FC236}">
                <a16:creationId xmlns:a16="http://schemas.microsoft.com/office/drawing/2014/main" id="{D13C6BDB-316A-1799-D9A9-1D4A0E315032}"/>
              </a:ext>
            </a:extLst>
          </p:cNvPr>
          <p:cNvSpPr txBox="1"/>
          <p:nvPr/>
        </p:nvSpPr>
        <p:spPr>
          <a:xfrm>
            <a:off x="5853932" y="2084983"/>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6" name="Google Shape;920;p42">
            <a:extLst>
              <a:ext uri="{FF2B5EF4-FFF2-40B4-BE49-F238E27FC236}">
                <a16:creationId xmlns:a16="http://schemas.microsoft.com/office/drawing/2014/main" id="{C7AD78AF-6F41-CFFA-F9A6-91272CC2B9BB}"/>
              </a:ext>
            </a:extLst>
          </p:cNvPr>
          <p:cNvCxnSpPr>
            <a:stCxn id="2" idx="3"/>
            <a:endCxn id="3" idx="1"/>
          </p:cNvCxnSpPr>
          <p:nvPr/>
        </p:nvCxnSpPr>
        <p:spPr>
          <a:xfrm>
            <a:off x="4013121" y="2299591"/>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7" name="Google Shape;921;p42">
            <a:extLst>
              <a:ext uri="{FF2B5EF4-FFF2-40B4-BE49-F238E27FC236}">
                <a16:creationId xmlns:a16="http://schemas.microsoft.com/office/drawing/2014/main" id="{67D50AFE-8727-EEE5-A1D1-744CDB74454A}"/>
              </a:ext>
            </a:extLst>
          </p:cNvPr>
          <p:cNvCxnSpPr>
            <a:stCxn id="3" idx="3"/>
            <a:endCxn id="5" idx="1"/>
          </p:cNvCxnSpPr>
          <p:nvPr/>
        </p:nvCxnSpPr>
        <p:spPr>
          <a:xfrm>
            <a:off x="5437251" y="2299591"/>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8" name="Google Shape;922;p42">
            <a:extLst>
              <a:ext uri="{FF2B5EF4-FFF2-40B4-BE49-F238E27FC236}">
                <a16:creationId xmlns:a16="http://schemas.microsoft.com/office/drawing/2014/main" id="{214CC501-6775-8DC5-1E10-47F02064EDC1}"/>
              </a:ext>
            </a:extLst>
          </p:cNvPr>
          <p:cNvCxnSpPr>
            <a:stCxn id="5" idx="3"/>
            <a:endCxn id="4" idx="1"/>
          </p:cNvCxnSpPr>
          <p:nvPr/>
        </p:nvCxnSpPr>
        <p:spPr>
          <a:xfrm>
            <a:off x="6774337" y="2299591"/>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9" name="Google Shape;923;p42">
            <a:extLst>
              <a:ext uri="{FF2B5EF4-FFF2-40B4-BE49-F238E27FC236}">
                <a16:creationId xmlns:a16="http://schemas.microsoft.com/office/drawing/2014/main" id="{223FF038-C344-FEB4-A81B-65D56B606BD8}"/>
              </a:ext>
            </a:extLst>
          </p:cNvPr>
          <p:cNvSpPr txBox="1"/>
          <p:nvPr/>
        </p:nvSpPr>
        <p:spPr>
          <a:xfrm>
            <a:off x="8540615" y="2130333"/>
            <a:ext cx="987682"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0" name="Google Shape;924;p42">
            <a:extLst>
              <a:ext uri="{FF2B5EF4-FFF2-40B4-BE49-F238E27FC236}">
                <a16:creationId xmlns:a16="http://schemas.microsoft.com/office/drawing/2014/main" id="{A44D8EDC-A8D3-9D82-A441-248E7384BC87}"/>
              </a:ext>
            </a:extLst>
          </p:cNvPr>
          <p:cNvCxnSpPr>
            <a:cxnSpLocks/>
            <a:stCxn id="4" idx="3"/>
            <a:endCxn id="9" idx="1"/>
          </p:cNvCxnSpPr>
          <p:nvPr/>
        </p:nvCxnSpPr>
        <p:spPr>
          <a:xfrm flipV="1">
            <a:off x="8106507" y="2299590"/>
            <a:ext cx="434108" cy="1"/>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11" name="Google Shape;925;p42">
            <a:extLst>
              <a:ext uri="{FF2B5EF4-FFF2-40B4-BE49-F238E27FC236}">
                <a16:creationId xmlns:a16="http://schemas.microsoft.com/office/drawing/2014/main" id="{6E57EAC5-A172-7C74-B8E9-C7BCACA083A0}"/>
              </a:ext>
            </a:extLst>
          </p:cNvPr>
          <p:cNvSpPr txBox="1"/>
          <p:nvPr/>
        </p:nvSpPr>
        <p:spPr>
          <a:xfrm>
            <a:off x="2253155" y="2750222"/>
            <a:ext cx="1255476" cy="10771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Quản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lý</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phòng,</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người</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thuê, hợp đồng</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 name="Google Shape;926;p42">
            <a:extLst>
              <a:ext uri="{FF2B5EF4-FFF2-40B4-BE49-F238E27FC236}">
                <a16:creationId xmlns:a16="http://schemas.microsoft.com/office/drawing/2014/main" id="{0E3790D5-185A-1839-3C9E-194827B1AB09}"/>
              </a:ext>
            </a:extLst>
          </p:cNvPr>
          <p:cNvSpPr txBox="1"/>
          <p:nvPr/>
        </p:nvSpPr>
        <p:spPr>
          <a:xfrm>
            <a:off x="1811170" y="1863044"/>
            <a:ext cx="1220569"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Quản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lý</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đăng nhập, phân quyền</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 name="Google Shape;927;p42">
            <a:extLst>
              <a:ext uri="{FF2B5EF4-FFF2-40B4-BE49-F238E27FC236}">
                <a16:creationId xmlns:a16="http://schemas.microsoft.com/office/drawing/2014/main" id="{137227AF-CB5F-FB61-E760-73F7FDAA6206}"/>
              </a:ext>
            </a:extLst>
          </p:cNvPr>
          <p:cNvSpPr txBox="1"/>
          <p:nvPr/>
        </p:nvSpPr>
        <p:spPr>
          <a:xfrm>
            <a:off x="3408559" y="3044833"/>
            <a:ext cx="920405" cy="487957"/>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4" name="Google Shape;928;p42">
            <a:extLst>
              <a:ext uri="{FF2B5EF4-FFF2-40B4-BE49-F238E27FC236}">
                <a16:creationId xmlns:a16="http://schemas.microsoft.com/office/drawing/2014/main" id="{15C7B2AE-1DC4-90F1-96A0-FD714414ADF1}"/>
              </a:ext>
            </a:extLst>
          </p:cNvPr>
          <p:cNvSpPr txBox="1"/>
          <p:nvPr/>
        </p:nvSpPr>
        <p:spPr>
          <a:xfrm>
            <a:off x="4752808" y="3074204"/>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15" name="Google Shape;929;p42">
            <a:extLst>
              <a:ext uri="{FF2B5EF4-FFF2-40B4-BE49-F238E27FC236}">
                <a16:creationId xmlns:a16="http://schemas.microsoft.com/office/drawing/2014/main" id="{56EC7731-E79C-21BE-E23F-E917CD2BFF6E}"/>
              </a:ext>
            </a:extLst>
          </p:cNvPr>
          <p:cNvSpPr txBox="1"/>
          <p:nvPr/>
        </p:nvSpPr>
        <p:spPr>
          <a:xfrm>
            <a:off x="7509108" y="307420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16" name="Google Shape;930;p42">
            <a:extLst>
              <a:ext uri="{FF2B5EF4-FFF2-40B4-BE49-F238E27FC236}">
                <a16:creationId xmlns:a16="http://schemas.microsoft.com/office/drawing/2014/main" id="{62DA676C-A52C-B492-A9C5-0B8AEC225E47}"/>
              </a:ext>
            </a:extLst>
          </p:cNvPr>
          <p:cNvSpPr txBox="1"/>
          <p:nvPr/>
        </p:nvSpPr>
        <p:spPr>
          <a:xfrm>
            <a:off x="6176938" y="307420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17" name="Google Shape;931;p42">
            <a:extLst>
              <a:ext uri="{FF2B5EF4-FFF2-40B4-BE49-F238E27FC236}">
                <a16:creationId xmlns:a16="http://schemas.microsoft.com/office/drawing/2014/main" id="{7B387F6B-19F8-41E0-2CEE-FEFE414EC470}"/>
              </a:ext>
            </a:extLst>
          </p:cNvPr>
          <p:cNvCxnSpPr>
            <a:cxnSpLocks/>
            <a:stCxn id="13" idx="3"/>
            <a:endCxn id="14" idx="1"/>
          </p:cNvCxnSpPr>
          <p:nvPr/>
        </p:nvCxnSpPr>
        <p:spPr>
          <a:xfrm>
            <a:off x="4328964" y="3288812"/>
            <a:ext cx="423844"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18" name="Google Shape;932;p42">
            <a:extLst>
              <a:ext uri="{FF2B5EF4-FFF2-40B4-BE49-F238E27FC236}">
                <a16:creationId xmlns:a16="http://schemas.microsoft.com/office/drawing/2014/main" id="{F607865B-8ACC-1209-0DE3-7ACD5FB90D81}"/>
              </a:ext>
            </a:extLst>
          </p:cNvPr>
          <p:cNvCxnSpPr>
            <a:cxnSpLocks/>
            <a:stCxn id="14" idx="3"/>
            <a:endCxn id="16" idx="1"/>
          </p:cNvCxnSpPr>
          <p:nvPr/>
        </p:nvCxnSpPr>
        <p:spPr>
          <a:xfrm>
            <a:off x="5760257" y="3288812"/>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19" name="Google Shape;933;p42">
            <a:extLst>
              <a:ext uri="{FF2B5EF4-FFF2-40B4-BE49-F238E27FC236}">
                <a16:creationId xmlns:a16="http://schemas.microsoft.com/office/drawing/2014/main" id="{2AA7A424-CDEB-431C-627E-CF78B0EC3E6E}"/>
              </a:ext>
            </a:extLst>
          </p:cNvPr>
          <p:cNvCxnSpPr>
            <a:cxnSpLocks/>
            <a:stCxn id="16" idx="3"/>
            <a:endCxn id="15" idx="1"/>
          </p:cNvCxnSpPr>
          <p:nvPr/>
        </p:nvCxnSpPr>
        <p:spPr>
          <a:xfrm>
            <a:off x="7097343" y="3288812"/>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20" name="Google Shape;934;p42">
            <a:extLst>
              <a:ext uri="{FF2B5EF4-FFF2-40B4-BE49-F238E27FC236}">
                <a16:creationId xmlns:a16="http://schemas.microsoft.com/office/drawing/2014/main" id="{25AD4461-1DDD-9888-20EB-7DF1317CA9C1}"/>
              </a:ext>
            </a:extLst>
          </p:cNvPr>
          <p:cNvSpPr txBox="1"/>
          <p:nvPr/>
        </p:nvSpPr>
        <p:spPr>
          <a:xfrm>
            <a:off x="8780266" y="3122284"/>
            <a:ext cx="100744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21" name="Google Shape;935;p42">
            <a:extLst>
              <a:ext uri="{FF2B5EF4-FFF2-40B4-BE49-F238E27FC236}">
                <a16:creationId xmlns:a16="http://schemas.microsoft.com/office/drawing/2014/main" id="{764D9C60-AA3D-D515-8048-BDB60460D1FE}"/>
              </a:ext>
            </a:extLst>
          </p:cNvPr>
          <p:cNvCxnSpPr>
            <a:cxnSpLocks/>
            <a:stCxn id="15" idx="3"/>
            <a:endCxn id="20" idx="1"/>
          </p:cNvCxnSpPr>
          <p:nvPr/>
        </p:nvCxnSpPr>
        <p:spPr>
          <a:xfrm>
            <a:off x="8429513" y="3288812"/>
            <a:ext cx="350753" cy="2729"/>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22" name="Google Shape;936;p42">
            <a:extLst>
              <a:ext uri="{FF2B5EF4-FFF2-40B4-BE49-F238E27FC236}">
                <a16:creationId xmlns:a16="http://schemas.microsoft.com/office/drawing/2014/main" id="{64AC04C2-4A3B-6568-7803-F8A66CEFE368}"/>
              </a:ext>
            </a:extLst>
          </p:cNvPr>
          <p:cNvSpPr txBox="1"/>
          <p:nvPr/>
        </p:nvSpPr>
        <p:spPr>
          <a:xfrm>
            <a:off x="2866742" y="4007472"/>
            <a:ext cx="101462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Quản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lý</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tài</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chính</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3" name="Google Shape;937;p42">
            <a:extLst>
              <a:ext uri="{FF2B5EF4-FFF2-40B4-BE49-F238E27FC236}">
                <a16:creationId xmlns:a16="http://schemas.microsoft.com/office/drawing/2014/main" id="{3CC79568-28AE-A8F2-E3AC-2625409703AB}"/>
              </a:ext>
            </a:extLst>
          </p:cNvPr>
          <p:cNvSpPr txBox="1"/>
          <p:nvPr/>
        </p:nvSpPr>
        <p:spPr>
          <a:xfrm>
            <a:off x="3924876" y="405447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4" name="Google Shape;938;p42">
            <a:extLst>
              <a:ext uri="{FF2B5EF4-FFF2-40B4-BE49-F238E27FC236}">
                <a16:creationId xmlns:a16="http://schemas.microsoft.com/office/drawing/2014/main" id="{4D776910-EDAF-0C96-D7E3-53A34E7CFF4A}"/>
              </a:ext>
            </a:extLst>
          </p:cNvPr>
          <p:cNvSpPr txBox="1"/>
          <p:nvPr/>
        </p:nvSpPr>
        <p:spPr>
          <a:xfrm>
            <a:off x="5261962" y="4054474"/>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25" name="Google Shape;939;p42">
            <a:extLst>
              <a:ext uri="{FF2B5EF4-FFF2-40B4-BE49-F238E27FC236}">
                <a16:creationId xmlns:a16="http://schemas.microsoft.com/office/drawing/2014/main" id="{B749D525-4E8A-44B2-A73E-CC6624F3982A}"/>
              </a:ext>
            </a:extLst>
          </p:cNvPr>
          <p:cNvSpPr txBox="1"/>
          <p:nvPr/>
        </p:nvSpPr>
        <p:spPr>
          <a:xfrm>
            <a:off x="8018262" y="405447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26" name="Google Shape;940;p42">
            <a:extLst>
              <a:ext uri="{FF2B5EF4-FFF2-40B4-BE49-F238E27FC236}">
                <a16:creationId xmlns:a16="http://schemas.microsoft.com/office/drawing/2014/main" id="{1DEA95B5-F2B0-5EC1-CB16-90B26F54F6C5}"/>
              </a:ext>
            </a:extLst>
          </p:cNvPr>
          <p:cNvSpPr txBox="1"/>
          <p:nvPr/>
        </p:nvSpPr>
        <p:spPr>
          <a:xfrm>
            <a:off x="6686092" y="4054474"/>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27" name="Google Shape;941;p42">
            <a:extLst>
              <a:ext uri="{FF2B5EF4-FFF2-40B4-BE49-F238E27FC236}">
                <a16:creationId xmlns:a16="http://schemas.microsoft.com/office/drawing/2014/main" id="{6D28747B-8CC0-545F-02AA-743AD095102B}"/>
              </a:ext>
            </a:extLst>
          </p:cNvPr>
          <p:cNvCxnSpPr>
            <a:stCxn id="23" idx="3"/>
            <a:endCxn id="24" idx="1"/>
          </p:cNvCxnSpPr>
          <p:nvPr/>
        </p:nvCxnSpPr>
        <p:spPr>
          <a:xfrm>
            <a:off x="4845281" y="4269082"/>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28" name="Google Shape;942;p42">
            <a:extLst>
              <a:ext uri="{FF2B5EF4-FFF2-40B4-BE49-F238E27FC236}">
                <a16:creationId xmlns:a16="http://schemas.microsoft.com/office/drawing/2014/main" id="{ECA6CC34-D6B9-D118-E8E3-7BDD408062BB}"/>
              </a:ext>
            </a:extLst>
          </p:cNvPr>
          <p:cNvCxnSpPr>
            <a:stCxn id="24" idx="3"/>
            <a:endCxn id="26" idx="1"/>
          </p:cNvCxnSpPr>
          <p:nvPr/>
        </p:nvCxnSpPr>
        <p:spPr>
          <a:xfrm>
            <a:off x="6269411" y="4269082"/>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29" name="Google Shape;943;p42">
            <a:extLst>
              <a:ext uri="{FF2B5EF4-FFF2-40B4-BE49-F238E27FC236}">
                <a16:creationId xmlns:a16="http://schemas.microsoft.com/office/drawing/2014/main" id="{984879A3-B029-AE8F-0A72-6CB7208D68FC}"/>
              </a:ext>
            </a:extLst>
          </p:cNvPr>
          <p:cNvCxnSpPr>
            <a:stCxn id="26" idx="3"/>
            <a:endCxn id="25" idx="1"/>
          </p:cNvCxnSpPr>
          <p:nvPr/>
        </p:nvCxnSpPr>
        <p:spPr>
          <a:xfrm>
            <a:off x="7606497" y="4269082"/>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30" name="Google Shape;944;p42">
            <a:extLst>
              <a:ext uri="{FF2B5EF4-FFF2-40B4-BE49-F238E27FC236}">
                <a16:creationId xmlns:a16="http://schemas.microsoft.com/office/drawing/2014/main" id="{47162309-8AE6-CF37-D90F-D5E73F33BC91}"/>
              </a:ext>
            </a:extLst>
          </p:cNvPr>
          <p:cNvSpPr txBox="1"/>
          <p:nvPr/>
        </p:nvSpPr>
        <p:spPr>
          <a:xfrm>
            <a:off x="9350432" y="4094389"/>
            <a:ext cx="100744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31" name="Google Shape;945;p42">
            <a:extLst>
              <a:ext uri="{FF2B5EF4-FFF2-40B4-BE49-F238E27FC236}">
                <a16:creationId xmlns:a16="http://schemas.microsoft.com/office/drawing/2014/main" id="{BFAD382F-E838-C76C-E156-555F12E386E3}"/>
              </a:ext>
            </a:extLst>
          </p:cNvPr>
          <p:cNvCxnSpPr>
            <a:cxnSpLocks/>
            <a:stCxn id="25" idx="3"/>
            <a:endCxn id="30" idx="1"/>
          </p:cNvCxnSpPr>
          <p:nvPr/>
        </p:nvCxnSpPr>
        <p:spPr>
          <a:xfrm flipV="1">
            <a:off x="8938667" y="4263646"/>
            <a:ext cx="411765" cy="5436"/>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32" name="Google Shape;946;p42">
            <a:extLst>
              <a:ext uri="{FF2B5EF4-FFF2-40B4-BE49-F238E27FC236}">
                <a16:creationId xmlns:a16="http://schemas.microsoft.com/office/drawing/2014/main" id="{CB8F69FD-A9B0-7132-1BE3-0451B5F3B951}"/>
              </a:ext>
            </a:extLst>
          </p:cNvPr>
          <p:cNvSpPr txBox="1"/>
          <p:nvPr/>
        </p:nvSpPr>
        <p:spPr>
          <a:xfrm>
            <a:off x="3206568" y="4761405"/>
            <a:ext cx="117851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Chức</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năng</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vi-VN" sz="1600" b="1" i="0" u="none" strike="noStrike" cap="none" dirty="0">
                <a:solidFill>
                  <a:srgbClr val="000000"/>
                </a:solidFill>
                <a:latin typeface="Times New Roman" panose="02020603050405020304" pitchFamily="18" charset="0"/>
                <a:cs typeface="Times New Roman" panose="02020603050405020304" pitchFamily="18" charset="0"/>
                <a:sym typeface="Arial"/>
              </a:rPr>
              <a:t>báo cáo, thống kê</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 name="Google Shape;947;p42">
            <a:extLst>
              <a:ext uri="{FF2B5EF4-FFF2-40B4-BE49-F238E27FC236}">
                <a16:creationId xmlns:a16="http://schemas.microsoft.com/office/drawing/2014/main" id="{B23C0B3D-4DF5-4FCB-9B6C-40C1B4279B3C}"/>
              </a:ext>
            </a:extLst>
          </p:cNvPr>
          <p:cNvSpPr txBox="1"/>
          <p:nvPr/>
        </p:nvSpPr>
        <p:spPr>
          <a:xfrm>
            <a:off x="4415029" y="4932727"/>
            <a:ext cx="920405" cy="471905"/>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Phân</a:t>
            </a:r>
            <a:r>
              <a:rPr lang="en-US" sz="1600" b="1" i="0" u="none" strike="noStrike" cap="none" dirty="0">
                <a:solidFill>
                  <a:schemeClr val="dk1"/>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chemeClr val="dk1"/>
                </a:solidFill>
                <a:latin typeface="Times New Roman" panose="02020603050405020304" pitchFamily="18" charset="0"/>
                <a:cs typeface="Times New Roman" panose="02020603050405020304" pitchFamily="18" charset="0"/>
                <a:sym typeface="Arial"/>
              </a:rPr>
              <a:t>tích</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34" name="Google Shape;948;p42">
            <a:extLst>
              <a:ext uri="{FF2B5EF4-FFF2-40B4-BE49-F238E27FC236}">
                <a16:creationId xmlns:a16="http://schemas.microsoft.com/office/drawing/2014/main" id="{98127B04-CE3D-1179-88C9-634A1BA76161}"/>
              </a:ext>
            </a:extLst>
          </p:cNvPr>
          <p:cNvSpPr txBox="1"/>
          <p:nvPr/>
        </p:nvSpPr>
        <p:spPr>
          <a:xfrm>
            <a:off x="5766888" y="4954072"/>
            <a:ext cx="1007449"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Thiết kế</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35" name="Google Shape;949;p42">
            <a:extLst>
              <a:ext uri="{FF2B5EF4-FFF2-40B4-BE49-F238E27FC236}">
                <a16:creationId xmlns:a16="http://schemas.microsoft.com/office/drawing/2014/main" id="{BBD169DE-73EB-AF1D-6790-80F8B2E95694}"/>
              </a:ext>
            </a:extLst>
          </p:cNvPr>
          <p:cNvSpPr txBox="1"/>
          <p:nvPr/>
        </p:nvSpPr>
        <p:spPr>
          <a:xfrm>
            <a:off x="8523188" y="4954072"/>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Kiểm thử</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36" name="Google Shape;950;p42">
            <a:extLst>
              <a:ext uri="{FF2B5EF4-FFF2-40B4-BE49-F238E27FC236}">
                <a16:creationId xmlns:a16="http://schemas.microsoft.com/office/drawing/2014/main" id="{4DB96FD8-E750-F0F8-FEF7-D079DF1CA5A8}"/>
              </a:ext>
            </a:extLst>
          </p:cNvPr>
          <p:cNvSpPr txBox="1"/>
          <p:nvPr/>
        </p:nvSpPr>
        <p:spPr>
          <a:xfrm>
            <a:off x="7191018" y="4954072"/>
            <a:ext cx="920405" cy="429216"/>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dk1"/>
                </a:solidFill>
                <a:latin typeface="Times New Roman" panose="02020603050405020304" pitchFamily="18" charset="0"/>
                <a:cs typeface="Times New Roman" panose="02020603050405020304" pitchFamily="18" charset="0"/>
                <a:sym typeface="Arial"/>
              </a:rPr>
              <a:t>Code</a:t>
            </a:r>
            <a:endParaRPr sz="1600" b="1" i="0" u="none" strike="noStrike" cap="none">
              <a:solidFill>
                <a:schemeClr val="dk1"/>
              </a:solidFill>
              <a:latin typeface="Times New Roman" panose="02020603050405020304" pitchFamily="18" charset="0"/>
              <a:cs typeface="Times New Roman" panose="02020603050405020304" pitchFamily="18" charset="0"/>
              <a:sym typeface="Arial"/>
            </a:endParaRPr>
          </a:p>
        </p:txBody>
      </p:sp>
      <p:cxnSp>
        <p:nvCxnSpPr>
          <p:cNvPr id="37" name="Google Shape;951;p42">
            <a:extLst>
              <a:ext uri="{FF2B5EF4-FFF2-40B4-BE49-F238E27FC236}">
                <a16:creationId xmlns:a16="http://schemas.microsoft.com/office/drawing/2014/main" id="{1690F7DF-3276-5C2E-CF01-A616A1E1DD5F}"/>
              </a:ext>
            </a:extLst>
          </p:cNvPr>
          <p:cNvCxnSpPr>
            <a:cxnSpLocks/>
            <a:stCxn id="33" idx="3"/>
            <a:endCxn id="34" idx="1"/>
          </p:cNvCxnSpPr>
          <p:nvPr/>
        </p:nvCxnSpPr>
        <p:spPr>
          <a:xfrm>
            <a:off x="5335434" y="5168680"/>
            <a:ext cx="431454"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38" name="Google Shape;952;p42">
            <a:extLst>
              <a:ext uri="{FF2B5EF4-FFF2-40B4-BE49-F238E27FC236}">
                <a16:creationId xmlns:a16="http://schemas.microsoft.com/office/drawing/2014/main" id="{3AB4FAF5-7AF1-24D4-209D-9CFB02B94D94}"/>
              </a:ext>
            </a:extLst>
          </p:cNvPr>
          <p:cNvCxnSpPr>
            <a:stCxn id="34" idx="3"/>
            <a:endCxn id="36" idx="1"/>
          </p:cNvCxnSpPr>
          <p:nvPr/>
        </p:nvCxnSpPr>
        <p:spPr>
          <a:xfrm>
            <a:off x="6774337" y="5168680"/>
            <a:ext cx="4167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39" name="Google Shape;953;p42">
            <a:extLst>
              <a:ext uri="{FF2B5EF4-FFF2-40B4-BE49-F238E27FC236}">
                <a16:creationId xmlns:a16="http://schemas.microsoft.com/office/drawing/2014/main" id="{B5B71655-6B1F-D834-CACF-09538362F8E8}"/>
              </a:ext>
            </a:extLst>
          </p:cNvPr>
          <p:cNvCxnSpPr>
            <a:stCxn id="36" idx="3"/>
            <a:endCxn id="35" idx="1"/>
          </p:cNvCxnSpPr>
          <p:nvPr/>
        </p:nvCxnSpPr>
        <p:spPr>
          <a:xfrm>
            <a:off x="8111423" y="5168680"/>
            <a:ext cx="411900" cy="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sp>
        <p:nvSpPr>
          <p:cNvPr id="40" name="Google Shape;954;p42">
            <a:extLst>
              <a:ext uri="{FF2B5EF4-FFF2-40B4-BE49-F238E27FC236}">
                <a16:creationId xmlns:a16="http://schemas.microsoft.com/office/drawing/2014/main" id="{1BBFE2C7-C3BC-AE8A-645B-1F83F65A915E}"/>
              </a:ext>
            </a:extLst>
          </p:cNvPr>
          <p:cNvSpPr txBox="1"/>
          <p:nvPr/>
        </p:nvSpPr>
        <p:spPr>
          <a:xfrm>
            <a:off x="9854156" y="5005738"/>
            <a:ext cx="1007448"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Bàn</a:t>
            </a:r>
            <a:r>
              <a:rPr lang="en-US" sz="16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1600" b="1" i="0" u="none" strike="noStrike" cap="none" dirty="0" err="1">
                <a:solidFill>
                  <a:srgbClr val="000000"/>
                </a:solidFill>
                <a:latin typeface="Times New Roman" panose="02020603050405020304" pitchFamily="18" charset="0"/>
                <a:cs typeface="Times New Roman" panose="02020603050405020304" pitchFamily="18" charset="0"/>
                <a:sym typeface="Arial"/>
              </a:rPr>
              <a:t>giao</a:t>
            </a:r>
            <a:endParaRPr sz="1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41" name="Google Shape;955;p42">
            <a:extLst>
              <a:ext uri="{FF2B5EF4-FFF2-40B4-BE49-F238E27FC236}">
                <a16:creationId xmlns:a16="http://schemas.microsoft.com/office/drawing/2014/main" id="{8694C094-FF3D-D4B7-CCAA-067401A91677}"/>
              </a:ext>
            </a:extLst>
          </p:cNvPr>
          <p:cNvCxnSpPr>
            <a:cxnSpLocks/>
            <a:stCxn id="35" idx="3"/>
            <a:endCxn id="40" idx="1"/>
          </p:cNvCxnSpPr>
          <p:nvPr/>
        </p:nvCxnSpPr>
        <p:spPr>
          <a:xfrm>
            <a:off x="9443593" y="5168680"/>
            <a:ext cx="410563" cy="6315"/>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2" name="Google Shape;956;p42">
            <a:extLst>
              <a:ext uri="{FF2B5EF4-FFF2-40B4-BE49-F238E27FC236}">
                <a16:creationId xmlns:a16="http://schemas.microsoft.com/office/drawing/2014/main" id="{D2EF4E7F-A58B-FC9C-368D-5DB2D1E6533F}"/>
              </a:ext>
            </a:extLst>
          </p:cNvPr>
          <p:cNvCxnSpPr>
            <a:cxnSpLocks/>
          </p:cNvCxnSpPr>
          <p:nvPr/>
        </p:nvCxnSpPr>
        <p:spPr>
          <a:xfrm>
            <a:off x="1750192" y="1711771"/>
            <a:ext cx="0" cy="3969834"/>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2"/>
              </a:srgbClr>
            </a:outerShdw>
          </a:effectLst>
        </p:spPr>
      </p:cxnSp>
      <p:cxnSp>
        <p:nvCxnSpPr>
          <p:cNvPr id="43" name="Google Shape;957;p42">
            <a:extLst>
              <a:ext uri="{FF2B5EF4-FFF2-40B4-BE49-F238E27FC236}">
                <a16:creationId xmlns:a16="http://schemas.microsoft.com/office/drawing/2014/main" id="{249CA060-4EDA-CB1F-9880-4B34D0ECE4FA}"/>
              </a:ext>
            </a:extLst>
          </p:cNvPr>
          <p:cNvCxnSpPr>
            <a:cxnSpLocks/>
          </p:cNvCxnSpPr>
          <p:nvPr/>
        </p:nvCxnSpPr>
        <p:spPr>
          <a:xfrm>
            <a:off x="1757626" y="5689040"/>
            <a:ext cx="9236088" cy="0"/>
          </a:xfrm>
          <a:prstGeom prst="straightConnector1">
            <a:avLst/>
          </a:prstGeom>
          <a:noFill/>
          <a:ln w="38100" cap="flat" cmpd="sng">
            <a:solidFill>
              <a:schemeClr val="dk1"/>
            </a:solidFill>
            <a:prstDash val="solid"/>
            <a:round/>
            <a:headEnd type="none" w="sm" len="sm"/>
            <a:tailEnd type="triangle" w="med" len="med"/>
          </a:ln>
          <a:effectLst>
            <a:outerShdw blurRad="40000" dist="23000" dir="5400000" rotWithShape="0">
              <a:srgbClr val="000000">
                <a:alpha val="34902"/>
              </a:srgbClr>
            </a:outerShdw>
          </a:effectLst>
        </p:spPr>
      </p:cxnSp>
      <p:sp>
        <p:nvSpPr>
          <p:cNvPr id="46" name="TextBox 45">
            <a:extLst>
              <a:ext uri="{FF2B5EF4-FFF2-40B4-BE49-F238E27FC236}">
                <a16:creationId xmlns:a16="http://schemas.microsoft.com/office/drawing/2014/main" id="{D327958C-CBB8-6A2D-19BB-872246084707}"/>
              </a:ext>
            </a:extLst>
          </p:cNvPr>
          <p:cNvSpPr txBox="1"/>
          <p:nvPr/>
        </p:nvSpPr>
        <p:spPr>
          <a:xfrm>
            <a:off x="160500" y="865142"/>
            <a:ext cx="2932213" cy="523220"/>
          </a:xfrm>
          <a:prstGeom prst="rect">
            <a:avLst/>
          </a:prstGeom>
          <a:noFill/>
        </p:spPr>
        <p:txBody>
          <a:bodyPr wrap="none" rtlCol="0">
            <a:spAutoFit/>
          </a:bodyPr>
          <a:lstStyle/>
          <a:p>
            <a:r>
              <a:rPr lang="vi-VN" sz="2800" b="1" dirty="0">
                <a:latin typeface="+mj-lt"/>
              </a:rPr>
              <a:t>Mô hình tăng dần</a:t>
            </a:r>
            <a:endParaRPr lang="en-US" sz="2800" b="1"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38399-9A3E-6198-485C-D6073958B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3" name="Title 2">
            <a:extLst>
              <a:ext uri="{FF2B5EF4-FFF2-40B4-BE49-F238E27FC236}">
                <a16:creationId xmlns:a16="http://schemas.microsoft.com/office/drawing/2014/main" id="{2E3667CA-20A1-184F-F7AA-3D35AF1DAAEC}"/>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hợp đồng </a:t>
            </a:r>
            <a:endParaRPr lang="en-US" dirty="0"/>
          </a:p>
        </p:txBody>
      </p:sp>
      <p:pic>
        <p:nvPicPr>
          <p:cNvPr id="5" name="Picture 4">
            <a:extLst>
              <a:ext uri="{FF2B5EF4-FFF2-40B4-BE49-F238E27FC236}">
                <a16:creationId xmlns:a16="http://schemas.microsoft.com/office/drawing/2014/main" id="{71A986B1-1B47-2D0A-F6B6-6B65AECA3D87}"/>
              </a:ext>
            </a:extLst>
          </p:cNvPr>
          <p:cNvPicPr>
            <a:picLocks noChangeAspect="1"/>
          </p:cNvPicPr>
          <p:nvPr/>
        </p:nvPicPr>
        <p:blipFill>
          <a:blip r:embed="rId2"/>
          <a:stretch>
            <a:fillRect/>
          </a:stretch>
        </p:blipFill>
        <p:spPr>
          <a:xfrm>
            <a:off x="2371725" y="1368108"/>
            <a:ext cx="7448550" cy="4305300"/>
          </a:xfrm>
          <a:prstGeom prst="rect">
            <a:avLst/>
          </a:prstGeom>
        </p:spPr>
      </p:pic>
    </p:spTree>
    <p:extLst>
      <p:ext uri="{BB962C8B-B14F-4D97-AF65-F5344CB8AC3E}">
        <p14:creationId xmlns:p14="http://schemas.microsoft.com/office/powerpoint/2010/main" val="323122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E6BA04DF-B5D6-4768-430D-2A02D37BF421}"/>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9F8B815E-A60E-0C77-5C77-19547A682634}"/>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1DABD168-3656-70D1-BD5F-443D233E1936}"/>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2. </a:t>
            </a:r>
            <a:r>
              <a:rPr lang="en-US" dirty="0" err="1">
                <a:solidFill>
                  <a:srgbClr val="FF0000"/>
                </a:solidFill>
                <a:latin typeface="Arial"/>
                <a:ea typeface="Arial"/>
                <a:cs typeface="Arial"/>
                <a:sym typeface="Arial"/>
              </a:rPr>
              <a:t>Giới</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thiệu</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đề</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tài</a:t>
            </a:r>
            <a:endParaRPr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3.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yêu</a:t>
            </a:r>
            <a:r>
              <a:rPr lang="en-US" dirty="0">
                <a:latin typeface="Arial"/>
                <a:ea typeface="Arial"/>
                <a:cs typeface="Arial"/>
                <a:sym typeface="Arial"/>
              </a:rPr>
              <a:t> </a:t>
            </a:r>
            <a:r>
              <a:rPr lang="en-US" dirty="0" err="1">
                <a:latin typeface="Arial"/>
                <a:ea typeface="Arial"/>
                <a:cs typeface="Arial"/>
                <a:sym typeface="Arial"/>
              </a:rPr>
              <a:t>cầu</a:t>
            </a:r>
            <a:endParaRPr lang="en-US"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B002CC1D-732F-CFCF-56C5-07D939700B2E}"/>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665594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25" name="Google Shape;125;p21"/>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dirty="0">
                <a:latin typeface="Arial"/>
                <a:ea typeface="Arial"/>
                <a:cs typeface="Arial"/>
                <a:sym typeface="Arial"/>
              </a:rPr>
              <a:t> </a:t>
            </a:r>
            <a:r>
              <a:rPr lang="en-US" b="1" dirty="0">
                <a:latin typeface="Arial"/>
                <a:ea typeface="Arial"/>
                <a:cs typeface="Arial"/>
                <a:sym typeface="Arial"/>
              </a:rPr>
              <a:t>a. </a:t>
            </a:r>
            <a:r>
              <a:rPr lang="en-US" b="1" dirty="0" err="1">
                <a:latin typeface="Arial"/>
                <a:ea typeface="Arial"/>
                <a:cs typeface="Arial"/>
                <a:sym typeface="Arial"/>
              </a:rPr>
              <a:t>Đặt</a:t>
            </a:r>
            <a:r>
              <a:rPr lang="en-US" b="1" dirty="0">
                <a:latin typeface="Arial"/>
                <a:ea typeface="Arial"/>
                <a:cs typeface="Arial"/>
                <a:sym typeface="Arial"/>
              </a:rPr>
              <a:t> </a:t>
            </a:r>
            <a:r>
              <a:rPr lang="en-US" b="1" dirty="0" err="1">
                <a:latin typeface="Arial"/>
                <a:ea typeface="Arial"/>
                <a:cs typeface="Arial"/>
                <a:sym typeface="Arial"/>
              </a:rPr>
              <a:t>vấn</a:t>
            </a:r>
            <a:r>
              <a:rPr lang="en-US" b="1" dirty="0">
                <a:latin typeface="Arial"/>
                <a:ea typeface="Arial"/>
                <a:cs typeface="Arial"/>
                <a:sym typeface="Arial"/>
              </a:rPr>
              <a:t> </a:t>
            </a:r>
            <a:r>
              <a:rPr lang="en-US" b="1" dirty="0" err="1">
                <a:latin typeface="Arial"/>
                <a:ea typeface="Arial"/>
                <a:cs typeface="Arial"/>
                <a:sym typeface="Arial"/>
              </a:rPr>
              <a:t>đề</a:t>
            </a:r>
            <a:endParaRPr b="1" dirty="0">
              <a:latin typeface="Arial"/>
              <a:ea typeface="Arial"/>
              <a:cs typeface="Arial"/>
              <a:sym typeface="Arial"/>
            </a:endParaRPr>
          </a:p>
          <a:p>
            <a:pPr marL="457200" lvl="0" indent="-406400" algn="l" rtl="0">
              <a:lnSpc>
                <a:spcPct val="90000"/>
              </a:lnSpc>
              <a:spcBef>
                <a:spcPts val="0"/>
              </a:spcBef>
              <a:spcAft>
                <a:spcPts val="0"/>
              </a:spcAft>
              <a:buSzPts val="2800"/>
              <a:buFont typeface="Arial"/>
              <a:buChar char="-"/>
            </a:pPr>
            <a:r>
              <a:rPr lang="en-US" dirty="0" err="1">
                <a:latin typeface="Arial"/>
                <a:ea typeface="Arial"/>
                <a:cs typeface="Arial"/>
                <a:sym typeface="Arial"/>
              </a:rPr>
              <a:t>Thực</a:t>
            </a:r>
            <a:r>
              <a:rPr lang="en-US" dirty="0">
                <a:latin typeface="Arial"/>
                <a:ea typeface="Arial"/>
                <a:cs typeface="Arial"/>
                <a:sym typeface="Arial"/>
              </a:rPr>
              <a:t> </a:t>
            </a:r>
            <a:r>
              <a:rPr lang="en-US" dirty="0" err="1">
                <a:latin typeface="Arial"/>
                <a:ea typeface="Arial"/>
                <a:cs typeface="Arial"/>
                <a:sym typeface="Arial"/>
              </a:rPr>
              <a:t>trạng</a:t>
            </a:r>
            <a:endParaRPr dirty="0">
              <a:latin typeface="Arial"/>
              <a:ea typeface="Arial"/>
              <a:cs typeface="Arial"/>
              <a:sym typeface="Arial"/>
            </a:endParaRPr>
          </a:p>
          <a:p>
            <a:pPr marL="914400" lvl="0">
              <a:spcBef>
                <a:spcPts val="0"/>
              </a:spcBef>
              <a:buFont typeface="Arial"/>
              <a:buChar char="+"/>
            </a:pPr>
            <a:r>
              <a:rPr lang="en-US" dirty="0" err="1"/>
              <a:t>Hiện</a:t>
            </a:r>
            <a:r>
              <a:rPr lang="en-US" dirty="0"/>
              <a:t> nay, </a:t>
            </a:r>
            <a:r>
              <a:rPr lang="en-US" dirty="0" err="1"/>
              <a:t>nhu</a:t>
            </a:r>
            <a:r>
              <a:rPr lang="en-US" dirty="0"/>
              <a:t> </a:t>
            </a:r>
            <a:r>
              <a:rPr lang="en-US" dirty="0" err="1"/>
              <a:t>cầu</a:t>
            </a:r>
            <a:r>
              <a:rPr lang="en-US" dirty="0"/>
              <a:t> </a:t>
            </a:r>
            <a:r>
              <a:rPr lang="en-US" dirty="0" err="1"/>
              <a:t>thuê</a:t>
            </a:r>
            <a:r>
              <a:rPr lang="en-US" dirty="0"/>
              <a:t> </a:t>
            </a:r>
            <a:r>
              <a:rPr lang="en-US" dirty="0" err="1"/>
              <a:t>trọ</a:t>
            </a:r>
            <a:r>
              <a:rPr lang="en-US" dirty="0"/>
              <a:t> </a:t>
            </a:r>
            <a:r>
              <a:rPr lang="en-US" dirty="0" err="1"/>
              <a:t>và</a:t>
            </a:r>
            <a:r>
              <a:rPr lang="en-US" dirty="0"/>
              <a:t> </a:t>
            </a:r>
            <a:r>
              <a:rPr lang="en-US" dirty="0" err="1"/>
              <a:t>thuê</a:t>
            </a:r>
            <a:r>
              <a:rPr lang="en-US" dirty="0"/>
              <a:t> </a:t>
            </a:r>
            <a:r>
              <a:rPr lang="en-US" dirty="0" err="1"/>
              <a:t>căn</a:t>
            </a:r>
            <a:r>
              <a:rPr lang="en-US" dirty="0"/>
              <a:t> </a:t>
            </a:r>
            <a:r>
              <a:rPr lang="en-US" dirty="0" err="1"/>
              <a:t>hộ</a:t>
            </a:r>
            <a:r>
              <a:rPr lang="en-US" dirty="0"/>
              <a:t> </a:t>
            </a:r>
            <a:r>
              <a:rPr lang="en-US" dirty="0" err="1"/>
              <a:t>tại</a:t>
            </a:r>
            <a:r>
              <a:rPr lang="en-US" dirty="0"/>
              <a:t> </a:t>
            </a:r>
            <a:r>
              <a:rPr lang="en-US" dirty="0" err="1"/>
              <a:t>các</a:t>
            </a:r>
            <a:r>
              <a:rPr lang="en-US" dirty="0"/>
              <a:t> </a:t>
            </a:r>
            <a:r>
              <a:rPr lang="en-US" dirty="0" err="1"/>
              <a:t>thành</a:t>
            </a:r>
            <a:r>
              <a:rPr lang="en-US" dirty="0"/>
              <a:t> </a:t>
            </a:r>
            <a:r>
              <a:rPr lang="en-US" dirty="0" err="1"/>
              <a:t>phố</a:t>
            </a:r>
            <a:r>
              <a:rPr lang="en-US" dirty="0"/>
              <a:t> </a:t>
            </a:r>
            <a:r>
              <a:rPr lang="en-US" dirty="0" err="1"/>
              <a:t>lớn</a:t>
            </a:r>
            <a:r>
              <a:rPr lang="en-US" dirty="0"/>
              <a:t> </a:t>
            </a:r>
            <a:r>
              <a:rPr lang="en-US" dirty="0" err="1"/>
              <a:t>ngày</a:t>
            </a:r>
            <a:r>
              <a:rPr lang="en-US" dirty="0"/>
              <a:t> </a:t>
            </a:r>
            <a:r>
              <a:rPr lang="en-US" dirty="0" err="1"/>
              <a:t>càng</a:t>
            </a:r>
            <a:r>
              <a:rPr lang="en-US" dirty="0"/>
              <a:t> </a:t>
            </a:r>
            <a:r>
              <a:rPr lang="en-US" dirty="0" err="1"/>
              <a:t>tăng</a:t>
            </a:r>
            <a:r>
              <a:rPr lang="en-US" dirty="0"/>
              <a:t> </a:t>
            </a:r>
            <a:r>
              <a:rPr lang="en-US" dirty="0" err="1"/>
              <a:t>cao</a:t>
            </a:r>
            <a:r>
              <a:rPr lang="en-US" dirty="0"/>
              <a:t> do </a:t>
            </a:r>
            <a:r>
              <a:rPr lang="en-US" dirty="0" err="1"/>
              <a:t>sự</a:t>
            </a:r>
            <a:r>
              <a:rPr lang="en-US" dirty="0"/>
              <a:t> </a:t>
            </a:r>
            <a:r>
              <a:rPr lang="en-US" dirty="0" err="1"/>
              <a:t>gia</a:t>
            </a:r>
            <a:r>
              <a:rPr lang="en-US" dirty="0"/>
              <a:t> </a:t>
            </a:r>
            <a:r>
              <a:rPr lang="en-US" dirty="0" err="1"/>
              <a:t>tăng</a:t>
            </a:r>
            <a:r>
              <a:rPr lang="en-US" dirty="0"/>
              <a:t> </a:t>
            </a:r>
            <a:r>
              <a:rPr lang="en-US" dirty="0" err="1"/>
              <a:t>số</a:t>
            </a:r>
            <a:r>
              <a:rPr lang="en-US" dirty="0"/>
              <a:t> </a:t>
            </a:r>
            <a:r>
              <a:rPr lang="en-US" dirty="0" err="1"/>
              <a:t>lượng</a:t>
            </a:r>
            <a:r>
              <a:rPr lang="en-US" dirty="0"/>
              <a:t> </a:t>
            </a:r>
            <a:r>
              <a:rPr lang="en-US" dirty="0" err="1"/>
              <a:t>sinh</a:t>
            </a:r>
            <a:r>
              <a:rPr lang="en-US" dirty="0"/>
              <a:t> </a:t>
            </a:r>
            <a:r>
              <a:rPr lang="en-US" dirty="0" err="1"/>
              <a:t>viên</a:t>
            </a:r>
            <a:r>
              <a:rPr lang="en-US" dirty="0"/>
              <a:t>, </a:t>
            </a:r>
            <a:r>
              <a:rPr lang="en-US" dirty="0" err="1"/>
              <a:t>người</a:t>
            </a:r>
            <a:r>
              <a:rPr lang="en-US" dirty="0"/>
              <a:t> </a:t>
            </a:r>
            <a:r>
              <a:rPr lang="en-US" dirty="0" err="1"/>
              <a:t>lao</a:t>
            </a:r>
            <a:r>
              <a:rPr lang="en-US" dirty="0"/>
              <a:t> </a:t>
            </a:r>
            <a:r>
              <a:rPr lang="en-US" dirty="0" err="1"/>
              <a:t>động</a:t>
            </a:r>
            <a:r>
              <a:rPr lang="en-US" dirty="0"/>
              <a:t> </a:t>
            </a:r>
            <a:r>
              <a:rPr lang="en-US" dirty="0" err="1"/>
              <a:t>và</a:t>
            </a:r>
            <a:r>
              <a:rPr lang="en-US" dirty="0"/>
              <a:t> </a:t>
            </a:r>
            <a:r>
              <a:rPr lang="en-US" dirty="0" err="1"/>
              <a:t>người</a:t>
            </a:r>
            <a:r>
              <a:rPr lang="en-US" dirty="0"/>
              <a:t> </a:t>
            </a:r>
            <a:r>
              <a:rPr lang="en-US" dirty="0" err="1"/>
              <a:t>dân</a:t>
            </a:r>
            <a:r>
              <a:rPr lang="en-US" dirty="0"/>
              <a:t> </a:t>
            </a:r>
            <a:r>
              <a:rPr lang="en-US" dirty="0" err="1"/>
              <a:t>có</a:t>
            </a:r>
            <a:r>
              <a:rPr lang="en-US" dirty="0"/>
              <a:t> </a:t>
            </a:r>
            <a:r>
              <a:rPr lang="en-US" dirty="0" err="1"/>
              <a:t>nhu</a:t>
            </a:r>
            <a:r>
              <a:rPr lang="en-US" dirty="0"/>
              <a:t> </a:t>
            </a:r>
            <a:r>
              <a:rPr lang="en-US" dirty="0" err="1"/>
              <a:t>cầu</a:t>
            </a:r>
            <a:r>
              <a:rPr lang="en-US" dirty="0"/>
              <a:t> </a:t>
            </a:r>
            <a:r>
              <a:rPr lang="en-US" dirty="0" err="1"/>
              <a:t>sinh</a:t>
            </a:r>
            <a:r>
              <a:rPr lang="en-US" dirty="0"/>
              <a:t> </a:t>
            </a:r>
            <a:r>
              <a:rPr lang="en-US" dirty="0" err="1"/>
              <a:t>sống</a:t>
            </a:r>
            <a:r>
              <a:rPr lang="en-US" dirty="0"/>
              <a:t>, </a:t>
            </a:r>
            <a:r>
              <a:rPr lang="en-US" dirty="0" err="1"/>
              <a:t>học</a:t>
            </a:r>
            <a:r>
              <a:rPr lang="en-US" dirty="0"/>
              <a:t> </a:t>
            </a:r>
            <a:r>
              <a:rPr lang="en-US" dirty="0" err="1"/>
              <a:t>tập</a:t>
            </a:r>
            <a:r>
              <a:rPr lang="en-US" dirty="0"/>
              <a:t> </a:t>
            </a:r>
            <a:r>
              <a:rPr lang="en-US" dirty="0" err="1"/>
              <a:t>và</a:t>
            </a:r>
            <a:r>
              <a:rPr lang="en-US" dirty="0"/>
              <a:t> </a:t>
            </a:r>
            <a:r>
              <a:rPr lang="en-US" dirty="0" err="1"/>
              <a:t>làm</a:t>
            </a:r>
            <a:r>
              <a:rPr lang="en-US" dirty="0"/>
              <a:t> </a:t>
            </a:r>
            <a:r>
              <a:rPr lang="en-US" dirty="0" err="1"/>
              <a:t>việc</a:t>
            </a:r>
            <a:r>
              <a:rPr lang="en-US" dirty="0"/>
              <a:t> xa </a:t>
            </a:r>
            <a:r>
              <a:rPr lang="en-US" dirty="0" err="1"/>
              <a:t>nhà</a:t>
            </a:r>
            <a:r>
              <a:rPr lang="en-US" dirty="0"/>
              <a:t>.</a:t>
            </a:r>
            <a:endParaRPr lang="vi-VN" dirty="0"/>
          </a:p>
          <a:p>
            <a:pPr marL="914400" lvl="0">
              <a:spcBef>
                <a:spcPts val="0"/>
              </a:spcBef>
              <a:buFont typeface="Arial"/>
              <a:buChar char="+"/>
            </a:pPr>
            <a:r>
              <a:rPr lang="en-US" dirty="0" err="1"/>
              <a:t>Cùng</a:t>
            </a:r>
            <a:r>
              <a:rPr lang="en-US" dirty="0"/>
              <a:t> </a:t>
            </a:r>
            <a:r>
              <a:rPr lang="en-US" dirty="0" err="1"/>
              <a:t>với</a:t>
            </a:r>
            <a:r>
              <a:rPr lang="en-US" dirty="0"/>
              <a:t> </a:t>
            </a:r>
            <a:r>
              <a:rPr lang="en-US" dirty="0" err="1"/>
              <a:t>đó</a:t>
            </a:r>
            <a:r>
              <a:rPr lang="en-US" dirty="0"/>
              <a:t>, </a:t>
            </a:r>
            <a:r>
              <a:rPr lang="en-US" dirty="0" err="1"/>
              <a:t>mô</a:t>
            </a:r>
            <a:r>
              <a:rPr lang="en-US" dirty="0"/>
              <a:t> </a:t>
            </a:r>
            <a:r>
              <a:rPr lang="en-US" dirty="0" err="1"/>
              <a:t>hình</a:t>
            </a:r>
            <a:r>
              <a:rPr lang="en-US" dirty="0"/>
              <a:t> </a:t>
            </a:r>
            <a:r>
              <a:rPr lang="en-US" dirty="0" err="1"/>
              <a:t>nhà</a:t>
            </a:r>
            <a:r>
              <a:rPr lang="en-US" dirty="0"/>
              <a:t> </a:t>
            </a:r>
            <a:r>
              <a:rPr lang="en-US" dirty="0" err="1"/>
              <a:t>trọ</a:t>
            </a:r>
            <a:r>
              <a:rPr lang="en-US" dirty="0"/>
              <a:t>, </a:t>
            </a:r>
            <a:r>
              <a:rPr lang="en-US" dirty="0" err="1"/>
              <a:t>phòng</a:t>
            </a:r>
            <a:r>
              <a:rPr lang="en-US" dirty="0"/>
              <a:t> </a:t>
            </a:r>
            <a:r>
              <a:rPr lang="en-US" dirty="0" err="1"/>
              <a:t>cho</a:t>
            </a:r>
            <a:r>
              <a:rPr lang="en-US" dirty="0"/>
              <a:t> </a:t>
            </a:r>
            <a:r>
              <a:rPr lang="en-US" dirty="0" err="1"/>
              <a:t>thuê</a:t>
            </a:r>
            <a:r>
              <a:rPr lang="en-US" dirty="0"/>
              <a:t> </a:t>
            </a:r>
            <a:r>
              <a:rPr lang="en-US" dirty="0" err="1"/>
              <a:t>và</a:t>
            </a:r>
            <a:r>
              <a:rPr lang="en-US" dirty="0"/>
              <a:t> </a:t>
            </a:r>
            <a:r>
              <a:rPr lang="en-US" dirty="0" err="1"/>
              <a:t>chung</a:t>
            </a:r>
            <a:r>
              <a:rPr lang="en-US" dirty="0"/>
              <a:t> </a:t>
            </a:r>
            <a:r>
              <a:rPr lang="en-US" dirty="0" err="1"/>
              <a:t>cư</a:t>
            </a:r>
            <a:r>
              <a:rPr lang="en-US" dirty="0"/>
              <a:t> mini </a:t>
            </a:r>
            <a:r>
              <a:rPr lang="en-US" dirty="0" err="1"/>
              <a:t>cũng</a:t>
            </a:r>
            <a:r>
              <a:rPr lang="en-US" dirty="0"/>
              <a:t> </a:t>
            </a:r>
            <a:r>
              <a:rPr lang="en-US" dirty="0" err="1"/>
              <a:t>ngày</a:t>
            </a:r>
            <a:r>
              <a:rPr lang="en-US" dirty="0"/>
              <a:t> </a:t>
            </a:r>
            <a:r>
              <a:rPr lang="en-US" dirty="0" err="1"/>
              <a:t>càng</a:t>
            </a:r>
            <a:r>
              <a:rPr lang="en-US" dirty="0"/>
              <a:t> </a:t>
            </a:r>
            <a:r>
              <a:rPr lang="en-US" dirty="0" err="1"/>
              <a:t>phát</a:t>
            </a:r>
            <a:r>
              <a:rPr lang="en-US" dirty="0"/>
              <a:t> </a:t>
            </a:r>
            <a:r>
              <a:rPr lang="en-US" dirty="0" err="1"/>
              <a:t>triển</a:t>
            </a:r>
            <a:r>
              <a:rPr lang="en-US" dirty="0"/>
              <a:t> </a:t>
            </a:r>
            <a:r>
              <a:rPr lang="en-US" dirty="0" err="1"/>
              <a:t>với</a:t>
            </a:r>
            <a:r>
              <a:rPr lang="en-US" dirty="0"/>
              <a:t> </a:t>
            </a:r>
            <a:r>
              <a:rPr lang="en-US" dirty="0" err="1"/>
              <a:t>số</a:t>
            </a:r>
            <a:r>
              <a:rPr lang="en-US" dirty="0"/>
              <a:t> </a:t>
            </a:r>
            <a:r>
              <a:rPr lang="en-US" dirty="0" err="1"/>
              <a:t>lượng</a:t>
            </a:r>
            <a:r>
              <a:rPr lang="en-US" dirty="0"/>
              <a:t> </a:t>
            </a:r>
            <a:r>
              <a:rPr lang="en-US" dirty="0" err="1"/>
              <a:t>phòng</a:t>
            </a:r>
            <a:r>
              <a:rPr lang="en-US" dirty="0"/>
              <a:t> </a:t>
            </a:r>
            <a:r>
              <a:rPr lang="en-US" dirty="0" err="1"/>
              <a:t>và</a:t>
            </a:r>
            <a:r>
              <a:rPr lang="en-US" dirty="0"/>
              <a:t> </a:t>
            </a:r>
            <a:r>
              <a:rPr lang="en-US" dirty="0" err="1"/>
              <a:t>khách</a:t>
            </a:r>
            <a:r>
              <a:rPr lang="en-US" dirty="0"/>
              <a:t> </a:t>
            </a:r>
            <a:r>
              <a:rPr lang="en-US" dirty="0" err="1"/>
              <a:t>thuê</a:t>
            </a:r>
            <a:r>
              <a:rPr lang="en-US" dirty="0"/>
              <a:t> </a:t>
            </a:r>
            <a:r>
              <a:rPr lang="en-US" dirty="0" err="1"/>
              <a:t>lớn</a:t>
            </a:r>
            <a:r>
              <a:rPr lang="en-US" dirty="0"/>
              <a:t>. </a:t>
            </a:r>
            <a:endParaRPr lang="vi-VN" dirty="0"/>
          </a:p>
          <a:p>
            <a:pPr marL="508000" lvl="0" indent="0">
              <a:spcBef>
                <a:spcPts val="0"/>
              </a:spcBef>
              <a:buNone/>
            </a:pPr>
            <a:r>
              <a:rPr lang="vi-VN" dirty="0"/>
              <a:t>=&gt; K</a:t>
            </a:r>
            <a:r>
              <a:rPr lang="en-US" dirty="0"/>
              <a:t>hi </a:t>
            </a:r>
            <a:r>
              <a:rPr lang="en-US" dirty="0" err="1"/>
              <a:t>quy</a:t>
            </a:r>
            <a:r>
              <a:rPr lang="en-US" dirty="0"/>
              <a:t> </a:t>
            </a:r>
            <a:r>
              <a:rPr lang="en-US" dirty="0" err="1"/>
              <a:t>mô</a:t>
            </a:r>
            <a:r>
              <a:rPr lang="en-US" dirty="0"/>
              <a:t> </a:t>
            </a:r>
            <a:r>
              <a:rPr lang="en-US" dirty="0" err="1"/>
              <a:t>quản</a:t>
            </a:r>
            <a:r>
              <a:rPr lang="en-US" dirty="0"/>
              <a:t> </a:t>
            </a:r>
            <a:r>
              <a:rPr lang="en-US" dirty="0" err="1"/>
              <a:t>lý</a:t>
            </a:r>
            <a:r>
              <a:rPr lang="en-US" dirty="0"/>
              <a:t> </a:t>
            </a:r>
            <a:r>
              <a:rPr lang="en-US" dirty="0" err="1"/>
              <a:t>tăng</a:t>
            </a:r>
            <a:r>
              <a:rPr lang="en-US" dirty="0"/>
              <a:t> </a:t>
            </a:r>
            <a:r>
              <a:rPr lang="en-US" dirty="0" err="1"/>
              <a:t>lên</a:t>
            </a:r>
            <a:r>
              <a:rPr lang="en-US" dirty="0"/>
              <a:t>, </a:t>
            </a:r>
            <a:r>
              <a:rPr lang="en-US" dirty="0" err="1"/>
              <a:t>việc</a:t>
            </a:r>
            <a:r>
              <a:rPr lang="en-US" dirty="0"/>
              <a:t> </a:t>
            </a:r>
            <a:r>
              <a:rPr lang="en-US" dirty="0" err="1"/>
              <a:t>lưu</a:t>
            </a:r>
            <a:r>
              <a:rPr lang="en-US" dirty="0"/>
              <a:t> </a:t>
            </a:r>
            <a:r>
              <a:rPr lang="en-US" dirty="0" err="1"/>
              <a:t>trữ</a:t>
            </a:r>
            <a:r>
              <a:rPr lang="en-US" dirty="0"/>
              <a:t> </a:t>
            </a:r>
            <a:r>
              <a:rPr lang="en-US" dirty="0" err="1"/>
              <a:t>và</a:t>
            </a:r>
            <a:r>
              <a:rPr lang="en-US" dirty="0"/>
              <a:t> </a:t>
            </a:r>
            <a:r>
              <a:rPr lang="en-US" dirty="0" err="1"/>
              <a:t>cập</a:t>
            </a:r>
            <a:r>
              <a:rPr lang="en-US" dirty="0"/>
              <a:t> </a:t>
            </a:r>
            <a:r>
              <a:rPr lang="en-US" dirty="0" err="1"/>
              <a:t>nhật</a:t>
            </a:r>
            <a:r>
              <a:rPr lang="en-US" dirty="0"/>
              <a:t> </a:t>
            </a:r>
            <a:r>
              <a:rPr lang="en-US" dirty="0" err="1"/>
              <a:t>dữ</a:t>
            </a:r>
            <a:r>
              <a:rPr lang="en-US" dirty="0"/>
              <a:t> </a:t>
            </a:r>
            <a:r>
              <a:rPr lang="en-US" dirty="0" err="1"/>
              <a:t>liệu</a:t>
            </a:r>
            <a:r>
              <a:rPr lang="en-US" dirty="0"/>
              <a:t> </a:t>
            </a:r>
            <a:r>
              <a:rPr lang="en-US" dirty="0" err="1"/>
              <a:t>bằng</a:t>
            </a:r>
            <a:r>
              <a:rPr lang="en-US" dirty="0"/>
              <a:t> </a:t>
            </a:r>
            <a:r>
              <a:rPr lang="en-US" dirty="0" err="1"/>
              <a:t>phương</a:t>
            </a:r>
            <a:r>
              <a:rPr lang="en-US" dirty="0"/>
              <a:t> </a:t>
            </a:r>
            <a:r>
              <a:rPr lang="en-US" dirty="0" err="1"/>
              <a:t>pháp</a:t>
            </a:r>
            <a:r>
              <a:rPr lang="en-US" dirty="0"/>
              <a:t> </a:t>
            </a:r>
            <a:r>
              <a:rPr lang="en-US" dirty="0" err="1"/>
              <a:t>thủ</a:t>
            </a:r>
            <a:r>
              <a:rPr lang="en-US" dirty="0"/>
              <a:t> </a:t>
            </a:r>
            <a:r>
              <a:rPr lang="en-US" dirty="0" err="1"/>
              <a:t>công</a:t>
            </a:r>
            <a:r>
              <a:rPr lang="en-US" dirty="0"/>
              <a:t> </a:t>
            </a:r>
            <a:r>
              <a:rPr lang="en-US" dirty="0" err="1"/>
              <a:t>dễ</a:t>
            </a:r>
            <a:r>
              <a:rPr lang="en-US" dirty="0"/>
              <a:t> </a:t>
            </a:r>
            <a:r>
              <a:rPr lang="en-US" dirty="0" err="1"/>
              <a:t>dẫn</a:t>
            </a:r>
            <a:r>
              <a:rPr lang="en-US" dirty="0"/>
              <a:t> </a:t>
            </a:r>
            <a:r>
              <a:rPr lang="en-US" dirty="0" err="1"/>
              <a:t>đến</a:t>
            </a:r>
            <a:r>
              <a:rPr lang="en-US" dirty="0"/>
              <a:t> </a:t>
            </a:r>
            <a:r>
              <a:rPr lang="en-US" dirty="0" err="1"/>
              <a:t>tình</a:t>
            </a:r>
            <a:r>
              <a:rPr lang="en-US" dirty="0"/>
              <a:t> </a:t>
            </a:r>
            <a:r>
              <a:rPr lang="en-US" dirty="0" err="1"/>
              <a:t>trạng</a:t>
            </a:r>
            <a:r>
              <a:rPr lang="en-US" dirty="0"/>
              <a:t> </a:t>
            </a:r>
            <a:r>
              <a:rPr lang="en-US" dirty="0" err="1"/>
              <a:t>thông</a:t>
            </a:r>
            <a:r>
              <a:rPr lang="en-US" dirty="0"/>
              <a:t> tin </a:t>
            </a:r>
            <a:r>
              <a:rPr lang="en-US" dirty="0" err="1"/>
              <a:t>bị</a:t>
            </a:r>
            <a:r>
              <a:rPr lang="en-US" dirty="0"/>
              <a:t> </a:t>
            </a:r>
            <a:r>
              <a:rPr lang="en-US" dirty="0" err="1"/>
              <a:t>phân</a:t>
            </a:r>
            <a:r>
              <a:rPr lang="en-US" dirty="0"/>
              <a:t> </a:t>
            </a:r>
            <a:r>
              <a:rPr lang="en-US" dirty="0" err="1"/>
              <a:t>tán</a:t>
            </a:r>
            <a:r>
              <a:rPr lang="en-US" dirty="0"/>
              <a:t>, </a:t>
            </a:r>
            <a:r>
              <a:rPr lang="en-US" dirty="0" err="1"/>
              <a:t>khó</a:t>
            </a:r>
            <a:r>
              <a:rPr lang="en-US" dirty="0"/>
              <a:t> </a:t>
            </a:r>
            <a:r>
              <a:rPr lang="en-US" dirty="0" err="1"/>
              <a:t>tra</a:t>
            </a:r>
            <a:r>
              <a:rPr lang="en-US" dirty="0"/>
              <a:t> </a:t>
            </a:r>
            <a:r>
              <a:rPr lang="en-US" dirty="0" err="1"/>
              <a:t>cứu</a:t>
            </a:r>
            <a:r>
              <a:rPr lang="en-US" dirty="0"/>
              <a:t>, </a:t>
            </a:r>
            <a:r>
              <a:rPr lang="en-US" dirty="0" err="1"/>
              <a:t>dễ</a:t>
            </a:r>
            <a:r>
              <a:rPr lang="en-US" dirty="0"/>
              <a:t> </a:t>
            </a:r>
            <a:r>
              <a:rPr lang="en-US" dirty="0" err="1"/>
              <a:t>nhầm</a:t>
            </a:r>
            <a:r>
              <a:rPr lang="en-US" dirty="0"/>
              <a:t> </a:t>
            </a:r>
            <a:r>
              <a:rPr lang="en-US" dirty="0" err="1"/>
              <a:t>lẫn</a:t>
            </a:r>
            <a:r>
              <a:rPr lang="en-US" dirty="0"/>
              <a:t> </a:t>
            </a:r>
            <a:r>
              <a:rPr lang="en-US" dirty="0" err="1"/>
              <a:t>hoặc</a:t>
            </a:r>
            <a:r>
              <a:rPr lang="en-US" dirty="0"/>
              <a:t> </a:t>
            </a:r>
            <a:r>
              <a:rPr lang="en-US" dirty="0" err="1"/>
              <a:t>bỏ</a:t>
            </a:r>
            <a:r>
              <a:rPr lang="en-US" dirty="0"/>
              <a:t> </a:t>
            </a:r>
            <a:r>
              <a:rPr lang="en-US" dirty="0" err="1"/>
              <a:t>sót</a:t>
            </a:r>
            <a:r>
              <a:rPr lang="en-US" dirty="0"/>
              <a:t>.</a:t>
            </a:r>
            <a:endParaRPr dirty="0">
              <a:latin typeface="Arial"/>
              <a:ea typeface="Arial"/>
              <a:cs typeface="Arial"/>
              <a:sym typeface="Arial"/>
            </a:endParaRPr>
          </a:p>
        </p:txBody>
      </p:sp>
      <p:sp>
        <p:nvSpPr>
          <p:cNvPr id="126" name="Google Shape;126;p21"/>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32" name="Google Shape;132;p22"/>
          <p:cNvSpPr txBox="1">
            <a:spLocks noGrp="1"/>
          </p:cNvSpPr>
          <p:nvPr>
            <p:ph type="body" idx="1"/>
          </p:nvPr>
        </p:nvSpPr>
        <p:spPr>
          <a:xfrm>
            <a:off x="337540" y="1032510"/>
            <a:ext cx="6407389" cy="4938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dirty="0">
                <a:latin typeface="Arial"/>
                <a:ea typeface="Arial"/>
                <a:cs typeface="Arial"/>
                <a:sym typeface="Arial"/>
              </a:rPr>
              <a:t> </a:t>
            </a:r>
            <a:r>
              <a:rPr lang="en-US" b="1" dirty="0">
                <a:latin typeface="Arial"/>
                <a:ea typeface="Arial"/>
                <a:cs typeface="Arial"/>
                <a:sym typeface="Arial"/>
              </a:rPr>
              <a:t>a. </a:t>
            </a:r>
            <a:r>
              <a:rPr lang="en-US" b="1" dirty="0" err="1">
                <a:latin typeface="Arial"/>
                <a:ea typeface="Arial"/>
                <a:cs typeface="Arial"/>
                <a:sym typeface="Arial"/>
              </a:rPr>
              <a:t>Đặt</a:t>
            </a:r>
            <a:r>
              <a:rPr lang="en-US" b="1" dirty="0">
                <a:latin typeface="Arial"/>
                <a:ea typeface="Arial"/>
                <a:cs typeface="Arial"/>
                <a:sym typeface="Arial"/>
              </a:rPr>
              <a:t> </a:t>
            </a:r>
            <a:r>
              <a:rPr lang="en-US" b="1" dirty="0" err="1">
                <a:latin typeface="Arial"/>
                <a:ea typeface="Arial"/>
                <a:cs typeface="Arial"/>
                <a:sym typeface="Arial"/>
              </a:rPr>
              <a:t>vấn</a:t>
            </a:r>
            <a:r>
              <a:rPr lang="en-US" b="1" dirty="0">
                <a:latin typeface="Arial"/>
                <a:ea typeface="Arial"/>
                <a:cs typeface="Arial"/>
                <a:sym typeface="Arial"/>
              </a:rPr>
              <a:t> </a:t>
            </a:r>
            <a:r>
              <a:rPr lang="vi-VN" b="1" dirty="0">
                <a:latin typeface="Arial"/>
                <a:ea typeface="Arial"/>
                <a:cs typeface="Arial"/>
                <a:sym typeface="Arial"/>
              </a:rPr>
              <a:t>đề</a:t>
            </a:r>
            <a:endParaRPr b="1" dirty="0">
              <a:latin typeface="Arial"/>
              <a:ea typeface="Arial"/>
              <a:cs typeface="Arial"/>
              <a:sym typeface="Arial"/>
            </a:endParaRPr>
          </a:p>
          <a:p>
            <a:r>
              <a:rPr lang="en-US" dirty="0" err="1">
                <a:sym typeface="Arial"/>
              </a:rPr>
              <a:t>Giải</a:t>
            </a:r>
            <a:r>
              <a:rPr lang="en-US" dirty="0">
                <a:sym typeface="Arial"/>
              </a:rPr>
              <a:t> </a:t>
            </a:r>
            <a:r>
              <a:rPr lang="en-US" dirty="0" err="1">
                <a:sym typeface="Arial"/>
              </a:rPr>
              <a:t>pháp</a:t>
            </a:r>
            <a:r>
              <a:rPr lang="en-US" dirty="0">
                <a:sym typeface="Arial"/>
              </a:rPr>
              <a:t> (</a:t>
            </a:r>
            <a:r>
              <a:rPr lang="en-US" dirty="0" err="1">
                <a:sym typeface="Arial"/>
              </a:rPr>
              <a:t>mục</a:t>
            </a:r>
            <a:r>
              <a:rPr lang="en-US" dirty="0">
                <a:sym typeface="Arial"/>
              </a:rPr>
              <a:t> </a:t>
            </a:r>
            <a:r>
              <a:rPr lang="en-US" dirty="0" err="1">
                <a:sym typeface="Arial"/>
              </a:rPr>
              <a:t>tiêu</a:t>
            </a:r>
            <a:r>
              <a:rPr lang="en-US" dirty="0">
                <a:sym typeface="Arial"/>
              </a:rPr>
              <a:t>): </a:t>
            </a:r>
            <a:endParaRPr lang="vi-VN" dirty="0">
              <a:sym typeface="Arial"/>
            </a:endParaRPr>
          </a:p>
          <a:p>
            <a:pPr>
              <a:buFontTx/>
              <a:buChar char="-"/>
            </a:pPr>
            <a:r>
              <a:rPr lang="vi-VN" dirty="0">
                <a:sym typeface="Arial"/>
              </a:rPr>
              <a:t>Xây dựng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đồng</a:t>
            </a:r>
            <a:r>
              <a:rPr lang="en-US" dirty="0"/>
              <a:t> </a:t>
            </a:r>
            <a:r>
              <a:rPr lang="en-US" dirty="0" err="1"/>
              <a:t>bộ</a:t>
            </a:r>
            <a:r>
              <a:rPr lang="en-US" dirty="0"/>
              <a:t> </a:t>
            </a:r>
            <a:r>
              <a:rPr lang="en-US" dirty="0" err="1"/>
              <a:t>toàn</a:t>
            </a:r>
            <a:r>
              <a:rPr lang="en-US" dirty="0"/>
              <a:t> </a:t>
            </a:r>
            <a:r>
              <a:rPr lang="en-US" dirty="0" err="1"/>
              <a:t>bộ</a:t>
            </a:r>
            <a:r>
              <a:rPr lang="en-US" dirty="0"/>
              <a:t> </a:t>
            </a:r>
            <a:r>
              <a:rPr lang="en-US" dirty="0" err="1"/>
              <a:t>thông</a:t>
            </a:r>
            <a:r>
              <a:rPr lang="en-US" dirty="0"/>
              <a:t> tin </a:t>
            </a:r>
            <a:r>
              <a:rPr lang="en-US" dirty="0" err="1"/>
              <a:t>liên</a:t>
            </a:r>
            <a:r>
              <a:rPr lang="en-US" dirty="0"/>
              <a:t> </a:t>
            </a:r>
            <a:r>
              <a:rPr lang="en-US" dirty="0" err="1"/>
              <a:t>quan</a:t>
            </a:r>
            <a:r>
              <a:rPr lang="en-US" dirty="0"/>
              <a:t> </a:t>
            </a:r>
            <a:r>
              <a:rPr lang="en-US" dirty="0" err="1"/>
              <a:t>đến</a:t>
            </a:r>
            <a:r>
              <a:rPr lang="en-US" dirty="0"/>
              <a:t> </a:t>
            </a:r>
            <a:r>
              <a:rPr lang="en-US" dirty="0" err="1"/>
              <a:t>phòng</a:t>
            </a:r>
            <a:r>
              <a:rPr lang="en-US" dirty="0"/>
              <a:t>, </a:t>
            </a:r>
            <a:r>
              <a:rPr lang="en-US" dirty="0" err="1"/>
              <a:t>khách</a:t>
            </a:r>
            <a:r>
              <a:rPr lang="en-US" dirty="0"/>
              <a:t> </a:t>
            </a:r>
            <a:r>
              <a:rPr lang="en-US" dirty="0" err="1"/>
              <a:t>thuê</a:t>
            </a:r>
            <a:r>
              <a:rPr lang="en-US" dirty="0"/>
              <a:t>, </a:t>
            </a:r>
            <a:r>
              <a:rPr lang="en-US" dirty="0" err="1"/>
              <a:t>hợp</a:t>
            </a:r>
            <a:r>
              <a:rPr lang="en-US" dirty="0"/>
              <a:t> </a:t>
            </a:r>
            <a:r>
              <a:rPr lang="en-US" dirty="0" err="1"/>
              <a:t>đồng</a:t>
            </a:r>
            <a:r>
              <a:rPr lang="en-US" dirty="0"/>
              <a:t>, </a:t>
            </a:r>
            <a:r>
              <a:rPr lang="en-US" dirty="0" err="1"/>
              <a:t>chỉ</a:t>
            </a:r>
            <a:r>
              <a:rPr lang="en-US" dirty="0"/>
              <a:t> </a:t>
            </a:r>
            <a:r>
              <a:rPr lang="en-US" dirty="0" err="1"/>
              <a:t>số</a:t>
            </a:r>
            <a:r>
              <a:rPr lang="en-US" dirty="0"/>
              <a:t> </a:t>
            </a:r>
            <a:r>
              <a:rPr lang="en-US" dirty="0" err="1"/>
              <a:t>điện</a:t>
            </a:r>
            <a:r>
              <a:rPr lang="en-US" dirty="0"/>
              <a:t> </a:t>
            </a:r>
            <a:r>
              <a:rPr lang="en-US" dirty="0" err="1"/>
              <a:t>nước</a:t>
            </a:r>
            <a:r>
              <a:rPr lang="en-US" dirty="0"/>
              <a:t>, </a:t>
            </a:r>
            <a:r>
              <a:rPr lang="en-US" dirty="0" err="1"/>
              <a:t>hóa</a:t>
            </a:r>
            <a:r>
              <a:rPr lang="en-US" dirty="0"/>
              <a:t> </a:t>
            </a:r>
            <a:r>
              <a:rPr lang="en-US" dirty="0" err="1"/>
              <a:t>đơn</a:t>
            </a:r>
            <a:r>
              <a:rPr lang="en-US" dirty="0"/>
              <a:t> </a:t>
            </a:r>
            <a:r>
              <a:rPr lang="en-US" dirty="0" err="1"/>
              <a:t>và</a:t>
            </a:r>
            <a:r>
              <a:rPr lang="en-US" dirty="0"/>
              <a:t> </a:t>
            </a:r>
            <a:r>
              <a:rPr lang="en-US" dirty="0" err="1"/>
              <a:t>thanh</a:t>
            </a:r>
            <a:r>
              <a:rPr lang="en-US" dirty="0"/>
              <a:t> </a:t>
            </a:r>
            <a:r>
              <a:rPr lang="en-US" dirty="0" err="1"/>
              <a:t>toán</a:t>
            </a:r>
            <a:r>
              <a:rPr lang="en-US" dirty="0"/>
              <a:t> </a:t>
            </a:r>
            <a:r>
              <a:rPr lang="en-US" dirty="0" err="1"/>
              <a:t>trên</a:t>
            </a:r>
            <a:r>
              <a:rPr lang="en-US" dirty="0"/>
              <a:t> </a:t>
            </a:r>
            <a:r>
              <a:rPr lang="en-US" dirty="0" err="1"/>
              <a:t>một</a:t>
            </a:r>
            <a:r>
              <a:rPr lang="en-US" dirty="0"/>
              <a:t> </a:t>
            </a:r>
            <a:r>
              <a:rPr lang="en-US" dirty="0" err="1"/>
              <a:t>nền</a:t>
            </a:r>
            <a:r>
              <a:rPr lang="en-US" dirty="0"/>
              <a:t> </a:t>
            </a:r>
            <a:r>
              <a:rPr lang="en-US" dirty="0" err="1"/>
              <a:t>tảng</a:t>
            </a:r>
            <a:r>
              <a:rPr lang="en-US" dirty="0"/>
              <a:t>. </a:t>
            </a:r>
            <a:endParaRPr lang="vi-VN" dirty="0"/>
          </a:p>
          <a:p>
            <a:pPr>
              <a:buFontTx/>
              <a:buChar char="-"/>
            </a:pPr>
            <a:r>
              <a:rPr lang="en-US" dirty="0" err="1"/>
              <a:t>Đồng</a:t>
            </a:r>
            <a:r>
              <a:rPr lang="en-US" dirty="0"/>
              <a:t> </a:t>
            </a:r>
            <a:r>
              <a:rPr lang="en-US" dirty="0" err="1"/>
              <a:t>thời</a:t>
            </a:r>
            <a:r>
              <a:rPr lang="en-US" dirty="0"/>
              <a:t>, </a:t>
            </a:r>
            <a:r>
              <a:rPr lang="en-US" dirty="0" err="1"/>
              <a:t>phần</a:t>
            </a:r>
            <a:r>
              <a:rPr lang="en-US" dirty="0"/>
              <a:t> </a:t>
            </a:r>
            <a:r>
              <a:rPr lang="en-US" dirty="0" err="1"/>
              <a:t>mềm</a:t>
            </a:r>
            <a:r>
              <a:rPr lang="en-US" dirty="0"/>
              <a:t> </a:t>
            </a:r>
            <a:r>
              <a:rPr lang="en-US" dirty="0" err="1"/>
              <a:t>còn</a:t>
            </a:r>
            <a:r>
              <a:rPr lang="en-US" dirty="0"/>
              <a:t> </a:t>
            </a:r>
            <a:r>
              <a:rPr lang="en-US" dirty="0" err="1"/>
              <a:t>có</a:t>
            </a:r>
            <a:r>
              <a:rPr lang="en-US" dirty="0"/>
              <a:t> </a:t>
            </a:r>
            <a:r>
              <a:rPr lang="en-US" dirty="0" err="1"/>
              <a:t>thể</a:t>
            </a:r>
            <a:r>
              <a:rPr lang="en-US" dirty="0"/>
              <a:t> </a:t>
            </a:r>
            <a:r>
              <a:rPr lang="en-US" dirty="0" err="1"/>
              <a:t>hỗ</a:t>
            </a:r>
            <a:r>
              <a:rPr lang="en-US" dirty="0"/>
              <a:t> </a:t>
            </a:r>
            <a:r>
              <a:rPr lang="en-US" dirty="0" err="1"/>
              <a:t>trợ</a:t>
            </a:r>
            <a:r>
              <a:rPr lang="en-US" dirty="0"/>
              <a:t> </a:t>
            </a:r>
            <a:r>
              <a:rPr lang="en-US" dirty="0" err="1"/>
              <a:t>tìm</a:t>
            </a:r>
            <a:r>
              <a:rPr lang="en-US" dirty="0"/>
              <a:t> </a:t>
            </a:r>
            <a:r>
              <a:rPr lang="en-US" dirty="0" err="1"/>
              <a:t>kiếm</a:t>
            </a:r>
            <a:r>
              <a:rPr lang="en-US" dirty="0"/>
              <a:t>, </a:t>
            </a:r>
            <a:r>
              <a:rPr lang="en-US" dirty="0" err="1"/>
              <a:t>cập</a:t>
            </a:r>
            <a:r>
              <a:rPr lang="en-US" dirty="0"/>
              <a:t> </a:t>
            </a:r>
            <a:r>
              <a:rPr lang="en-US" dirty="0" err="1"/>
              <a:t>nhật</a:t>
            </a:r>
            <a:r>
              <a:rPr lang="en-US" dirty="0"/>
              <a:t>, </a:t>
            </a:r>
            <a:r>
              <a:rPr lang="en-US" dirty="0" err="1"/>
              <a:t>thống</a:t>
            </a:r>
            <a:r>
              <a:rPr lang="en-US" dirty="0"/>
              <a:t> </a:t>
            </a:r>
            <a:r>
              <a:rPr lang="en-US" dirty="0" err="1"/>
              <a:t>kê</a:t>
            </a:r>
            <a:r>
              <a:rPr lang="en-US" dirty="0"/>
              <a:t> </a:t>
            </a:r>
            <a:r>
              <a:rPr lang="en-US" dirty="0" err="1"/>
              <a:t>và</a:t>
            </a:r>
            <a:r>
              <a:rPr lang="en-US" dirty="0"/>
              <a:t> </a:t>
            </a:r>
            <a:r>
              <a:rPr lang="en-US" dirty="0" err="1"/>
              <a:t>theo</a:t>
            </a:r>
            <a:r>
              <a:rPr lang="en-US" dirty="0"/>
              <a:t> </a:t>
            </a:r>
            <a:r>
              <a:rPr lang="en-US" dirty="0" err="1"/>
              <a:t>dõi</a:t>
            </a:r>
            <a:r>
              <a:rPr lang="en-US" dirty="0"/>
              <a:t> </a:t>
            </a:r>
            <a:r>
              <a:rPr lang="en-US" dirty="0" err="1"/>
              <a:t>dữ</a:t>
            </a:r>
            <a:r>
              <a:rPr lang="en-US" dirty="0"/>
              <a:t> </a:t>
            </a:r>
            <a:r>
              <a:rPr lang="en-US" dirty="0" err="1"/>
              <a:t>liệu</a:t>
            </a:r>
            <a:r>
              <a:rPr lang="en-US" dirty="0"/>
              <a:t> </a:t>
            </a:r>
            <a:r>
              <a:rPr lang="en-US" dirty="0" err="1"/>
              <a:t>một</a:t>
            </a:r>
            <a:r>
              <a:rPr lang="en-US" dirty="0"/>
              <a:t> </a:t>
            </a:r>
            <a:r>
              <a:rPr lang="en-US" dirty="0" err="1"/>
              <a:t>cách</a:t>
            </a:r>
            <a:r>
              <a:rPr lang="en-US" dirty="0"/>
              <a:t> </a:t>
            </a:r>
            <a:r>
              <a:rPr lang="en-US" dirty="0" err="1"/>
              <a:t>nhanh</a:t>
            </a:r>
            <a:r>
              <a:rPr lang="en-US" dirty="0"/>
              <a:t> </a:t>
            </a:r>
            <a:r>
              <a:rPr lang="en-US" dirty="0" err="1"/>
              <a:t>chóng</a:t>
            </a:r>
            <a:r>
              <a:rPr lang="en-US" dirty="0"/>
              <a:t>, </a:t>
            </a:r>
            <a:r>
              <a:rPr lang="en-US" dirty="0" err="1"/>
              <a:t>chính</a:t>
            </a:r>
            <a:r>
              <a:rPr lang="en-US" dirty="0"/>
              <a:t> </a:t>
            </a:r>
            <a:r>
              <a:rPr lang="en-US" dirty="0" err="1"/>
              <a:t>xác</a:t>
            </a:r>
            <a:r>
              <a:rPr lang="en-US" dirty="0"/>
              <a:t>, </a:t>
            </a:r>
            <a:r>
              <a:rPr lang="en-US" dirty="0" err="1"/>
              <a:t>góp</a:t>
            </a:r>
            <a:r>
              <a:rPr lang="en-US" dirty="0"/>
              <a:t> </a:t>
            </a:r>
            <a:r>
              <a:rPr lang="en-US" dirty="0" err="1"/>
              <a:t>phần</a:t>
            </a:r>
            <a:r>
              <a:rPr lang="en-US" dirty="0"/>
              <a:t> </a:t>
            </a:r>
            <a:r>
              <a:rPr lang="en-US" dirty="0" err="1"/>
              <a:t>giảm</a:t>
            </a:r>
            <a:r>
              <a:rPr lang="en-US" dirty="0"/>
              <a:t> </a:t>
            </a:r>
            <a:r>
              <a:rPr lang="en-US" dirty="0" err="1"/>
              <a:t>thiểu</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thủ</a:t>
            </a:r>
            <a:r>
              <a:rPr lang="en-US" dirty="0"/>
              <a:t> </a:t>
            </a:r>
            <a:r>
              <a:rPr lang="en-US" dirty="0" err="1"/>
              <a:t>công</a:t>
            </a:r>
            <a:r>
              <a:rPr lang="en-US" dirty="0"/>
              <a:t> </a:t>
            </a:r>
            <a:r>
              <a:rPr lang="en-US" dirty="0" err="1"/>
              <a:t>và</a:t>
            </a:r>
            <a:r>
              <a:rPr lang="en-US" dirty="0"/>
              <a:t> </a:t>
            </a:r>
            <a:r>
              <a:rPr lang="en-US" dirty="0" err="1"/>
              <a:t>hạn</a:t>
            </a:r>
            <a:r>
              <a:rPr lang="en-US" dirty="0"/>
              <a:t> </a:t>
            </a:r>
            <a:r>
              <a:rPr lang="en-US" dirty="0" err="1"/>
              <a:t>chế</a:t>
            </a:r>
            <a:r>
              <a:rPr lang="en-US" dirty="0"/>
              <a:t> </a:t>
            </a:r>
            <a:r>
              <a:rPr lang="en-US" dirty="0" err="1"/>
              <a:t>sai</a:t>
            </a:r>
            <a:r>
              <a:rPr lang="en-US" dirty="0"/>
              <a:t> </a:t>
            </a:r>
            <a:r>
              <a:rPr lang="en-US" dirty="0" err="1"/>
              <a:t>sót</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quản</a:t>
            </a:r>
            <a:r>
              <a:rPr lang="en-US" dirty="0"/>
              <a:t> </a:t>
            </a:r>
            <a:r>
              <a:rPr lang="vi-VN" dirty="0"/>
              <a:t>lý.</a:t>
            </a:r>
            <a:endParaRPr lang="en-US" dirty="0"/>
          </a:p>
        </p:txBody>
      </p:sp>
      <p:sp>
        <p:nvSpPr>
          <p:cNvPr id="133" name="Google Shape;133;p22"/>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 name="Picture 2">
            <a:extLst>
              <a:ext uri="{FF2B5EF4-FFF2-40B4-BE49-F238E27FC236}">
                <a16:creationId xmlns:a16="http://schemas.microsoft.com/office/drawing/2014/main" id="{62BB1F8F-E7D9-3540-F6B7-9788BC7A2D1E}"/>
              </a:ext>
            </a:extLst>
          </p:cNvPr>
          <p:cNvPicPr>
            <a:picLocks noChangeAspect="1"/>
          </p:cNvPicPr>
          <p:nvPr/>
        </p:nvPicPr>
        <p:blipFill>
          <a:blip r:embed="rId3"/>
          <a:stretch>
            <a:fillRect/>
          </a:stretch>
        </p:blipFill>
        <p:spPr>
          <a:xfrm>
            <a:off x="7098890" y="2291776"/>
            <a:ext cx="4611329" cy="28849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338736" y="112543"/>
            <a:ext cx="11514600" cy="436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39" name="Google Shape;139;p23"/>
          <p:cNvSpPr txBox="1">
            <a:spLocks noGrp="1"/>
          </p:cNvSpPr>
          <p:nvPr>
            <p:ph type="body" idx="1"/>
          </p:nvPr>
        </p:nvSpPr>
        <p:spPr>
          <a:xfrm>
            <a:off x="337539" y="1032510"/>
            <a:ext cx="11515800" cy="4938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dirty="0">
                <a:latin typeface="Arial"/>
                <a:ea typeface="Arial"/>
                <a:cs typeface="Arial"/>
                <a:sym typeface="Arial"/>
              </a:rPr>
              <a:t> </a:t>
            </a:r>
            <a:r>
              <a:rPr lang="en-US" b="1" dirty="0">
                <a:latin typeface="Arial"/>
                <a:ea typeface="Arial"/>
                <a:cs typeface="Arial"/>
                <a:sym typeface="Arial"/>
              </a:rPr>
              <a:t>b. </a:t>
            </a:r>
            <a:r>
              <a:rPr lang="en-US" b="1" dirty="0" err="1">
                <a:latin typeface="Arial"/>
                <a:ea typeface="Arial"/>
                <a:cs typeface="Arial"/>
                <a:sym typeface="Arial"/>
              </a:rPr>
              <a:t>Đối</a:t>
            </a:r>
            <a:r>
              <a:rPr lang="en-US" b="1" dirty="0">
                <a:latin typeface="Arial"/>
                <a:ea typeface="Arial"/>
                <a:cs typeface="Arial"/>
                <a:sym typeface="Arial"/>
              </a:rPr>
              <a:t> </a:t>
            </a:r>
            <a:r>
              <a:rPr lang="en-US" b="1" dirty="0" err="1">
                <a:latin typeface="Arial"/>
                <a:ea typeface="Arial"/>
                <a:cs typeface="Arial"/>
                <a:sym typeface="Arial"/>
              </a:rPr>
              <a:t>tượng</a:t>
            </a:r>
            <a:r>
              <a:rPr lang="en-US" b="1" dirty="0">
                <a:latin typeface="Arial"/>
                <a:ea typeface="Arial"/>
                <a:cs typeface="Arial"/>
                <a:sym typeface="Arial"/>
              </a:rPr>
              <a:t> </a:t>
            </a:r>
            <a:r>
              <a:rPr lang="en-US" b="1" dirty="0" err="1">
                <a:latin typeface="Arial"/>
                <a:ea typeface="Arial"/>
                <a:cs typeface="Arial"/>
                <a:sym typeface="Arial"/>
              </a:rPr>
              <a:t>sử</a:t>
            </a:r>
            <a:r>
              <a:rPr lang="en-US" b="1" dirty="0">
                <a:latin typeface="Arial"/>
                <a:ea typeface="Arial"/>
                <a:cs typeface="Arial"/>
                <a:sym typeface="Arial"/>
              </a:rPr>
              <a:t> </a:t>
            </a:r>
            <a:r>
              <a:rPr lang="vi-VN" b="1" dirty="0">
                <a:latin typeface="Arial"/>
                <a:ea typeface="Arial"/>
                <a:cs typeface="Arial"/>
                <a:sym typeface="Arial"/>
              </a:rPr>
              <a:t>dụng:</a:t>
            </a:r>
            <a:endParaRPr b="1" dirty="0">
              <a:latin typeface="Arial"/>
              <a:ea typeface="Arial"/>
              <a:cs typeface="Arial"/>
              <a:sym typeface="Arial"/>
            </a:endParaRPr>
          </a:p>
          <a:p>
            <a:pPr marL="0" lvl="0" indent="0" algn="l" rtl="0">
              <a:lnSpc>
                <a:spcPct val="90000"/>
              </a:lnSpc>
              <a:spcBef>
                <a:spcPts val="0"/>
              </a:spcBef>
              <a:spcAft>
                <a:spcPts val="0"/>
              </a:spcAft>
              <a:buNone/>
            </a:pPr>
            <a:endParaRPr dirty="0">
              <a:latin typeface="Arial"/>
              <a:ea typeface="Arial"/>
              <a:cs typeface="Arial"/>
              <a:sym typeface="Arial"/>
            </a:endParaRPr>
          </a:p>
        </p:txBody>
      </p:sp>
      <p:sp>
        <p:nvSpPr>
          <p:cNvPr id="140" name="Google Shape;140;p23"/>
          <p:cNvSpPr txBox="1">
            <a:spLocks noGrp="1"/>
          </p:cNvSpPr>
          <p:nvPr>
            <p:ph type="sldNum" idx="12"/>
          </p:nvPr>
        </p:nvSpPr>
        <p:spPr>
          <a:xfrm>
            <a:off x="9156511" y="6492875"/>
            <a:ext cx="27432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6" name="Google Shape;841;p37">
            <a:extLst>
              <a:ext uri="{FF2B5EF4-FFF2-40B4-BE49-F238E27FC236}">
                <a16:creationId xmlns:a16="http://schemas.microsoft.com/office/drawing/2014/main" id="{4DE6AFAF-837B-91EB-53A6-8B631E8A43BF}"/>
              </a:ext>
            </a:extLst>
          </p:cNvPr>
          <p:cNvSpPr txBox="1">
            <a:spLocks/>
          </p:cNvSpPr>
          <p:nvPr/>
        </p:nvSpPr>
        <p:spPr>
          <a:xfrm>
            <a:off x="7032821" y="3236426"/>
            <a:ext cx="2906700" cy="130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spc="0">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spc="0">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spc="0">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Calibri"/>
                <a:ea typeface="Calibri"/>
                <a:cs typeface="Calibri"/>
                <a:sym typeface="Calibri"/>
              </a:defRPr>
            </a:lvl9pPr>
          </a:lstStyle>
          <a:p>
            <a:pPr indent="-304800" algn="ctr">
              <a:lnSpc>
                <a:spcPct val="100000"/>
              </a:lnSpc>
              <a:spcBef>
                <a:spcPts val="0"/>
              </a:spcBef>
              <a:buSzPts val="1200"/>
              <a:buFont typeface="Arial"/>
              <a:buNone/>
            </a:pPr>
            <a:r>
              <a:rPr lang="vi-VN" sz="1800" dirty="0">
                <a:latin typeface="+mj-lt"/>
                <a:ea typeface="Arial"/>
                <a:cs typeface="Arial"/>
                <a:sym typeface="Arial"/>
              </a:rPr>
              <a:t>Xem thông tin phòng.</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hợp đồng.</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hóa đơn.</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số điện, nước.</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Xem lịch sử thanh toán.</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Gửi yêu cầu sửa chữa.</a:t>
            </a:r>
            <a:endParaRPr lang="vi-VN" sz="1800" dirty="0">
              <a:latin typeface="+mj-lt"/>
            </a:endParaRPr>
          </a:p>
          <a:p>
            <a:pPr indent="-304800" algn="ctr">
              <a:lnSpc>
                <a:spcPct val="100000"/>
              </a:lnSpc>
              <a:spcBef>
                <a:spcPts val="0"/>
              </a:spcBef>
              <a:buSzPts val="1200"/>
              <a:buFont typeface="Arial"/>
              <a:buNone/>
            </a:pPr>
            <a:r>
              <a:rPr lang="vi-VN" sz="1800" dirty="0">
                <a:latin typeface="+mj-lt"/>
                <a:ea typeface="Arial"/>
                <a:cs typeface="Arial"/>
                <a:sym typeface="Arial"/>
              </a:rPr>
              <a:t>Nhận thông báo từ chủ trọ.</a:t>
            </a:r>
            <a:endParaRPr lang="vi-VN" sz="1800" dirty="0">
              <a:latin typeface="+mj-lt"/>
            </a:endParaRPr>
          </a:p>
        </p:txBody>
      </p:sp>
      <p:sp>
        <p:nvSpPr>
          <p:cNvPr id="7" name="Google Shape;842;p37">
            <a:extLst>
              <a:ext uri="{FF2B5EF4-FFF2-40B4-BE49-F238E27FC236}">
                <a16:creationId xmlns:a16="http://schemas.microsoft.com/office/drawing/2014/main" id="{8C521885-6A58-4A68-ACB0-6D26417AD3AF}"/>
              </a:ext>
            </a:extLst>
          </p:cNvPr>
          <p:cNvSpPr txBox="1">
            <a:spLocks/>
          </p:cNvSpPr>
          <p:nvPr/>
        </p:nvSpPr>
        <p:spPr>
          <a:xfrm>
            <a:off x="1791082" y="3236824"/>
            <a:ext cx="3484904" cy="1717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457200" indent="-304800" algn="ctr">
              <a:buSzPts val="1200"/>
            </a:pPr>
            <a:r>
              <a:rPr lang="vi-VN" sz="1800" dirty="0">
                <a:latin typeface="+mj-lt"/>
              </a:rPr>
              <a:t>Quản lý khu nhà trọ.</a:t>
            </a:r>
          </a:p>
          <a:p>
            <a:pPr marL="457200" indent="-304800" algn="ctr">
              <a:buSzPts val="1200"/>
            </a:pPr>
            <a:r>
              <a:rPr lang="vi-VN" sz="1800" dirty="0">
                <a:latin typeface="+mj-lt"/>
              </a:rPr>
              <a:t>Quản lý phòng.</a:t>
            </a:r>
          </a:p>
          <a:p>
            <a:pPr marL="457200" indent="-304800" algn="ctr">
              <a:buSzPts val="1200"/>
            </a:pPr>
            <a:r>
              <a:rPr lang="vi-VN" sz="1800" dirty="0">
                <a:latin typeface="+mj-lt"/>
              </a:rPr>
              <a:t>Quản lý người thuê.</a:t>
            </a:r>
          </a:p>
          <a:p>
            <a:pPr marL="457200" indent="-304800" algn="ctr">
              <a:buSzPts val="1200"/>
            </a:pPr>
            <a:r>
              <a:rPr lang="vi-VN" sz="1800" dirty="0">
                <a:latin typeface="+mj-lt"/>
              </a:rPr>
              <a:t>Quản lý hợp đồng.</a:t>
            </a:r>
          </a:p>
          <a:p>
            <a:pPr marL="457200" indent="-304800" algn="ctr">
              <a:buSzPts val="1200"/>
            </a:pPr>
            <a:r>
              <a:rPr lang="vi-VN" sz="1800" dirty="0">
                <a:latin typeface="+mj-lt"/>
              </a:rPr>
              <a:t>Thiết lập giá thuê và các loại phí.</a:t>
            </a:r>
          </a:p>
          <a:p>
            <a:pPr marL="457200" indent="-304800" algn="ctr">
              <a:buSzPts val="1200"/>
            </a:pPr>
            <a:r>
              <a:rPr lang="vi-VN" sz="1800" dirty="0">
                <a:latin typeface="+mj-lt"/>
              </a:rPr>
              <a:t>Xem và xác nhận thanh toán.</a:t>
            </a:r>
          </a:p>
          <a:p>
            <a:pPr marL="457200" indent="-304800" algn="ctr">
              <a:buSzPts val="1200"/>
            </a:pPr>
            <a:r>
              <a:rPr lang="vi-VN" sz="1800" dirty="0">
                <a:latin typeface="+mj-lt"/>
              </a:rPr>
              <a:t>Quản lý người dùng hệ thống.</a:t>
            </a:r>
          </a:p>
          <a:p>
            <a:pPr marL="457200" indent="-304800" algn="ctr">
              <a:buSzPts val="1200"/>
            </a:pPr>
            <a:r>
              <a:rPr lang="vi-VN" sz="1800" dirty="0">
                <a:latin typeface="+mj-lt"/>
              </a:rPr>
              <a:t>Xem báo cáo, thống kê.</a:t>
            </a:r>
          </a:p>
        </p:txBody>
      </p:sp>
      <p:sp>
        <p:nvSpPr>
          <p:cNvPr id="8" name="Google Shape;843;p37">
            <a:extLst>
              <a:ext uri="{FF2B5EF4-FFF2-40B4-BE49-F238E27FC236}">
                <a16:creationId xmlns:a16="http://schemas.microsoft.com/office/drawing/2014/main" id="{CF104212-BA52-43EC-EE52-55440A300E34}"/>
              </a:ext>
            </a:extLst>
          </p:cNvPr>
          <p:cNvSpPr txBox="1">
            <a:spLocks/>
          </p:cNvSpPr>
          <p:nvPr/>
        </p:nvSpPr>
        <p:spPr>
          <a:xfrm>
            <a:off x="2079584" y="2865595"/>
            <a:ext cx="2907900" cy="48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buSzPts val="2400"/>
            </a:pPr>
            <a:r>
              <a:rPr lang="en-US" sz="2400" b="1" dirty="0" err="1">
                <a:latin typeface="Times New Roman" panose="02020603050405020304" pitchFamily="18" charset="0"/>
                <a:cs typeface="Times New Roman" panose="02020603050405020304" pitchFamily="18" charset="0"/>
              </a:rPr>
              <a:t>Chủ</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trọ</a:t>
            </a:r>
            <a:endParaRPr lang="en-US" sz="2400" b="1" dirty="0">
              <a:latin typeface="Times New Roman" panose="02020603050405020304" pitchFamily="18" charset="0"/>
              <a:cs typeface="Times New Roman" panose="02020603050405020304" pitchFamily="18" charset="0"/>
            </a:endParaRPr>
          </a:p>
        </p:txBody>
      </p:sp>
      <p:sp>
        <p:nvSpPr>
          <p:cNvPr id="9" name="Google Shape;844;p37">
            <a:extLst>
              <a:ext uri="{FF2B5EF4-FFF2-40B4-BE49-F238E27FC236}">
                <a16:creationId xmlns:a16="http://schemas.microsoft.com/office/drawing/2014/main" id="{23AB3104-7252-C559-FF41-761EFB2C1CB9}"/>
              </a:ext>
            </a:extLst>
          </p:cNvPr>
          <p:cNvSpPr txBox="1">
            <a:spLocks/>
          </p:cNvSpPr>
          <p:nvPr/>
        </p:nvSpPr>
        <p:spPr>
          <a:xfrm>
            <a:off x="7061588" y="2887414"/>
            <a:ext cx="2906700" cy="48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buSzPts val="2400"/>
            </a:pPr>
            <a:r>
              <a:rPr lang="vi-VN" sz="2400" b="1" dirty="0">
                <a:latin typeface="+mj-lt"/>
              </a:rPr>
              <a:t>Người thuê</a:t>
            </a:r>
          </a:p>
        </p:txBody>
      </p:sp>
      <p:sp>
        <p:nvSpPr>
          <p:cNvPr id="10" name="Google Shape;845;p37">
            <a:extLst>
              <a:ext uri="{FF2B5EF4-FFF2-40B4-BE49-F238E27FC236}">
                <a16:creationId xmlns:a16="http://schemas.microsoft.com/office/drawing/2014/main" id="{962A75F1-9171-ECC4-E199-6CD76EE4F3FA}"/>
              </a:ext>
            </a:extLst>
          </p:cNvPr>
          <p:cNvSpPr/>
          <p:nvPr/>
        </p:nvSpPr>
        <p:spPr>
          <a:xfrm>
            <a:off x="3169944" y="2007153"/>
            <a:ext cx="727200" cy="72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846;p37">
            <a:extLst>
              <a:ext uri="{FF2B5EF4-FFF2-40B4-BE49-F238E27FC236}">
                <a16:creationId xmlns:a16="http://schemas.microsoft.com/office/drawing/2014/main" id="{BC9B7231-AFF1-B05F-BEFD-45DF41029D8E}"/>
              </a:ext>
            </a:extLst>
          </p:cNvPr>
          <p:cNvSpPr/>
          <p:nvPr/>
        </p:nvSpPr>
        <p:spPr>
          <a:xfrm>
            <a:off x="8122585" y="2007156"/>
            <a:ext cx="727200" cy="72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12" name="Google Shape;847;p37">
            <a:extLst>
              <a:ext uri="{FF2B5EF4-FFF2-40B4-BE49-F238E27FC236}">
                <a16:creationId xmlns:a16="http://schemas.microsoft.com/office/drawing/2014/main" id="{C06977ED-A376-B039-6463-B4DBBD8FC3B2}"/>
              </a:ext>
            </a:extLst>
          </p:cNvPr>
          <p:cNvSpPr/>
          <p:nvPr/>
        </p:nvSpPr>
        <p:spPr>
          <a:xfrm>
            <a:off x="3304934" y="2142157"/>
            <a:ext cx="457202" cy="457191"/>
          </a:xfrm>
          <a:custGeom>
            <a:avLst/>
            <a:gdLst/>
            <a:ahLst/>
            <a:cxnLst/>
            <a:rect l="l" t="t" r="r" b="b"/>
            <a:pathLst>
              <a:path w="11574" h="11573" extrusionOk="0">
                <a:moveTo>
                  <a:pt x="10680" y="333"/>
                </a:moveTo>
                <a:cubicBezTo>
                  <a:pt x="10990" y="333"/>
                  <a:pt x="11228" y="583"/>
                  <a:pt x="11228" y="881"/>
                </a:cubicBezTo>
                <a:lnTo>
                  <a:pt x="11228" y="5620"/>
                </a:lnTo>
                <a:lnTo>
                  <a:pt x="11037" y="5620"/>
                </a:lnTo>
                <a:cubicBezTo>
                  <a:pt x="10954" y="5620"/>
                  <a:pt x="10871" y="5691"/>
                  <a:pt x="10871" y="5787"/>
                </a:cubicBezTo>
                <a:cubicBezTo>
                  <a:pt x="10871" y="5870"/>
                  <a:pt x="10954" y="5953"/>
                  <a:pt x="11037" y="5953"/>
                </a:cubicBezTo>
                <a:lnTo>
                  <a:pt x="11228" y="5953"/>
                </a:lnTo>
                <a:lnTo>
                  <a:pt x="11228" y="10680"/>
                </a:lnTo>
                <a:cubicBezTo>
                  <a:pt x="11228" y="10990"/>
                  <a:pt x="10978" y="11228"/>
                  <a:pt x="10680" y="11228"/>
                </a:cubicBezTo>
                <a:lnTo>
                  <a:pt x="5953" y="11228"/>
                </a:lnTo>
                <a:lnTo>
                  <a:pt x="5953" y="9406"/>
                </a:lnTo>
                <a:cubicBezTo>
                  <a:pt x="5953" y="9108"/>
                  <a:pt x="5715" y="8870"/>
                  <a:pt x="5418" y="8870"/>
                </a:cubicBezTo>
                <a:lnTo>
                  <a:pt x="5060" y="8870"/>
                </a:lnTo>
                <a:cubicBezTo>
                  <a:pt x="4834" y="8870"/>
                  <a:pt x="4644" y="8954"/>
                  <a:pt x="4525" y="9108"/>
                </a:cubicBezTo>
                <a:cubicBezTo>
                  <a:pt x="4358" y="9299"/>
                  <a:pt x="4132" y="9406"/>
                  <a:pt x="3882" y="9406"/>
                </a:cubicBezTo>
                <a:cubicBezTo>
                  <a:pt x="3632" y="9406"/>
                  <a:pt x="3382" y="9287"/>
                  <a:pt x="3239" y="9085"/>
                </a:cubicBezTo>
                <a:cubicBezTo>
                  <a:pt x="3072" y="8894"/>
                  <a:pt x="3013" y="8644"/>
                  <a:pt x="3072" y="8394"/>
                </a:cubicBezTo>
                <a:cubicBezTo>
                  <a:pt x="3132" y="8073"/>
                  <a:pt x="3405" y="7822"/>
                  <a:pt x="3727" y="7751"/>
                </a:cubicBezTo>
                <a:cubicBezTo>
                  <a:pt x="3781" y="7740"/>
                  <a:pt x="3835" y="7735"/>
                  <a:pt x="3889" y="7735"/>
                </a:cubicBezTo>
                <a:cubicBezTo>
                  <a:pt x="4129" y="7735"/>
                  <a:pt x="4357" y="7842"/>
                  <a:pt x="4513" y="8037"/>
                </a:cubicBezTo>
                <a:cubicBezTo>
                  <a:pt x="4656" y="8192"/>
                  <a:pt x="4846" y="8287"/>
                  <a:pt x="5049" y="8287"/>
                </a:cubicBezTo>
                <a:lnTo>
                  <a:pt x="5430" y="8287"/>
                </a:lnTo>
                <a:cubicBezTo>
                  <a:pt x="5727" y="8287"/>
                  <a:pt x="5965" y="8049"/>
                  <a:pt x="5965" y="7751"/>
                </a:cubicBezTo>
                <a:lnTo>
                  <a:pt x="5965" y="5917"/>
                </a:lnTo>
                <a:lnTo>
                  <a:pt x="7799" y="5917"/>
                </a:lnTo>
                <a:cubicBezTo>
                  <a:pt x="7894" y="5917"/>
                  <a:pt x="7989" y="6001"/>
                  <a:pt x="7989" y="6108"/>
                </a:cubicBezTo>
                <a:lnTo>
                  <a:pt x="7989" y="6477"/>
                </a:lnTo>
                <a:cubicBezTo>
                  <a:pt x="7989" y="6584"/>
                  <a:pt x="7942" y="6691"/>
                  <a:pt x="7858" y="6763"/>
                </a:cubicBezTo>
                <a:cubicBezTo>
                  <a:pt x="7525" y="7037"/>
                  <a:pt x="7382" y="7453"/>
                  <a:pt x="7454" y="7882"/>
                </a:cubicBezTo>
                <a:cubicBezTo>
                  <a:pt x="7537" y="8346"/>
                  <a:pt x="7894" y="8704"/>
                  <a:pt x="8347" y="8799"/>
                </a:cubicBezTo>
                <a:cubicBezTo>
                  <a:pt x="8430" y="8823"/>
                  <a:pt x="8513" y="8835"/>
                  <a:pt x="8597" y="8835"/>
                </a:cubicBezTo>
                <a:cubicBezTo>
                  <a:pt x="8870" y="8835"/>
                  <a:pt x="9120" y="8739"/>
                  <a:pt x="9347" y="8561"/>
                </a:cubicBezTo>
                <a:cubicBezTo>
                  <a:pt x="9609" y="8346"/>
                  <a:pt x="9775" y="8013"/>
                  <a:pt x="9775" y="7656"/>
                </a:cubicBezTo>
                <a:cubicBezTo>
                  <a:pt x="9775" y="7311"/>
                  <a:pt x="9621" y="6977"/>
                  <a:pt x="9347" y="6751"/>
                </a:cubicBezTo>
                <a:cubicBezTo>
                  <a:pt x="9263" y="6691"/>
                  <a:pt x="9228" y="6584"/>
                  <a:pt x="9228" y="6465"/>
                </a:cubicBezTo>
                <a:lnTo>
                  <a:pt x="9228" y="6108"/>
                </a:lnTo>
                <a:cubicBezTo>
                  <a:pt x="9228" y="6001"/>
                  <a:pt x="9311" y="5917"/>
                  <a:pt x="9418" y="5917"/>
                </a:cubicBezTo>
                <a:lnTo>
                  <a:pt x="10323" y="5917"/>
                </a:lnTo>
                <a:cubicBezTo>
                  <a:pt x="10418" y="5917"/>
                  <a:pt x="10490" y="5846"/>
                  <a:pt x="10490" y="5751"/>
                </a:cubicBezTo>
                <a:cubicBezTo>
                  <a:pt x="10490" y="5667"/>
                  <a:pt x="10418" y="5584"/>
                  <a:pt x="10323" y="5584"/>
                </a:cubicBezTo>
                <a:lnTo>
                  <a:pt x="9418" y="5584"/>
                </a:lnTo>
                <a:cubicBezTo>
                  <a:pt x="9120" y="5584"/>
                  <a:pt x="8882" y="5822"/>
                  <a:pt x="8882" y="6120"/>
                </a:cubicBezTo>
                <a:lnTo>
                  <a:pt x="8882" y="6477"/>
                </a:lnTo>
                <a:cubicBezTo>
                  <a:pt x="8882" y="6703"/>
                  <a:pt x="8966" y="6894"/>
                  <a:pt x="9120" y="7013"/>
                </a:cubicBezTo>
                <a:cubicBezTo>
                  <a:pt x="9311" y="7180"/>
                  <a:pt x="9418" y="7406"/>
                  <a:pt x="9418" y="7656"/>
                </a:cubicBezTo>
                <a:cubicBezTo>
                  <a:pt x="9418" y="7906"/>
                  <a:pt x="9299" y="8144"/>
                  <a:pt x="9109" y="8299"/>
                </a:cubicBezTo>
                <a:cubicBezTo>
                  <a:pt x="8957" y="8423"/>
                  <a:pt x="8780" y="8488"/>
                  <a:pt x="8595" y="8488"/>
                </a:cubicBezTo>
                <a:cubicBezTo>
                  <a:pt x="8533" y="8488"/>
                  <a:pt x="8469" y="8480"/>
                  <a:pt x="8406" y="8465"/>
                </a:cubicBezTo>
                <a:cubicBezTo>
                  <a:pt x="8097" y="8406"/>
                  <a:pt x="7835" y="8132"/>
                  <a:pt x="7763" y="7811"/>
                </a:cubicBezTo>
                <a:cubicBezTo>
                  <a:pt x="7704" y="7513"/>
                  <a:pt x="7811" y="7215"/>
                  <a:pt x="8049" y="7013"/>
                </a:cubicBezTo>
                <a:cubicBezTo>
                  <a:pt x="8216" y="6882"/>
                  <a:pt x="8299" y="6691"/>
                  <a:pt x="8299" y="6477"/>
                </a:cubicBezTo>
                <a:lnTo>
                  <a:pt x="8299" y="6108"/>
                </a:lnTo>
                <a:cubicBezTo>
                  <a:pt x="8299" y="5810"/>
                  <a:pt x="8061" y="5572"/>
                  <a:pt x="7763" y="5572"/>
                </a:cubicBezTo>
                <a:lnTo>
                  <a:pt x="5953" y="5572"/>
                </a:lnTo>
                <a:lnTo>
                  <a:pt x="5953" y="3739"/>
                </a:lnTo>
                <a:cubicBezTo>
                  <a:pt x="5953" y="3643"/>
                  <a:pt x="6037" y="3548"/>
                  <a:pt x="6144" y="3548"/>
                </a:cubicBezTo>
                <a:lnTo>
                  <a:pt x="6513" y="3548"/>
                </a:lnTo>
                <a:cubicBezTo>
                  <a:pt x="6620" y="3548"/>
                  <a:pt x="6727" y="3596"/>
                  <a:pt x="6799" y="3679"/>
                </a:cubicBezTo>
                <a:cubicBezTo>
                  <a:pt x="7017" y="3956"/>
                  <a:pt x="7342" y="4102"/>
                  <a:pt x="7698" y="4102"/>
                </a:cubicBezTo>
                <a:cubicBezTo>
                  <a:pt x="7770" y="4102"/>
                  <a:pt x="7844" y="4096"/>
                  <a:pt x="7918" y="4084"/>
                </a:cubicBezTo>
                <a:cubicBezTo>
                  <a:pt x="8370" y="4001"/>
                  <a:pt x="8728" y="3643"/>
                  <a:pt x="8835" y="3191"/>
                </a:cubicBezTo>
                <a:cubicBezTo>
                  <a:pt x="8906" y="2834"/>
                  <a:pt x="8823" y="2477"/>
                  <a:pt x="8597" y="2215"/>
                </a:cubicBezTo>
                <a:cubicBezTo>
                  <a:pt x="8370" y="1941"/>
                  <a:pt x="8049" y="1774"/>
                  <a:pt x="7692" y="1774"/>
                </a:cubicBezTo>
                <a:cubicBezTo>
                  <a:pt x="7346" y="1774"/>
                  <a:pt x="7001" y="1929"/>
                  <a:pt x="6775" y="2215"/>
                </a:cubicBezTo>
                <a:cubicBezTo>
                  <a:pt x="6715" y="2286"/>
                  <a:pt x="6620" y="2334"/>
                  <a:pt x="6501" y="2334"/>
                </a:cubicBezTo>
                <a:lnTo>
                  <a:pt x="6144" y="2334"/>
                </a:lnTo>
                <a:cubicBezTo>
                  <a:pt x="6037" y="2334"/>
                  <a:pt x="5941" y="2238"/>
                  <a:pt x="5941" y="2131"/>
                </a:cubicBezTo>
                <a:lnTo>
                  <a:pt x="5941" y="1226"/>
                </a:lnTo>
                <a:cubicBezTo>
                  <a:pt x="5941" y="1143"/>
                  <a:pt x="5870" y="1060"/>
                  <a:pt x="5787" y="1060"/>
                </a:cubicBezTo>
                <a:cubicBezTo>
                  <a:pt x="5691" y="1060"/>
                  <a:pt x="5620" y="1143"/>
                  <a:pt x="5620" y="1226"/>
                </a:cubicBezTo>
                <a:lnTo>
                  <a:pt x="5620" y="2131"/>
                </a:lnTo>
                <a:cubicBezTo>
                  <a:pt x="5620" y="2429"/>
                  <a:pt x="5858" y="2667"/>
                  <a:pt x="6156" y="2667"/>
                </a:cubicBezTo>
                <a:lnTo>
                  <a:pt x="6513" y="2667"/>
                </a:lnTo>
                <a:cubicBezTo>
                  <a:pt x="6739" y="2667"/>
                  <a:pt x="6930" y="2584"/>
                  <a:pt x="7049" y="2429"/>
                </a:cubicBezTo>
                <a:cubicBezTo>
                  <a:pt x="7215" y="2238"/>
                  <a:pt x="7430" y="2131"/>
                  <a:pt x="7692" y="2131"/>
                </a:cubicBezTo>
                <a:cubicBezTo>
                  <a:pt x="7942" y="2131"/>
                  <a:pt x="8180" y="2250"/>
                  <a:pt x="8323" y="2453"/>
                </a:cubicBezTo>
                <a:cubicBezTo>
                  <a:pt x="8489" y="2643"/>
                  <a:pt x="8549" y="2893"/>
                  <a:pt x="8489" y="3143"/>
                </a:cubicBezTo>
                <a:cubicBezTo>
                  <a:pt x="8430" y="3465"/>
                  <a:pt x="8168" y="3715"/>
                  <a:pt x="7835" y="3786"/>
                </a:cubicBezTo>
                <a:cubicBezTo>
                  <a:pt x="7780" y="3797"/>
                  <a:pt x="7726" y="3802"/>
                  <a:pt x="7673" y="3802"/>
                </a:cubicBezTo>
                <a:cubicBezTo>
                  <a:pt x="7432" y="3802"/>
                  <a:pt x="7205" y="3695"/>
                  <a:pt x="7049" y="3501"/>
                </a:cubicBezTo>
                <a:cubicBezTo>
                  <a:pt x="6918" y="3346"/>
                  <a:pt x="6727" y="3250"/>
                  <a:pt x="6513" y="3250"/>
                </a:cubicBezTo>
                <a:lnTo>
                  <a:pt x="6144" y="3250"/>
                </a:lnTo>
                <a:cubicBezTo>
                  <a:pt x="5846" y="3250"/>
                  <a:pt x="5608" y="3489"/>
                  <a:pt x="5608" y="3786"/>
                </a:cubicBezTo>
                <a:lnTo>
                  <a:pt x="5608" y="5620"/>
                </a:lnTo>
                <a:lnTo>
                  <a:pt x="3775" y="5620"/>
                </a:lnTo>
                <a:cubicBezTo>
                  <a:pt x="3667" y="5620"/>
                  <a:pt x="3584" y="5525"/>
                  <a:pt x="3584" y="5429"/>
                </a:cubicBezTo>
                <a:lnTo>
                  <a:pt x="3584" y="5048"/>
                </a:lnTo>
                <a:cubicBezTo>
                  <a:pt x="3584" y="4953"/>
                  <a:pt x="3620" y="4846"/>
                  <a:pt x="3715" y="4774"/>
                </a:cubicBezTo>
                <a:cubicBezTo>
                  <a:pt x="4036" y="4501"/>
                  <a:pt x="4191" y="4084"/>
                  <a:pt x="4120" y="3655"/>
                </a:cubicBezTo>
                <a:cubicBezTo>
                  <a:pt x="4025" y="3191"/>
                  <a:pt x="3667" y="2834"/>
                  <a:pt x="3227" y="2727"/>
                </a:cubicBezTo>
                <a:cubicBezTo>
                  <a:pt x="3148" y="2711"/>
                  <a:pt x="3069" y="2703"/>
                  <a:pt x="2991" y="2703"/>
                </a:cubicBezTo>
                <a:cubicBezTo>
                  <a:pt x="2716" y="2703"/>
                  <a:pt x="2452" y="2798"/>
                  <a:pt x="2239" y="2965"/>
                </a:cubicBezTo>
                <a:cubicBezTo>
                  <a:pt x="1977" y="3191"/>
                  <a:pt x="1810" y="3524"/>
                  <a:pt x="1810" y="3882"/>
                </a:cubicBezTo>
                <a:cubicBezTo>
                  <a:pt x="1810" y="4215"/>
                  <a:pt x="1953" y="4560"/>
                  <a:pt x="2239" y="4786"/>
                </a:cubicBezTo>
                <a:cubicBezTo>
                  <a:pt x="2310" y="4846"/>
                  <a:pt x="2358" y="4953"/>
                  <a:pt x="2358" y="5072"/>
                </a:cubicBezTo>
                <a:lnTo>
                  <a:pt x="2358" y="5429"/>
                </a:lnTo>
                <a:cubicBezTo>
                  <a:pt x="2358" y="5525"/>
                  <a:pt x="2274" y="5620"/>
                  <a:pt x="2167" y="5620"/>
                </a:cubicBezTo>
                <a:lnTo>
                  <a:pt x="334" y="5620"/>
                </a:lnTo>
                <a:lnTo>
                  <a:pt x="334" y="881"/>
                </a:lnTo>
                <a:cubicBezTo>
                  <a:pt x="334" y="572"/>
                  <a:pt x="584" y="333"/>
                  <a:pt x="881" y="333"/>
                </a:cubicBezTo>
                <a:lnTo>
                  <a:pt x="5620" y="333"/>
                </a:lnTo>
                <a:lnTo>
                  <a:pt x="5620" y="524"/>
                </a:lnTo>
                <a:cubicBezTo>
                  <a:pt x="5620" y="619"/>
                  <a:pt x="5691" y="691"/>
                  <a:pt x="5787" y="691"/>
                </a:cubicBezTo>
                <a:cubicBezTo>
                  <a:pt x="5870" y="691"/>
                  <a:pt x="5941" y="619"/>
                  <a:pt x="5941" y="524"/>
                </a:cubicBezTo>
                <a:lnTo>
                  <a:pt x="5941" y="333"/>
                </a:lnTo>
                <a:close/>
                <a:moveTo>
                  <a:pt x="2976" y="3061"/>
                </a:moveTo>
                <a:cubicBezTo>
                  <a:pt x="3040" y="3061"/>
                  <a:pt x="3104" y="3069"/>
                  <a:pt x="3167" y="3084"/>
                </a:cubicBezTo>
                <a:cubicBezTo>
                  <a:pt x="3477" y="3143"/>
                  <a:pt x="3727" y="3417"/>
                  <a:pt x="3810" y="3739"/>
                </a:cubicBezTo>
                <a:cubicBezTo>
                  <a:pt x="3870" y="4036"/>
                  <a:pt x="3763" y="4334"/>
                  <a:pt x="3525" y="4536"/>
                </a:cubicBezTo>
                <a:cubicBezTo>
                  <a:pt x="3358" y="4667"/>
                  <a:pt x="3274" y="4858"/>
                  <a:pt x="3274" y="5072"/>
                </a:cubicBezTo>
                <a:lnTo>
                  <a:pt x="3274" y="5441"/>
                </a:lnTo>
                <a:cubicBezTo>
                  <a:pt x="3274" y="5739"/>
                  <a:pt x="3513" y="5977"/>
                  <a:pt x="3810" y="5977"/>
                </a:cubicBezTo>
                <a:lnTo>
                  <a:pt x="5632" y="5977"/>
                </a:lnTo>
                <a:lnTo>
                  <a:pt x="5632" y="7811"/>
                </a:lnTo>
                <a:cubicBezTo>
                  <a:pt x="5632" y="7918"/>
                  <a:pt x="5549" y="8001"/>
                  <a:pt x="5441" y="8001"/>
                </a:cubicBezTo>
                <a:lnTo>
                  <a:pt x="5072" y="8001"/>
                </a:lnTo>
                <a:cubicBezTo>
                  <a:pt x="4965" y="8001"/>
                  <a:pt x="4858" y="7953"/>
                  <a:pt x="4787" y="7870"/>
                </a:cubicBezTo>
                <a:cubicBezTo>
                  <a:pt x="4569" y="7593"/>
                  <a:pt x="4244" y="7447"/>
                  <a:pt x="3887" y="7447"/>
                </a:cubicBezTo>
                <a:cubicBezTo>
                  <a:pt x="3815" y="7447"/>
                  <a:pt x="3741" y="7453"/>
                  <a:pt x="3667" y="7465"/>
                </a:cubicBezTo>
                <a:cubicBezTo>
                  <a:pt x="3215" y="7561"/>
                  <a:pt x="2858" y="7918"/>
                  <a:pt x="2751" y="8358"/>
                </a:cubicBezTo>
                <a:cubicBezTo>
                  <a:pt x="2679" y="8715"/>
                  <a:pt x="2763" y="9073"/>
                  <a:pt x="2989" y="9346"/>
                </a:cubicBezTo>
                <a:cubicBezTo>
                  <a:pt x="3215" y="9608"/>
                  <a:pt x="3536" y="9775"/>
                  <a:pt x="3894" y="9775"/>
                </a:cubicBezTo>
                <a:cubicBezTo>
                  <a:pt x="4239" y="9775"/>
                  <a:pt x="4584" y="9620"/>
                  <a:pt x="4798" y="9346"/>
                </a:cubicBezTo>
                <a:cubicBezTo>
                  <a:pt x="4858" y="9263"/>
                  <a:pt x="4965" y="9227"/>
                  <a:pt x="5084" y="9227"/>
                </a:cubicBezTo>
                <a:lnTo>
                  <a:pt x="5441" y="9227"/>
                </a:lnTo>
                <a:cubicBezTo>
                  <a:pt x="5549" y="9227"/>
                  <a:pt x="5632" y="9311"/>
                  <a:pt x="5632" y="9418"/>
                </a:cubicBezTo>
                <a:lnTo>
                  <a:pt x="5632" y="11251"/>
                </a:lnTo>
                <a:lnTo>
                  <a:pt x="869" y="11251"/>
                </a:lnTo>
                <a:cubicBezTo>
                  <a:pt x="560" y="11251"/>
                  <a:pt x="322" y="10990"/>
                  <a:pt x="322" y="10692"/>
                </a:cubicBezTo>
                <a:lnTo>
                  <a:pt x="322" y="5965"/>
                </a:lnTo>
                <a:lnTo>
                  <a:pt x="2155" y="5965"/>
                </a:lnTo>
                <a:cubicBezTo>
                  <a:pt x="2453" y="5965"/>
                  <a:pt x="2691" y="5727"/>
                  <a:pt x="2691" y="5429"/>
                </a:cubicBezTo>
                <a:lnTo>
                  <a:pt x="2691" y="5072"/>
                </a:lnTo>
                <a:cubicBezTo>
                  <a:pt x="2691" y="4846"/>
                  <a:pt x="2596" y="4655"/>
                  <a:pt x="2453" y="4536"/>
                </a:cubicBezTo>
                <a:cubicBezTo>
                  <a:pt x="2262" y="4370"/>
                  <a:pt x="2155" y="4143"/>
                  <a:pt x="2155" y="3893"/>
                </a:cubicBezTo>
                <a:cubicBezTo>
                  <a:pt x="2155" y="3643"/>
                  <a:pt x="2274" y="3405"/>
                  <a:pt x="2465" y="3250"/>
                </a:cubicBezTo>
                <a:cubicBezTo>
                  <a:pt x="2607" y="3126"/>
                  <a:pt x="2789" y="3061"/>
                  <a:pt x="2976" y="3061"/>
                </a:cubicBezTo>
                <a:close/>
                <a:moveTo>
                  <a:pt x="893" y="0"/>
                </a:moveTo>
                <a:cubicBezTo>
                  <a:pt x="393" y="0"/>
                  <a:pt x="0" y="393"/>
                  <a:pt x="0" y="893"/>
                </a:cubicBezTo>
                <a:lnTo>
                  <a:pt x="0" y="10680"/>
                </a:lnTo>
                <a:cubicBezTo>
                  <a:pt x="0" y="11168"/>
                  <a:pt x="393" y="11573"/>
                  <a:pt x="893" y="11573"/>
                </a:cubicBezTo>
                <a:lnTo>
                  <a:pt x="10680" y="11573"/>
                </a:lnTo>
                <a:cubicBezTo>
                  <a:pt x="11168" y="11573"/>
                  <a:pt x="11573" y="11168"/>
                  <a:pt x="11573" y="10680"/>
                </a:cubicBezTo>
                <a:lnTo>
                  <a:pt x="11573" y="893"/>
                </a:lnTo>
                <a:cubicBezTo>
                  <a:pt x="11573" y="393"/>
                  <a:pt x="11168" y="0"/>
                  <a:pt x="106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 name="Google Shape;848;p37">
            <a:extLst>
              <a:ext uri="{FF2B5EF4-FFF2-40B4-BE49-F238E27FC236}">
                <a16:creationId xmlns:a16="http://schemas.microsoft.com/office/drawing/2014/main" id="{4B18E501-D9F5-4B08-87AD-E6277D116A7E}"/>
              </a:ext>
            </a:extLst>
          </p:cNvPr>
          <p:cNvGrpSpPr/>
          <p:nvPr/>
        </p:nvGrpSpPr>
        <p:grpSpPr>
          <a:xfrm>
            <a:off x="8257620" y="2155110"/>
            <a:ext cx="457190" cy="431306"/>
            <a:chOff x="1299146" y="3806507"/>
            <a:chExt cx="367989" cy="351312"/>
          </a:xfrm>
        </p:grpSpPr>
        <p:sp>
          <p:nvSpPr>
            <p:cNvPr id="14" name="Google Shape;849;p37">
              <a:extLst>
                <a:ext uri="{FF2B5EF4-FFF2-40B4-BE49-F238E27FC236}">
                  <a16:creationId xmlns:a16="http://schemas.microsoft.com/office/drawing/2014/main" id="{F8EDD823-94F0-85A3-C9B1-0543596C9B9D}"/>
                </a:ext>
              </a:extLst>
            </p:cNvPr>
            <p:cNvSpPr/>
            <p:nvPr/>
          </p:nvSpPr>
          <p:spPr>
            <a:xfrm>
              <a:off x="1299146" y="3844414"/>
              <a:ext cx="321012" cy="313405"/>
            </a:xfrm>
            <a:custGeom>
              <a:avLst/>
              <a:gdLst/>
              <a:ahLst/>
              <a:cxnLst/>
              <a:rect l="l" t="t" r="r" b="b"/>
              <a:pathLst>
                <a:path w="10086" h="9847" extrusionOk="0">
                  <a:moveTo>
                    <a:pt x="8728" y="1"/>
                  </a:moveTo>
                  <a:cubicBezTo>
                    <a:pt x="8383" y="1"/>
                    <a:pt x="8038" y="143"/>
                    <a:pt x="7787" y="405"/>
                  </a:cubicBezTo>
                  <a:lnTo>
                    <a:pt x="6847" y="1346"/>
                  </a:lnTo>
                  <a:cubicBezTo>
                    <a:pt x="6775" y="1417"/>
                    <a:pt x="6775" y="1525"/>
                    <a:pt x="6847" y="1596"/>
                  </a:cubicBezTo>
                  <a:cubicBezTo>
                    <a:pt x="6883" y="1632"/>
                    <a:pt x="6927" y="1650"/>
                    <a:pt x="6972" y="1650"/>
                  </a:cubicBezTo>
                  <a:cubicBezTo>
                    <a:pt x="7017" y="1650"/>
                    <a:pt x="7061" y="1632"/>
                    <a:pt x="7097" y="1596"/>
                  </a:cubicBezTo>
                  <a:lnTo>
                    <a:pt x="8038" y="667"/>
                  </a:lnTo>
                  <a:cubicBezTo>
                    <a:pt x="8228" y="465"/>
                    <a:pt x="8478" y="370"/>
                    <a:pt x="8728" y="370"/>
                  </a:cubicBezTo>
                  <a:cubicBezTo>
                    <a:pt x="8990" y="370"/>
                    <a:pt x="9252" y="465"/>
                    <a:pt x="9431" y="667"/>
                  </a:cubicBezTo>
                  <a:cubicBezTo>
                    <a:pt x="9633" y="858"/>
                    <a:pt x="9728" y="1108"/>
                    <a:pt x="9728" y="1358"/>
                  </a:cubicBezTo>
                  <a:cubicBezTo>
                    <a:pt x="9728" y="1620"/>
                    <a:pt x="9633" y="1882"/>
                    <a:pt x="9431" y="2060"/>
                  </a:cubicBezTo>
                  <a:lnTo>
                    <a:pt x="8157" y="3346"/>
                  </a:lnTo>
                  <a:cubicBezTo>
                    <a:pt x="8014" y="3025"/>
                    <a:pt x="7835" y="2751"/>
                    <a:pt x="7585" y="2489"/>
                  </a:cubicBezTo>
                  <a:cubicBezTo>
                    <a:pt x="7085" y="1995"/>
                    <a:pt x="6427" y="1748"/>
                    <a:pt x="5769" y="1748"/>
                  </a:cubicBezTo>
                  <a:cubicBezTo>
                    <a:pt x="5112" y="1748"/>
                    <a:pt x="4454" y="1995"/>
                    <a:pt x="3954" y="2489"/>
                  </a:cubicBezTo>
                  <a:lnTo>
                    <a:pt x="989" y="5454"/>
                  </a:lnTo>
                  <a:cubicBezTo>
                    <a:pt x="1" y="6454"/>
                    <a:pt x="1" y="8085"/>
                    <a:pt x="989" y="9085"/>
                  </a:cubicBezTo>
                  <a:cubicBezTo>
                    <a:pt x="1501" y="9597"/>
                    <a:pt x="2156" y="9847"/>
                    <a:pt x="2811" y="9847"/>
                  </a:cubicBezTo>
                  <a:cubicBezTo>
                    <a:pt x="3466" y="9847"/>
                    <a:pt x="4120" y="9597"/>
                    <a:pt x="4620" y="9085"/>
                  </a:cubicBezTo>
                  <a:lnTo>
                    <a:pt x="6204" y="7513"/>
                  </a:lnTo>
                  <a:cubicBezTo>
                    <a:pt x="6275" y="7430"/>
                    <a:pt x="6275" y="7323"/>
                    <a:pt x="6204" y="7251"/>
                  </a:cubicBezTo>
                  <a:cubicBezTo>
                    <a:pt x="6182" y="7243"/>
                    <a:pt x="6152" y="7237"/>
                    <a:pt x="6120" y="7237"/>
                  </a:cubicBezTo>
                  <a:cubicBezTo>
                    <a:pt x="6064" y="7237"/>
                    <a:pt x="5999" y="7254"/>
                    <a:pt x="5954" y="7299"/>
                  </a:cubicBezTo>
                  <a:lnTo>
                    <a:pt x="4370" y="8883"/>
                  </a:lnTo>
                  <a:cubicBezTo>
                    <a:pt x="3954" y="9299"/>
                    <a:pt x="3394" y="9537"/>
                    <a:pt x="2811" y="9537"/>
                  </a:cubicBezTo>
                  <a:cubicBezTo>
                    <a:pt x="2215" y="9537"/>
                    <a:pt x="1668" y="9311"/>
                    <a:pt x="1251" y="8883"/>
                  </a:cubicBezTo>
                  <a:cubicBezTo>
                    <a:pt x="382" y="8013"/>
                    <a:pt x="382" y="6597"/>
                    <a:pt x="1251" y="5739"/>
                  </a:cubicBezTo>
                  <a:lnTo>
                    <a:pt x="4204" y="2775"/>
                  </a:lnTo>
                  <a:cubicBezTo>
                    <a:pt x="4620" y="2358"/>
                    <a:pt x="5192" y="2120"/>
                    <a:pt x="5775" y="2120"/>
                  </a:cubicBezTo>
                  <a:cubicBezTo>
                    <a:pt x="6371" y="2120"/>
                    <a:pt x="6918" y="2346"/>
                    <a:pt x="7335" y="2775"/>
                  </a:cubicBezTo>
                  <a:cubicBezTo>
                    <a:pt x="7573" y="3013"/>
                    <a:pt x="7764" y="3310"/>
                    <a:pt x="7871" y="3644"/>
                  </a:cubicBezTo>
                  <a:lnTo>
                    <a:pt x="6478" y="5037"/>
                  </a:lnTo>
                  <a:cubicBezTo>
                    <a:pt x="6275" y="5227"/>
                    <a:pt x="6025" y="5335"/>
                    <a:pt x="5775" y="5335"/>
                  </a:cubicBezTo>
                  <a:cubicBezTo>
                    <a:pt x="5501" y="5335"/>
                    <a:pt x="5251" y="5227"/>
                    <a:pt x="5073" y="5037"/>
                  </a:cubicBezTo>
                  <a:cubicBezTo>
                    <a:pt x="4990" y="4942"/>
                    <a:pt x="4906" y="4834"/>
                    <a:pt x="4847" y="4703"/>
                  </a:cubicBezTo>
                  <a:cubicBezTo>
                    <a:pt x="4828" y="4639"/>
                    <a:pt x="4760" y="4596"/>
                    <a:pt x="4692" y="4596"/>
                  </a:cubicBezTo>
                  <a:cubicBezTo>
                    <a:pt x="4672" y="4596"/>
                    <a:pt x="4651" y="4600"/>
                    <a:pt x="4632" y="4608"/>
                  </a:cubicBezTo>
                  <a:cubicBezTo>
                    <a:pt x="4537" y="4632"/>
                    <a:pt x="4489" y="4739"/>
                    <a:pt x="4525" y="4823"/>
                  </a:cubicBezTo>
                  <a:cubicBezTo>
                    <a:pt x="4597" y="4989"/>
                    <a:pt x="4692" y="5144"/>
                    <a:pt x="4823" y="5275"/>
                  </a:cubicBezTo>
                  <a:cubicBezTo>
                    <a:pt x="5073" y="5525"/>
                    <a:pt x="5418" y="5680"/>
                    <a:pt x="5775" y="5680"/>
                  </a:cubicBezTo>
                  <a:cubicBezTo>
                    <a:pt x="6133" y="5680"/>
                    <a:pt x="6478" y="5537"/>
                    <a:pt x="6728" y="5275"/>
                  </a:cubicBezTo>
                  <a:lnTo>
                    <a:pt x="9681" y="2310"/>
                  </a:lnTo>
                  <a:cubicBezTo>
                    <a:pt x="9943" y="2060"/>
                    <a:pt x="10085" y="1715"/>
                    <a:pt x="10085" y="1358"/>
                  </a:cubicBezTo>
                  <a:cubicBezTo>
                    <a:pt x="10085" y="1001"/>
                    <a:pt x="9954" y="655"/>
                    <a:pt x="9681" y="405"/>
                  </a:cubicBezTo>
                  <a:cubicBezTo>
                    <a:pt x="9431" y="155"/>
                    <a:pt x="9085" y="1"/>
                    <a:pt x="8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sp>
          <p:nvSpPr>
            <p:cNvPr id="15" name="Google Shape;850;p37">
              <a:extLst>
                <a:ext uri="{FF2B5EF4-FFF2-40B4-BE49-F238E27FC236}">
                  <a16:creationId xmlns:a16="http://schemas.microsoft.com/office/drawing/2014/main" id="{6A451525-BB2A-A7F5-84A3-B82A6AB35646}"/>
                </a:ext>
              </a:extLst>
            </p:cNvPr>
            <p:cNvSpPr/>
            <p:nvPr/>
          </p:nvSpPr>
          <p:spPr>
            <a:xfrm>
              <a:off x="1345391" y="3806507"/>
              <a:ext cx="321744" cy="313819"/>
            </a:xfrm>
            <a:custGeom>
              <a:avLst/>
              <a:gdLst/>
              <a:ahLst/>
              <a:cxnLst/>
              <a:rect l="l" t="t" r="r" b="b"/>
              <a:pathLst>
                <a:path w="10109" h="9860" extrusionOk="0">
                  <a:moveTo>
                    <a:pt x="7281" y="1"/>
                  </a:moveTo>
                  <a:cubicBezTo>
                    <a:pt x="6623" y="1"/>
                    <a:pt x="5965" y="251"/>
                    <a:pt x="5465" y="751"/>
                  </a:cubicBezTo>
                  <a:lnTo>
                    <a:pt x="3894" y="2335"/>
                  </a:lnTo>
                  <a:cubicBezTo>
                    <a:pt x="3810" y="2406"/>
                    <a:pt x="3810" y="2513"/>
                    <a:pt x="3894" y="2585"/>
                  </a:cubicBezTo>
                  <a:cubicBezTo>
                    <a:pt x="3929" y="2620"/>
                    <a:pt x="3974" y="2638"/>
                    <a:pt x="4019" y="2638"/>
                  </a:cubicBezTo>
                  <a:cubicBezTo>
                    <a:pt x="4063" y="2638"/>
                    <a:pt x="4108" y="2620"/>
                    <a:pt x="4144" y="2585"/>
                  </a:cubicBezTo>
                  <a:lnTo>
                    <a:pt x="5715" y="1001"/>
                  </a:lnTo>
                  <a:cubicBezTo>
                    <a:pt x="6150" y="572"/>
                    <a:pt x="6721" y="358"/>
                    <a:pt x="7291" y="358"/>
                  </a:cubicBezTo>
                  <a:cubicBezTo>
                    <a:pt x="7861" y="358"/>
                    <a:pt x="8430" y="572"/>
                    <a:pt x="8859" y="1001"/>
                  </a:cubicBezTo>
                  <a:cubicBezTo>
                    <a:pt x="9728" y="1870"/>
                    <a:pt x="9728" y="3287"/>
                    <a:pt x="8859" y="4144"/>
                  </a:cubicBezTo>
                  <a:lnTo>
                    <a:pt x="5882" y="7097"/>
                  </a:lnTo>
                  <a:cubicBezTo>
                    <a:pt x="5465" y="7514"/>
                    <a:pt x="4894" y="7752"/>
                    <a:pt x="4322" y="7752"/>
                  </a:cubicBezTo>
                  <a:cubicBezTo>
                    <a:pt x="3727" y="7752"/>
                    <a:pt x="3179" y="7526"/>
                    <a:pt x="2763" y="7097"/>
                  </a:cubicBezTo>
                  <a:cubicBezTo>
                    <a:pt x="2513" y="6859"/>
                    <a:pt x="2322" y="6561"/>
                    <a:pt x="2215" y="6228"/>
                  </a:cubicBezTo>
                  <a:lnTo>
                    <a:pt x="3620" y="4835"/>
                  </a:lnTo>
                  <a:cubicBezTo>
                    <a:pt x="3810" y="4632"/>
                    <a:pt x="4060" y="4537"/>
                    <a:pt x="4322" y="4537"/>
                  </a:cubicBezTo>
                  <a:cubicBezTo>
                    <a:pt x="4584" y="4537"/>
                    <a:pt x="4834" y="4632"/>
                    <a:pt x="5013" y="4835"/>
                  </a:cubicBezTo>
                  <a:cubicBezTo>
                    <a:pt x="5108" y="4918"/>
                    <a:pt x="5180" y="5037"/>
                    <a:pt x="5239" y="5156"/>
                  </a:cubicBezTo>
                  <a:cubicBezTo>
                    <a:pt x="5268" y="5232"/>
                    <a:pt x="5334" y="5271"/>
                    <a:pt x="5409" y="5271"/>
                  </a:cubicBezTo>
                  <a:cubicBezTo>
                    <a:pt x="5427" y="5271"/>
                    <a:pt x="5446" y="5268"/>
                    <a:pt x="5465" y="5263"/>
                  </a:cubicBezTo>
                  <a:cubicBezTo>
                    <a:pt x="5549" y="5228"/>
                    <a:pt x="5596" y="5132"/>
                    <a:pt x="5572" y="5037"/>
                  </a:cubicBezTo>
                  <a:cubicBezTo>
                    <a:pt x="5489" y="4871"/>
                    <a:pt x="5406" y="4728"/>
                    <a:pt x="5275" y="4597"/>
                  </a:cubicBezTo>
                  <a:cubicBezTo>
                    <a:pt x="5013" y="4335"/>
                    <a:pt x="4680" y="4192"/>
                    <a:pt x="4322" y="4192"/>
                  </a:cubicBezTo>
                  <a:cubicBezTo>
                    <a:pt x="3965" y="4192"/>
                    <a:pt x="3620" y="4323"/>
                    <a:pt x="3370" y="4597"/>
                  </a:cubicBezTo>
                  <a:lnTo>
                    <a:pt x="1917" y="6037"/>
                  </a:lnTo>
                  <a:cubicBezTo>
                    <a:pt x="1893" y="6049"/>
                    <a:pt x="1882" y="6061"/>
                    <a:pt x="1870" y="6097"/>
                  </a:cubicBezTo>
                  <a:lnTo>
                    <a:pt x="405" y="7549"/>
                  </a:lnTo>
                  <a:cubicBezTo>
                    <a:pt x="155" y="7811"/>
                    <a:pt x="0" y="8145"/>
                    <a:pt x="0" y="8502"/>
                  </a:cubicBezTo>
                  <a:cubicBezTo>
                    <a:pt x="0" y="8859"/>
                    <a:pt x="131" y="9204"/>
                    <a:pt x="405" y="9454"/>
                  </a:cubicBezTo>
                  <a:cubicBezTo>
                    <a:pt x="655" y="9716"/>
                    <a:pt x="1000" y="9859"/>
                    <a:pt x="1358" y="9859"/>
                  </a:cubicBezTo>
                  <a:cubicBezTo>
                    <a:pt x="1715" y="9859"/>
                    <a:pt x="2060" y="9728"/>
                    <a:pt x="2310" y="9454"/>
                  </a:cubicBezTo>
                  <a:lnTo>
                    <a:pt x="3251" y="8526"/>
                  </a:lnTo>
                  <a:cubicBezTo>
                    <a:pt x="3322" y="8442"/>
                    <a:pt x="3322" y="8347"/>
                    <a:pt x="3251" y="8264"/>
                  </a:cubicBezTo>
                  <a:cubicBezTo>
                    <a:pt x="3209" y="8228"/>
                    <a:pt x="3164" y="8210"/>
                    <a:pt x="3120" y="8210"/>
                  </a:cubicBezTo>
                  <a:cubicBezTo>
                    <a:pt x="3075" y="8210"/>
                    <a:pt x="3030" y="8228"/>
                    <a:pt x="2989" y="8264"/>
                  </a:cubicBezTo>
                  <a:lnTo>
                    <a:pt x="2060" y="9204"/>
                  </a:lnTo>
                  <a:cubicBezTo>
                    <a:pt x="1858" y="9395"/>
                    <a:pt x="1608" y="9502"/>
                    <a:pt x="1358" y="9502"/>
                  </a:cubicBezTo>
                  <a:cubicBezTo>
                    <a:pt x="1108" y="9502"/>
                    <a:pt x="834" y="9395"/>
                    <a:pt x="655" y="9204"/>
                  </a:cubicBezTo>
                  <a:cubicBezTo>
                    <a:pt x="465" y="9014"/>
                    <a:pt x="358" y="8764"/>
                    <a:pt x="358" y="8502"/>
                  </a:cubicBezTo>
                  <a:cubicBezTo>
                    <a:pt x="358" y="8252"/>
                    <a:pt x="465" y="7990"/>
                    <a:pt x="655" y="7811"/>
                  </a:cubicBezTo>
                  <a:lnTo>
                    <a:pt x="1941" y="6526"/>
                  </a:lnTo>
                  <a:cubicBezTo>
                    <a:pt x="2072" y="6835"/>
                    <a:pt x="2251" y="7121"/>
                    <a:pt x="2501" y="7371"/>
                  </a:cubicBezTo>
                  <a:cubicBezTo>
                    <a:pt x="3001" y="7859"/>
                    <a:pt x="3632" y="8133"/>
                    <a:pt x="4322" y="8133"/>
                  </a:cubicBezTo>
                  <a:cubicBezTo>
                    <a:pt x="5001" y="8133"/>
                    <a:pt x="5656" y="7871"/>
                    <a:pt x="6132" y="7371"/>
                  </a:cubicBezTo>
                  <a:lnTo>
                    <a:pt x="9097" y="4418"/>
                  </a:lnTo>
                  <a:cubicBezTo>
                    <a:pt x="10109" y="3382"/>
                    <a:pt x="10109" y="1751"/>
                    <a:pt x="9097" y="751"/>
                  </a:cubicBezTo>
                  <a:cubicBezTo>
                    <a:pt x="8597" y="251"/>
                    <a:pt x="7939" y="1"/>
                    <a:pt x="72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00" b="0" i="0" u="none" strike="noStrike" cap="none">
                <a:solidFill>
                  <a:srgbClr val="000000"/>
                </a:solidFill>
                <a:latin typeface="Arial"/>
                <a:ea typeface="Arial"/>
                <a:cs typeface="Arial"/>
                <a:sym typeface="Arial"/>
              </a:endParaRPr>
            </a:p>
          </p:txBody>
        </p:sp>
      </p:grpSp>
      <p:pic>
        <p:nvPicPr>
          <p:cNvPr id="16" name="Google Shape;851;p37">
            <a:extLst>
              <a:ext uri="{FF2B5EF4-FFF2-40B4-BE49-F238E27FC236}">
                <a16:creationId xmlns:a16="http://schemas.microsoft.com/office/drawing/2014/main" id="{C42A8F61-3F15-8F5C-8025-92E2A8DB8957}"/>
              </a:ext>
            </a:extLst>
          </p:cNvPr>
          <p:cNvPicPr preferRelativeResize="0"/>
          <p:nvPr/>
        </p:nvPicPr>
        <p:blipFill rotWithShape="1">
          <a:blip r:embed="rId3">
            <a:alphaModFix/>
          </a:blip>
          <a:srcRect/>
          <a:stretch/>
        </p:blipFill>
        <p:spPr>
          <a:xfrm>
            <a:off x="3088241" y="1948738"/>
            <a:ext cx="890587" cy="890587"/>
          </a:xfrm>
          <a:prstGeom prst="rect">
            <a:avLst/>
          </a:prstGeom>
          <a:noFill/>
          <a:ln>
            <a:noFill/>
          </a:ln>
        </p:spPr>
      </p:pic>
      <p:pic>
        <p:nvPicPr>
          <p:cNvPr id="17" name="Google Shape;852;p37">
            <a:extLst>
              <a:ext uri="{FF2B5EF4-FFF2-40B4-BE49-F238E27FC236}">
                <a16:creationId xmlns:a16="http://schemas.microsoft.com/office/drawing/2014/main" id="{E58453D9-FB88-980F-C3D5-38D1528EAC13}"/>
              </a:ext>
            </a:extLst>
          </p:cNvPr>
          <p:cNvPicPr preferRelativeResize="0"/>
          <p:nvPr/>
        </p:nvPicPr>
        <p:blipFill rotWithShape="1">
          <a:blip r:embed="rId4">
            <a:alphaModFix/>
          </a:blip>
          <a:srcRect/>
          <a:stretch/>
        </p:blipFill>
        <p:spPr>
          <a:xfrm>
            <a:off x="8069645" y="1948741"/>
            <a:ext cx="890587" cy="8905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561C2-8FFB-6EBB-9871-EC598D04BCE2}"/>
              </a:ext>
            </a:extLst>
          </p:cNvPr>
          <p:cNvSpPr>
            <a:spLocks noGrp="1"/>
          </p:cNvSpPr>
          <p:nvPr>
            <p:ph type="title"/>
          </p:nvPr>
        </p:nvSpPr>
        <p:spPr/>
        <p:txBody>
          <a:bodyPr/>
          <a:lstStyle/>
          <a:p>
            <a:r>
              <a:rPr lang="vi-VN" dirty="0">
                <a:latin typeface="+mn-lt"/>
              </a:rPr>
              <a:t>2. Giới thiệu đề tài</a:t>
            </a:r>
            <a:endParaRPr lang="en-US" dirty="0">
              <a:latin typeface="+mn-lt"/>
            </a:endParaRPr>
          </a:p>
        </p:txBody>
      </p:sp>
      <p:sp>
        <p:nvSpPr>
          <p:cNvPr id="4" name="Slide Number Placeholder 3">
            <a:extLst>
              <a:ext uri="{FF2B5EF4-FFF2-40B4-BE49-F238E27FC236}">
                <a16:creationId xmlns:a16="http://schemas.microsoft.com/office/drawing/2014/main" id="{6C85F6EB-02B8-1314-9A25-D7CE4FB5A0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graphicFrame>
        <p:nvGraphicFramePr>
          <p:cNvPr id="6" name="Google Shape;864;p39">
            <a:extLst>
              <a:ext uri="{FF2B5EF4-FFF2-40B4-BE49-F238E27FC236}">
                <a16:creationId xmlns:a16="http://schemas.microsoft.com/office/drawing/2014/main" id="{1F57EBA9-AC85-2095-374A-2230E92E8DDF}"/>
              </a:ext>
            </a:extLst>
          </p:cNvPr>
          <p:cNvGraphicFramePr/>
          <p:nvPr>
            <p:extLst>
              <p:ext uri="{D42A27DB-BD31-4B8C-83A1-F6EECF244321}">
                <p14:modId xmlns:p14="http://schemas.microsoft.com/office/powerpoint/2010/main" val="1283720897"/>
              </p:ext>
            </p:extLst>
          </p:nvPr>
        </p:nvGraphicFramePr>
        <p:xfrm>
          <a:off x="2933590" y="1057638"/>
          <a:ext cx="6324819" cy="4926240"/>
        </p:xfrm>
        <a:graphic>
          <a:graphicData uri="http://schemas.openxmlformats.org/drawingml/2006/table">
            <a:tbl>
              <a:tblPr>
                <a:noFill/>
              </a:tblPr>
              <a:tblGrid>
                <a:gridCol w="2108273">
                  <a:extLst>
                    <a:ext uri="{9D8B030D-6E8A-4147-A177-3AD203B41FA5}">
                      <a16:colId xmlns:a16="http://schemas.microsoft.com/office/drawing/2014/main" val="20000"/>
                    </a:ext>
                  </a:extLst>
                </a:gridCol>
                <a:gridCol w="2108273">
                  <a:extLst>
                    <a:ext uri="{9D8B030D-6E8A-4147-A177-3AD203B41FA5}">
                      <a16:colId xmlns:a16="http://schemas.microsoft.com/office/drawing/2014/main" val="20001"/>
                    </a:ext>
                  </a:extLst>
                </a:gridCol>
                <a:gridCol w="2108273">
                  <a:extLst>
                    <a:ext uri="{9D8B030D-6E8A-4147-A177-3AD203B41FA5}">
                      <a16:colId xmlns:a16="http://schemas.microsoft.com/office/drawing/2014/main" val="20002"/>
                    </a:ext>
                  </a:extLst>
                </a:gridCol>
              </a:tblGrid>
              <a:tr h="238275">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a:latin typeface="Times New Roman"/>
                          <a:ea typeface="Times New Roman"/>
                          <a:cs typeface="Times New Roman"/>
                          <a:sym typeface="Times New Roman"/>
                        </a:rPr>
                        <a:t>Yêu cầu</a:t>
                      </a:r>
                      <a:endParaRPr sz="1600" b="1"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b="1" u="none" strike="noStrike" cap="none">
                          <a:latin typeface="Times New Roman"/>
                          <a:ea typeface="Times New Roman"/>
                          <a:cs typeface="Times New Roman"/>
                          <a:sym typeface="Times New Roman"/>
                        </a:rPr>
                        <a:t>Chủ trọ</a:t>
                      </a:r>
                      <a:endParaRPr sz="1600" b="1"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b="1" u="none" strike="noStrike" cap="none" dirty="0" err="1">
                          <a:latin typeface="Times New Roman"/>
                          <a:ea typeface="Times New Roman"/>
                          <a:cs typeface="Times New Roman"/>
                          <a:sym typeface="Times New Roman"/>
                        </a:rPr>
                        <a:t>Người</a:t>
                      </a:r>
                      <a:r>
                        <a:rPr lang="en-US" sz="1600" b="1" u="none" strike="noStrike" cap="none" dirty="0">
                          <a:latin typeface="Times New Roman"/>
                          <a:ea typeface="Times New Roman"/>
                          <a:cs typeface="Times New Roman"/>
                          <a:sym typeface="Times New Roman"/>
                        </a:rPr>
                        <a:t> </a:t>
                      </a:r>
                      <a:r>
                        <a:rPr lang="en-US" sz="1600" b="1" u="none" strike="noStrike" cap="none" dirty="0" err="1">
                          <a:latin typeface="Times New Roman"/>
                          <a:ea typeface="Times New Roman"/>
                          <a:cs typeface="Times New Roman"/>
                          <a:sym typeface="Times New Roman"/>
                        </a:rPr>
                        <a:t>thuê</a:t>
                      </a:r>
                      <a:endParaRPr sz="1600" b="1" i="0" u="none" strike="noStrike" cap="none" dirty="0">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0"/>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Đăng nhập</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1"/>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tài khoản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2"/>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thông tin phòng</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3"/>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hợp đồng</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4"/>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hóa đơn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5"/>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lịch sử thanh toán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6"/>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Nhận thông báo</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7"/>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điện/nước</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8"/>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Tạo hóa đơn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09"/>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Thanh toán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Xác nhận</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0"/>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phòng</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phòng mình</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1"/>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Quản lý người thuê</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Xem thông tin mình</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2"/>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Báo sự cố</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Xử lý</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3"/>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Báo cáo doanh thu</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X</a:t>
                      </a:r>
                      <a:endParaRPr sz="1600" b="0" i="0" u="none" strike="noStrike" cap="none">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4"/>
                  </a:ext>
                </a:extLst>
              </a:tr>
              <a:tr h="213525">
                <a:tc>
                  <a:txBody>
                    <a:bodyPr/>
                    <a:lstStyle/>
                    <a:p>
                      <a:pPr marL="0" marR="0" lvl="0" indent="0" algn="l"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Theo dõi công nợ</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a:latin typeface="Times New Roman"/>
                          <a:ea typeface="Times New Roman"/>
                          <a:cs typeface="Times New Roman"/>
                          <a:sym typeface="Times New Roman"/>
                        </a:rPr>
                        <a:t>✓</a:t>
                      </a:r>
                      <a:endParaRPr sz="1600" b="0" i="0" u="none" strike="noStrike" cap="none">
                        <a:latin typeface="Times New Roman"/>
                        <a:ea typeface="Times New Roman"/>
                        <a:cs typeface="Times New Roman"/>
                        <a:sym typeface="Times New Roman"/>
                      </a:endParaRPr>
                    </a:p>
                  </a:txBody>
                  <a:tcPr marL="64050" marR="64050" marT="32025" marB="320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600" u="none" strike="noStrike" cap="none" dirty="0">
                          <a:latin typeface="Times New Roman"/>
                          <a:ea typeface="Times New Roman"/>
                          <a:cs typeface="Times New Roman"/>
                          <a:sym typeface="Times New Roman"/>
                        </a:rPr>
                        <a:t>Xem </a:t>
                      </a:r>
                      <a:r>
                        <a:rPr lang="en-US" sz="1600" u="none" strike="noStrike" cap="none" dirty="0" err="1">
                          <a:latin typeface="Times New Roman"/>
                          <a:ea typeface="Times New Roman"/>
                          <a:cs typeface="Times New Roman"/>
                          <a:sym typeface="Times New Roman"/>
                        </a:rPr>
                        <a:t>công</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nợ</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của</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mình</a:t>
                      </a:r>
                      <a:endParaRPr sz="1600" b="0" i="0" u="none" strike="noStrike" cap="none" dirty="0">
                        <a:latin typeface="Times New Roman"/>
                        <a:ea typeface="Times New Roman"/>
                        <a:cs typeface="Times New Roman"/>
                        <a:sym typeface="Times New Roman"/>
                      </a:endParaRPr>
                    </a:p>
                  </a:txBody>
                  <a:tcPr marL="64050" marR="64050" marT="32025" marB="32025" anchor="ct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541230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E1D7-5AF7-9BBE-69D2-512C7B993C09}"/>
              </a:ext>
            </a:extLst>
          </p:cNvPr>
          <p:cNvSpPr>
            <a:spLocks noGrp="1"/>
          </p:cNvSpPr>
          <p:nvPr>
            <p:ph type="title"/>
          </p:nvPr>
        </p:nvSpPr>
        <p:spPr/>
        <p:txBody>
          <a:bodyPr/>
          <a:lstStyle/>
          <a:p>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lang="en-US" dirty="0"/>
          </a:p>
        </p:txBody>
      </p:sp>
      <p:sp>
        <p:nvSpPr>
          <p:cNvPr id="3" name="Text Placeholder 2">
            <a:extLst>
              <a:ext uri="{FF2B5EF4-FFF2-40B4-BE49-F238E27FC236}">
                <a16:creationId xmlns:a16="http://schemas.microsoft.com/office/drawing/2014/main" id="{E31C33DB-3A26-6BBB-3446-BFF40C826F53}"/>
              </a:ext>
            </a:extLst>
          </p:cNvPr>
          <p:cNvSpPr>
            <a:spLocks noGrp="1"/>
          </p:cNvSpPr>
          <p:nvPr>
            <p:ph type="body" idx="1"/>
          </p:nvPr>
        </p:nvSpPr>
        <p:spPr>
          <a:xfrm>
            <a:off x="338736" y="786703"/>
            <a:ext cx="11166203" cy="4938713"/>
          </a:xfrm>
        </p:spPr>
        <p:txBody>
          <a:bodyPr/>
          <a:lstStyle/>
          <a:p>
            <a:pPr marL="50800" indent="0">
              <a:buNone/>
            </a:pPr>
            <a:r>
              <a:rPr lang="en-US" b="1" dirty="0">
                <a:latin typeface="+mn-lt"/>
              </a:rPr>
              <a:t>c</a:t>
            </a:r>
            <a:r>
              <a:rPr lang="vi-VN" b="1" dirty="0">
                <a:latin typeface="+mn-lt"/>
              </a:rPr>
              <a:t>. Giải pháp:</a:t>
            </a:r>
          </a:p>
          <a:p>
            <a:r>
              <a:rPr lang="vi-VN" dirty="0"/>
              <a:t>X</a:t>
            </a:r>
            <a:r>
              <a:rPr lang="en-US" dirty="0" err="1"/>
              <a:t>ây</a:t>
            </a:r>
            <a:r>
              <a:rPr lang="en-US" dirty="0"/>
              <a:t> </a:t>
            </a:r>
            <a:r>
              <a:rPr lang="en-US" dirty="0" err="1"/>
              <a:t>dựng</a:t>
            </a:r>
            <a:r>
              <a:rPr lang="en-US" dirty="0"/>
              <a:t> </a:t>
            </a:r>
            <a:r>
              <a:rPr lang="en-US" dirty="0" err="1"/>
              <a:t>dưới</a:t>
            </a:r>
            <a:r>
              <a:rPr lang="en-US" dirty="0"/>
              <a:t> </a:t>
            </a:r>
            <a:r>
              <a:rPr lang="en-US" dirty="0" err="1"/>
              <a:t>dạng</a:t>
            </a:r>
            <a:r>
              <a:rPr lang="en-US" dirty="0"/>
              <a:t> website </a:t>
            </a:r>
            <a:r>
              <a:rPr lang="en-US" dirty="0" err="1"/>
              <a:t>quản</a:t>
            </a:r>
            <a:r>
              <a:rPr lang="en-US" dirty="0"/>
              <a:t> </a:t>
            </a:r>
            <a:r>
              <a:rPr lang="en-US" dirty="0" err="1"/>
              <a:t>lý</a:t>
            </a:r>
            <a:r>
              <a:rPr lang="en-US" dirty="0"/>
              <a:t> </a:t>
            </a:r>
            <a:r>
              <a:rPr lang="en-US" dirty="0" err="1"/>
              <a:t>phòng</a:t>
            </a:r>
            <a:r>
              <a:rPr lang="en-US" dirty="0"/>
              <a:t> </a:t>
            </a:r>
            <a:r>
              <a:rPr lang="en-US" dirty="0" err="1"/>
              <a:t>trọ</a:t>
            </a:r>
            <a:r>
              <a:rPr lang="en-US" dirty="0"/>
              <a:t>, </a:t>
            </a:r>
            <a:r>
              <a:rPr lang="en-US" dirty="0" err="1"/>
              <a:t>tập</a:t>
            </a:r>
            <a:r>
              <a:rPr lang="en-US" dirty="0"/>
              <a:t> </a:t>
            </a:r>
            <a:r>
              <a:rPr lang="en-US" dirty="0" err="1"/>
              <a:t>trung</a:t>
            </a:r>
            <a:r>
              <a:rPr lang="en-US" dirty="0"/>
              <a:t> </a:t>
            </a:r>
            <a:r>
              <a:rPr lang="en-US" dirty="0" err="1"/>
              <a:t>dữ</a:t>
            </a:r>
            <a:r>
              <a:rPr lang="en-US" dirty="0"/>
              <a:t> </a:t>
            </a:r>
            <a:r>
              <a:rPr lang="en-US" dirty="0" err="1"/>
              <a:t>liệu</a:t>
            </a:r>
            <a:r>
              <a:rPr lang="en-US" dirty="0"/>
              <a:t> </a:t>
            </a:r>
            <a:r>
              <a:rPr lang="en-US" dirty="0" err="1"/>
              <a:t>trên</a:t>
            </a:r>
            <a:r>
              <a:rPr lang="en-US" dirty="0"/>
              <a:t> </a:t>
            </a:r>
            <a:r>
              <a:rPr lang="en-US" dirty="0" err="1"/>
              <a:t>nền</a:t>
            </a:r>
            <a:r>
              <a:rPr lang="en-US" dirty="0"/>
              <a:t> </a:t>
            </a:r>
            <a:r>
              <a:rPr lang="en-US" dirty="0" err="1"/>
              <a:t>tảng</a:t>
            </a:r>
            <a:r>
              <a:rPr lang="en-US" dirty="0"/>
              <a:t> </a:t>
            </a:r>
            <a:r>
              <a:rPr lang="en-US" dirty="0" err="1"/>
              <a:t>thống</a:t>
            </a:r>
            <a:r>
              <a:rPr lang="en-US" dirty="0"/>
              <a:t> </a:t>
            </a:r>
            <a:r>
              <a:rPr lang="en-US" dirty="0" err="1"/>
              <a:t>nhất</a:t>
            </a:r>
            <a:r>
              <a:rPr lang="en-US" dirty="0"/>
              <a:t>, </a:t>
            </a:r>
            <a:r>
              <a:rPr lang="en-US" dirty="0" err="1"/>
              <a:t>giúp</a:t>
            </a:r>
            <a:r>
              <a:rPr lang="en-US" dirty="0"/>
              <a:t> </a:t>
            </a:r>
            <a:r>
              <a:rPr lang="en-US" dirty="0" err="1"/>
              <a:t>chủ</a:t>
            </a:r>
            <a:r>
              <a:rPr lang="en-US" dirty="0"/>
              <a:t> </a:t>
            </a:r>
            <a:r>
              <a:rPr lang="en-US" dirty="0" err="1"/>
              <a:t>nhà</a:t>
            </a:r>
            <a:r>
              <a:rPr lang="en-US" dirty="0"/>
              <a:t> </a:t>
            </a:r>
            <a:r>
              <a:rPr lang="en-US" dirty="0" err="1"/>
              <a:t>dễ</a:t>
            </a:r>
            <a:r>
              <a:rPr lang="en-US" dirty="0"/>
              <a:t> </a:t>
            </a:r>
            <a:r>
              <a:rPr lang="en-US" dirty="0" err="1"/>
              <a:t>dàng</a:t>
            </a:r>
            <a:r>
              <a:rPr lang="en-US" dirty="0"/>
              <a:t> </a:t>
            </a:r>
            <a:r>
              <a:rPr lang="en-US" dirty="0" err="1"/>
              <a:t>quản</a:t>
            </a:r>
            <a:r>
              <a:rPr lang="en-US" dirty="0"/>
              <a:t> </a:t>
            </a:r>
            <a:r>
              <a:rPr lang="en-US" dirty="0" err="1"/>
              <a:t>lý</a:t>
            </a:r>
            <a:r>
              <a:rPr lang="en-US" dirty="0"/>
              <a:t> </a:t>
            </a:r>
            <a:r>
              <a:rPr lang="en-US" dirty="0" err="1"/>
              <a:t>hoạt</a:t>
            </a:r>
            <a:r>
              <a:rPr lang="en-US" dirty="0"/>
              <a:t> </a:t>
            </a:r>
            <a:r>
              <a:rPr lang="en-US" dirty="0" err="1"/>
              <a:t>động</a:t>
            </a:r>
            <a:r>
              <a:rPr lang="en-US" dirty="0"/>
              <a:t> </a:t>
            </a:r>
            <a:r>
              <a:rPr lang="en-US" dirty="0" err="1"/>
              <a:t>cho</a:t>
            </a:r>
            <a:r>
              <a:rPr lang="en-US" dirty="0"/>
              <a:t> </a:t>
            </a:r>
            <a:r>
              <a:rPr lang="en-US" dirty="0" err="1"/>
              <a:t>thuê</a:t>
            </a:r>
            <a:r>
              <a:rPr lang="en-US" dirty="0"/>
              <a:t>. </a:t>
            </a:r>
            <a:endParaRPr lang="vi-VN" dirty="0"/>
          </a:p>
          <a:p>
            <a:r>
              <a:rPr lang="en-US" dirty="0" err="1"/>
              <a:t>Hệ</a:t>
            </a:r>
            <a:r>
              <a:rPr lang="en-US" dirty="0"/>
              <a:t> </a:t>
            </a:r>
            <a:r>
              <a:rPr lang="en-US" dirty="0" err="1"/>
              <a:t>thống</a:t>
            </a:r>
            <a:r>
              <a:rPr lang="en-US" dirty="0"/>
              <a:t> </a:t>
            </a:r>
            <a:r>
              <a:rPr lang="en-US" dirty="0" err="1"/>
              <a:t>hướng</a:t>
            </a:r>
            <a:r>
              <a:rPr lang="en-US" dirty="0"/>
              <a:t> </a:t>
            </a:r>
            <a:r>
              <a:rPr lang="en-US" dirty="0" err="1"/>
              <a:t>tới</a:t>
            </a:r>
            <a:r>
              <a:rPr lang="en-US" dirty="0"/>
              <a:t> </a:t>
            </a:r>
            <a:r>
              <a:rPr lang="en-US" dirty="0" err="1"/>
              <a:t>giao</a:t>
            </a:r>
            <a:r>
              <a:rPr lang="en-US" dirty="0"/>
              <a:t> </a:t>
            </a:r>
            <a:r>
              <a:rPr lang="en-US" dirty="0" err="1"/>
              <a:t>diện</a:t>
            </a:r>
            <a:r>
              <a:rPr lang="en-US" dirty="0"/>
              <a:t> </a:t>
            </a:r>
            <a:r>
              <a:rPr lang="en-US" dirty="0" err="1"/>
              <a:t>trực</a:t>
            </a:r>
            <a:r>
              <a:rPr lang="en-US" dirty="0"/>
              <a:t> </a:t>
            </a:r>
            <a:r>
              <a:rPr lang="en-US" dirty="0" err="1"/>
              <a:t>quan</a:t>
            </a:r>
            <a:r>
              <a:rPr lang="en-US" dirty="0"/>
              <a:t>, </a:t>
            </a:r>
            <a:r>
              <a:rPr lang="en-US" dirty="0" err="1"/>
              <a:t>dễ</a:t>
            </a:r>
            <a:r>
              <a:rPr lang="en-US" dirty="0"/>
              <a:t> </a:t>
            </a:r>
            <a:r>
              <a:rPr lang="en-US" dirty="0" err="1"/>
              <a:t>sử</a:t>
            </a:r>
            <a:r>
              <a:rPr lang="en-US" dirty="0"/>
              <a:t> </a:t>
            </a:r>
            <a:r>
              <a:rPr lang="en-US" dirty="0" err="1"/>
              <a:t>dụng</a:t>
            </a:r>
            <a:r>
              <a:rPr lang="en-US" dirty="0"/>
              <a:t>, </a:t>
            </a:r>
            <a:r>
              <a:rPr lang="en-US" dirty="0" err="1"/>
              <a:t>thuận</a:t>
            </a:r>
            <a:r>
              <a:rPr lang="en-US" dirty="0"/>
              <a:t> </a:t>
            </a:r>
            <a:r>
              <a:rPr lang="en-US" dirty="0" err="1"/>
              <a:t>tiện</a:t>
            </a:r>
            <a:r>
              <a:rPr lang="en-US" dirty="0"/>
              <a:t> </a:t>
            </a:r>
            <a:r>
              <a:rPr lang="en-US" dirty="0" err="1"/>
              <a:t>cho</a:t>
            </a:r>
            <a:r>
              <a:rPr lang="en-US" dirty="0"/>
              <a:t> </a:t>
            </a:r>
            <a:r>
              <a:rPr lang="en-US" dirty="0" err="1"/>
              <a:t>cả</a:t>
            </a:r>
            <a:r>
              <a:rPr lang="en-US" dirty="0"/>
              <a:t> </a:t>
            </a:r>
            <a:r>
              <a:rPr lang="en-US" dirty="0" err="1"/>
              <a:t>chủ</a:t>
            </a:r>
            <a:r>
              <a:rPr lang="en-US" dirty="0"/>
              <a:t> </a:t>
            </a:r>
            <a:r>
              <a:rPr lang="en-US" dirty="0" err="1"/>
              <a:t>nhà</a:t>
            </a:r>
            <a:r>
              <a:rPr lang="en-US" dirty="0"/>
              <a:t> </a:t>
            </a:r>
            <a:r>
              <a:rPr lang="en-US" dirty="0" err="1"/>
              <a:t>và</a:t>
            </a:r>
            <a:r>
              <a:rPr lang="en-US" dirty="0"/>
              <a:t> </a:t>
            </a:r>
            <a:r>
              <a:rPr lang="en-US" dirty="0" err="1"/>
              <a:t>người</a:t>
            </a:r>
            <a:r>
              <a:rPr lang="en-US" dirty="0"/>
              <a:t> </a:t>
            </a:r>
            <a:r>
              <a:rPr lang="en-US" dirty="0" err="1"/>
              <a:t>thuê</a:t>
            </a:r>
            <a:r>
              <a:rPr lang="en-US" dirty="0"/>
              <a:t>, </a:t>
            </a:r>
            <a:r>
              <a:rPr lang="en-US" dirty="0" err="1"/>
              <a:t>đồng</a:t>
            </a:r>
            <a:r>
              <a:rPr lang="en-US" dirty="0"/>
              <a:t> </a:t>
            </a:r>
            <a:r>
              <a:rPr lang="en-US" dirty="0" err="1"/>
              <a:t>thời</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 </a:t>
            </a:r>
            <a:r>
              <a:rPr lang="en-US" dirty="0" err="1"/>
              <a:t>thêm</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trong</a:t>
            </a:r>
            <a:r>
              <a:rPr lang="en-US" dirty="0"/>
              <a:t> </a:t>
            </a:r>
            <a:r>
              <a:rPr lang="en-US" dirty="0" err="1"/>
              <a:t>tương</a:t>
            </a:r>
            <a:r>
              <a:rPr lang="en-US" dirty="0"/>
              <a:t> lai.</a:t>
            </a:r>
          </a:p>
          <a:p>
            <a:r>
              <a:rPr lang="en-US" dirty="0"/>
              <a:t>Công </a:t>
            </a:r>
            <a:r>
              <a:rPr lang="en-US" dirty="0" err="1"/>
              <a:t>nghệ</a:t>
            </a:r>
            <a:r>
              <a:rPr lang="en-US" dirty="0"/>
              <a:t> </a:t>
            </a:r>
            <a:r>
              <a:rPr lang="en-US" dirty="0" err="1"/>
              <a:t>sử</a:t>
            </a:r>
            <a:r>
              <a:rPr lang="en-US" dirty="0"/>
              <a:t> </a:t>
            </a:r>
            <a:r>
              <a:rPr lang="en-US" dirty="0" err="1"/>
              <a:t>dụng</a:t>
            </a:r>
            <a:r>
              <a:rPr lang="en-US" dirty="0"/>
              <a:t>:</a:t>
            </a:r>
          </a:p>
          <a:p>
            <a:pPr marL="50800" lvl="0" indent="0">
              <a:buNone/>
            </a:pPr>
            <a:r>
              <a:rPr lang="vi-VN" dirty="0"/>
              <a:t>	</a:t>
            </a:r>
            <a:r>
              <a:rPr lang="en-US" dirty="0"/>
              <a:t>Frontend: ReactJS, Vite, Tailwind CSS.</a:t>
            </a:r>
          </a:p>
          <a:p>
            <a:pPr marL="50800" lvl="0" indent="0">
              <a:buNone/>
            </a:pPr>
            <a:r>
              <a:rPr lang="vi-VN" dirty="0"/>
              <a:t>	</a:t>
            </a:r>
            <a:r>
              <a:rPr lang="en-US" dirty="0"/>
              <a:t>Backend: NodeJS, Express.</a:t>
            </a:r>
          </a:p>
          <a:p>
            <a:pPr marL="50800" lvl="0" indent="0">
              <a:buNone/>
            </a:pPr>
            <a:r>
              <a:rPr lang="vi-VN" dirty="0"/>
              <a:t>	</a:t>
            </a:r>
            <a:r>
              <a:rPr lang="en-US" dirty="0"/>
              <a:t>Database PostgreSQL.</a:t>
            </a:r>
          </a:p>
          <a:p>
            <a:pPr marL="50800" indent="0">
              <a:buNone/>
            </a:pPr>
            <a:endParaRPr lang="vi-VN" b="1" dirty="0">
              <a:latin typeface="+mn-lt"/>
            </a:endParaRPr>
          </a:p>
          <a:p>
            <a:pPr marL="50800" indent="0">
              <a:buNone/>
            </a:pPr>
            <a:endParaRPr lang="en-US" b="1" dirty="0">
              <a:latin typeface="+mn-lt"/>
            </a:endParaRPr>
          </a:p>
        </p:txBody>
      </p:sp>
      <p:sp>
        <p:nvSpPr>
          <p:cNvPr id="4" name="Slide Number Placeholder 3">
            <a:extLst>
              <a:ext uri="{FF2B5EF4-FFF2-40B4-BE49-F238E27FC236}">
                <a16:creationId xmlns:a16="http://schemas.microsoft.com/office/drawing/2014/main" id="{60FFD1B8-3A09-6EE9-AEC9-7A1547BA1D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629091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4113-37A2-16B8-4DD9-313DD50AD5DD}"/>
              </a:ext>
            </a:extLst>
          </p:cNvPr>
          <p:cNvSpPr>
            <a:spLocks noGrp="1"/>
          </p:cNvSpPr>
          <p:nvPr>
            <p:ph type="title"/>
          </p:nvPr>
        </p:nvSpPr>
        <p:spPr/>
        <p:txBody>
          <a:bodyPr/>
          <a:lstStyle/>
          <a:p>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lang="en-US" dirty="0"/>
          </a:p>
        </p:txBody>
      </p:sp>
      <p:sp>
        <p:nvSpPr>
          <p:cNvPr id="4" name="Slide Number Placeholder 3">
            <a:extLst>
              <a:ext uri="{FF2B5EF4-FFF2-40B4-BE49-F238E27FC236}">
                <a16:creationId xmlns:a16="http://schemas.microsoft.com/office/drawing/2014/main" id="{195F7893-5FC5-B6F1-404C-3B7C66FC80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graphicFrame>
        <p:nvGraphicFramePr>
          <p:cNvPr id="5" name="Table 4">
            <a:extLst>
              <a:ext uri="{FF2B5EF4-FFF2-40B4-BE49-F238E27FC236}">
                <a16:creationId xmlns:a16="http://schemas.microsoft.com/office/drawing/2014/main" id="{50F30449-7CD5-294D-315F-E71200C14A86}"/>
              </a:ext>
            </a:extLst>
          </p:cNvPr>
          <p:cNvGraphicFramePr>
            <a:graphicFrameLocks noGrp="1"/>
          </p:cNvGraphicFramePr>
          <p:nvPr>
            <p:extLst>
              <p:ext uri="{D42A27DB-BD31-4B8C-83A1-F6EECF244321}">
                <p14:modId xmlns:p14="http://schemas.microsoft.com/office/powerpoint/2010/main" val="3639294570"/>
              </p:ext>
            </p:extLst>
          </p:nvPr>
        </p:nvGraphicFramePr>
        <p:xfrm>
          <a:off x="588468" y="2051991"/>
          <a:ext cx="11015064" cy="2939706"/>
        </p:xfrm>
        <a:graphic>
          <a:graphicData uri="http://schemas.openxmlformats.org/drawingml/2006/table">
            <a:tbl>
              <a:tblPr>
                <a:tableStyleId>{01511797-984D-44DA-BBBC-5FB16A20FFCF}</a:tableStyleId>
              </a:tblPr>
              <a:tblGrid>
                <a:gridCol w="3671688">
                  <a:extLst>
                    <a:ext uri="{9D8B030D-6E8A-4147-A177-3AD203B41FA5}">
                      <a16:colId xmlns:a16="http://schemas.microsoft.com/office/drawing/2014/main" val="880252876"/>
                    </a:ext>
                  </a:extLst>
                </a:gridCol>
                <a:gridCol w="3671688">
                  <a:extLst>
                    <a:ext uri="{9D8B030D-6E8A-4147-A177-3AD203B41FA5}">
                      <a16:colId xmlns:a16="http://schemas.microsoft.com/office/drawing/2014/main" val="245061349"/>
                    </a:ext>
                  </a:extLst>
                </a:gridCol>
                <a:gridCol w="3671688">
                  <a:extLst>
                    <a:ext uri="{9D8B030D-6E8A-4147-A177-3AD203B41FA5}">
                      <a16:colId xmlns:a16="http://schemas.microsoft.com/office/drawing/2014/main" val="3644224851"/>
                    </a:ext>
                  </a:extLst>
                </a:gridCol>
              </a:tblGrid>
              <a:tr h="393431">
                <a:tc>
                  <a:txBody>
                    <a:bodyPr/>
                    <a:lstStyle/>
                    <a:p>
                      <a:pPr algn="ctr">
                        <a:buNone/>
                      </a:pPr>
                      <a:r>
                        <a:rPr lang="en-US" sz="1600" b="1" i="0" u="none" strike="noStrike" cap="none" spc="0" dirty="0">
                          <a:solidFill>
                            <a:srgbClr val="000000"/>
                          </a:solidFill>
                          <a:latin typeface="Arial"/>
                          <a:cs typeface="Arial"/>
                          <a:sym typeface="Arial"/>
                        </a:rPr>
                        <a:t>Thành </a:t>
                      </a:r>
                      <a:r>
                        <a:rPr lang="en-US" sz="1600" b="1" i="0" u="none" strike="noStrike" cap="none" spc="0" dirty="0" err="1">
                          <a:solidFill>
                            <a:srgbClr val="000000"/>
                          </a:solidFill>
                          <a:latin typeface="Arial"/>
                          <a:cs typeface="Arial"/>
                          <a:sym typeface="Arial"/>
                        </a:rPr>
                        <a:t>phần</a:t>
                      </a:r>
                      <a:endParaRPr lang="en-US" sz="1600" b="1" i="0" u="none" strike="noStrike" cap="none" spc="0" dirty="0">
                        <a:solidFill>
                          <a:srgbClr val="000000"/>
                        </a:solidFill>
                        <a:latin typeface="Arial"/>
                        <a:cs typeface="Arial"/>
                        <a:sym typeface="Arial"/>
                      </a:endParaRPr>
                    </a:p>
                  </a:txBody>
                  <a:tcPr anchor="ctr"/>
                </a:tc>
                <a:tc>
                  <a:txBody>
                    <a:bodyPr/>
                    <a:lstStyle/>
                    <a:p>
                      <a:pPr algn="ctr">
                        <a:buNone/>
                      </a:pPr>
                      <a:r>
                        <a:rPr lang="en-US" sz="1600" b="1" i="0" u="none" strike="noStrike" cap="none" spc="0" dirty="0">
                          <a:solidFill>
                            <a:srgbClr val="000000"/>
                          </a:solidFill>
                          <a:latin typeface="Arial"/>
                          <a:cs typeface="Arial"/>
                          <a:sym typeface="Arial"/>
                        </a:rPr>
                        <a:t>Công </a:t>
                      </a:r>
                      <a:r>
                        <a:rPr lang="en-US" sz="1600" b="1" i="0" u="none" strike="noStrike" cap="none" spc="0" dirty="0" err="1">
                          <a:solidFill>
                            <a:srgbClr val="000000"/>
                          </a:solidFill>
                          <a:latin typeface="Arial"/>
                          <a:cs typeface="Arial"/>
                          <a:sym typeface="Arial"/>
                        </a:rPr>
                        <a:t>nghệ</a:t>
                      </a:r>
                      <a:endParaRPr lang="en-US" sz="1600" b="1" i="0" u="none" strike="noStrike" cap="none" spc="0" dirty="0">
                        <a:solidFill>
                          <a:srgbClr val="000000"/>
                        </a:solidFill>
                        <a:latin typeface="Arial"/>
                        <a:cs typeface="Arial"/>
                        <a:sym typeface="Arial"/>
                      </a:endParaRPr>
                    </a:p>
                  </a:txBody>
                  <a:tcPr anchor="ctr"/>
                </a:tc>
                <a:tc>
                  <a:txBody>
                    <a:bodyPr/>
                    <a:lstStyle/>
                    <a:p>
                      <a:pPr algn="ctr">
                        <a:buNone/>
                      </a:pPr>
                      <a:r>
                        <a:rPr lang="en-US" sz="1600" b="1" i="0" u="none" strike="noStrike" cap="none" spc="0" dirty="0">
                          <a:solidFill>
                            <a:srgbClr val="000000"/>
                          </a:solidFill>
                          <a:latin typeface="Arial"/>
                          <a:cs typeface="Arial"/>
                          <a:sym typeface="Arial"/>
                        </a:rPr>
                        <a:t>Vai </a:t>
                      </a:r>
                      <a:r>
                        <a:rPr lang="en-US" sz="1600" b="1" i="0" u="none" strike="noStrike" cap="none" spc="0" dirty="0" err="1">
                          <a:solidFill>
                            <a:srgbClr val="000000"/>
                          </a:solidFill>
                          <a:latin typeface="Arial"/>
                          <a:cs typeface="Arial"/>
                          <a:sym typeface="Arial"/>
                        </a:rPr>
                        <a:t>trò</a:t>
                      </a:r>
                      <a:r>
                        <a:rPr lang="en-US" sz="1600" b="1" i="0" u="none" strike="noStrike" cap="none" spc="0" dirty="0">
                          <a:solidFill>
                            <a:srgbClr val="000000"/>
                          </a:solidFill>
                          <a:latin typeface="Arial"/>
                          <a:cs typeface="Arial"/>
                          <a:sym typeface="Arial"/>
                        </a:rPr>
                        <a:t> </a:t>
                      </a:r>
                      <a:r>
                        <a:rPr lang="en-US" sz="1600" b="1" i="0" u="none" strike="noStrike" cap="none" spc="0" dirty="0" err="1">
                          <a:solidFill>
                            <a:srgbClr val="000000"/>
                          </a:solidFill>
                          <a:latin typeface="Arial"/>
                          <a:cs typeface="Arial"/>
                          <a:sym typeface="Arial"/>
                        </a:rPr>
                        <a:t>chính</a:t>
                      </a:r>
                      <a:endParaRPr lang="en-US" sz="1600" b="1"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361541116"/>
                  </a:ext>
                </a:extLst>
              </a:tr>
              <a:tr h="393431">
                <a:tc>
                  <a:txBody>
                    <a:bodyPr/>
                    <a:lstStyle/>
                    <a:p>
                      <a:pPr>
                        <a:buNone/>
                      </a:pPr>
                      <a:r>
                        <a:rPr lang="en-US" sz="1600" b="0" i="0" u="none" strike="noStrike" cap="none" spc="0" dirty="0">
                          <a:solidFill>
                            <a:srgbClr val="000000"/>
                          </a:solidFill>
                          <a:latin typeface="Arial"/>
                          <a:cs typeface="Arial"/>
                          <a:sym typeface="Arial"/>
                        </a:rPr>
                        <a:t>Frontend</a:t>
                      </a:r>
                    </a:p>
                  </a:txBody>
                  <a:tcPr anchor="ctr"/>
                </a:tc>
                <a:tc>
                  <a:txBody>
                    <a:bodyPr/>
                    <a:lstStyle/>
                    <a:p>
                      <a:pPr>
                        <a:buNone/>
                      </a:pPr>
                      <a:r>
                        <a:rPr lang="en-US" sz="1600" b="0" i="0" u="none" strike="noStrike" cap="none" spc="0" dirty="0">
                          <a:solidFill>
                            <a:srgbClr val="000000"/>
                          </a:solidFill>
                          <a:latin typeface="Arial"/>
                          <a:cs typeface="Arial"/>
                          <a:sym typeface="Arial"/>
                        </a:rPr>
                        <a:t>ReactJS</a:t>
                      </a:r>
                    </a:p>
                  </a:txBody>
                  <a:tcPr anchor="ctr"/>
                </a:tc>
                <a:tc>
                  <a:txBody>
                    <a:bodyPr/>
                    <a:lstStyle/>
                    <a:p>
                      <a:pPr>
                        <a:buNone/>
                      </a:pPr>
                      <a:r>
                        <a:rPr lang="en-US" sz="1600" b="0" i="0" u="none" strike="noStrike" cap="none" spc="0" dirty="0" err="1">
                          <a:solidFill>
                            <a:srgbClr val="000000"/>
                          </a:solidFill>
                          <a:latin typeface="Arial"/>
                          <a:cs typeface="Arial"/>
                          <a:sym typeface="Arial"/>
                        </a:rPr>
                        <a:t>Xây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dựng</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giao</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diện</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người</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dùng</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2434063807"/>
                  </a:ext>
                </a:extLst>
              </a:tr>
              <a:tr h="393431">
                <a:tc>
                  <a:txBody>
                    <a:bodyPr/>
                    <a:lstStyle/>
                    <a:p>
                      <a:pPr>
                        <a:buNone/>
                      </a:pPr>
                      <a:r>
                        <a:rPr lang="en-US" sz="1600" b="0" i="0" u="none" strike="noStrike" cap="none" spc="0" dirty="0">
                          <a:solidFill>
                            <a:srgbClr val="000000"/>
                          </a:solidFill>
                          <a:latin typeface="Arial"/>
                          <a:cs typeface="Arial"/>
                          <a:sym typeface="Arial"/>
                        </a:rPr>
                        <a:t>Công </a:t>
                      </a:r>
                      <a:r>
                        <a:rPr lang="en-US" sz="1600" b="0" i="0" u="none" strike="noStrike" cap="none" spc="0" dirty="0" err="1">
                          <a:solidFill>
                            <a:srgbClr val="000000"/>
                          </a:solidFill>
                          <a:latin typeface="Arial"/>
                          <a:cs typeface="Arial"/>
                          <a:sym typeface="Arial"/>
                        </a:rPr>
                        <a:t>cụ</a:t>
                      </a:r>
                      <a:r>
                        <a:rPr lang="en-US" sz="1600" b="0" i="0" u="none" strike="noStrike" cap="none" spc="0" dirty="0">
                          <a:solidFill>
                            <a:srgbClr val="000000"/>
                          </a:solidFill>
                          <a:latin typeface="Arial"/>
                          <a:cs typeface="Arial"/>
                          <a:sym typeface="Arial"/>
                        </a:rPr>
                        <a:t> Frontend</a:t>
                      </a:r>
                    </a:p>
                  </a:txBody>
                  <a:tcPr anchor="ctr"/>
                </a:tc>
                <a:tc>
                  <a:txBody>
                    <a:bodyPr/>
                    <a:lstStyle/>
                    <a:p>
                      <a:pPr>
                        <a:buNone/>
                      </a:pPr>
                      <a:r>
                        <a:rPr lang="en-US" sz="1600" b="0" i="0" u="none" strike="noStrike" cap="none" spc="0" dirty="0">
                          <a:solidFill>
                            <a:srgbClr val="000000"/>
                          </a:solidFill>
                          <a:latin typeface="Arial"/>
                          <a:cs typeface="Arial"/>
                          <a:sym typeface="Arial"/>
                        </a:rPr>
                        <a:t>Vite</a:t>
                      </a:r>
                    </a:p>
                  </a:txBody>
                  <a:tcPr anchor="ctr"/>
                </a:tc>
                <a:tc>
                  <a:txBody>
                    <a:bodyPr/>
                    <a:lstStyle/>
                    <a:p>
                      <a:pPr>
                        <a:buNone/>
                      </a:pPr>
                      <a:r>
                        <a:rPr lang="en-US" sz="1600" b="0" i="0" u="none" strike="noStrike" cap="none" spc="0" dirty="0" err="1">
                          <a:solidFill>
                            <a:srgbClr val="000000"/>
                          </a:solidFill>
                          <a:latin typeface="Arial"/>
                          <a:cs typeface="Arial"/>
                          <a:sym typeface="Arial"/>
                        </a:rPr>
                        <a:t>Khởi</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tạo</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chạy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môi</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trường</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phát</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triển</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1711404299"/>
                  </a:ext>
                </a:extLst>
              </a:tr>
              <a:tr h="393431">
                <a:tc>
                  <a:txBody>
                    <a:bodyPr/>
                    <a:lstStyle/>
                    <a:p>
                      <a:pPr>
                        <a:buNone/>
                      </a:pPr>
                      <a:r>
                        <a:rPr lang="en-US" sz="1600" b="0" i="0" u="none" strike="noStrike" cap="none" spc="0" dirty="0">
                          <a:solidFill>
                            <a:srgbClr val="000000"/>
                          </a:solidFill>
                          <a:latin typeface="Arial"/>
                          <a:cs typeface="Arial"/>
                          <a:sym typeface="Arial"/>
                        </a:rPr>
                        <a:t>Giao </a:t>
                      </a:r>
                      <a:r>
                        <a:rPr lang="en-US" sz="1600" b="0" i="0" u="none" strike="noStrike" cap="none" spc="0" dirty="0" err="1">
                          <a:solidFill>
                            <a:srgbClr val="000000"/>
                          </a:solidFill>
                          <a:latin typeface="Arial"/>
                          <a:cs typeface="Arial"/>
                          <a:sym typeface="Arial"/>
                        </a:rPr>
                        <a:t>diện</a:t>
                      </a:r>
                      <a:endParaRPr lang="en-US" sz="1600" b="0" i="0" u="none" strike="noStrike" cap="none" spc="0" dirty="0">
                        <a:solidFill>
                          <a:srgbClr val="000000"/>
                        </a:solidFill>
                        <a:latin typeface="Arial"/>
                        <a:cs typeface="Arial"/>
                        <a:sym typeface="Arial"/>
                      </a:endParaRPr>
                    </a:p>
                  </a:txBody>
                  <a:tcPr anchor="ctr"/>
                </a:tc>
                <a:tc>
                  <a:txBody>
                    <a:bodyPr/>
                    <a:lstStyle/>
                    <a:p>
                      <a:pPr>
                        <a:buNone/>
                      </a:pPr>
                      <a:r>
                        <a:rPr lang="en-US" sz="1600" b="0" i="0" u="none" strike="noStrike" cap="none" spc="0" dirty="0">
                          <a:solidFill>
                            <a:srgbClr val="000000"/>
                          </a:solidFill>
                          <a:latin typeface="Arial"/>
                          <a:cs typeface="Arial"/>
                          <a:sym typeface="Arial"/>
                        </a:rPr>
                        <a:t>Tailwind CSS</a:t>
                      </a:r>
                    </a:p>
                  </a:txBody>
                  <a:tcPr anchor="ctr"/>
                </a:tc>
                <a:tc>
                  <a:txBody>
                    <a:bodyPr/>
                    <a:lstStyle/>
                    <a:p>
                      <a:pPr>
                        <a:buNone/>
                      </a:pPr>
                      <a:r>
                        <a:rPr lang="en-US" sz="1600" b="0" i="0" u="none" strike="noStrike" cap="none" spc="0" dirty="0" err="1">
                          <a:solidFill>
                            <a:srgbClr val="000000"/>
                          </a:solidFill>
                          <a:latin typeface="Arial"/>
                          <a:cs typeface="Arial"/>
                          <a:sym typeface="Arial"/>
                        </a:rPr>
                        <a:t>Thiết</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kế</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định</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dạng</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giao</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diện</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1244932021"/>
                  </a:ext>
                </a:extLst>
              </a:tr>
              <a:tr h="393431">
                <a:tc>
                  <a:txBody>
                    <a:bodyPr/>
                    <a:lstStyle/>
                    <a:p>
                      <a:pPr>
                        <a:buNone/>
                      </a:pPr>
                      <a:r>
                        <a:rPr lang="en-US" sz="1600" b="0" i="0" u="none" strike="noStrike" cap="none" spc="0" dirty="0">
                          <a:solidFill>
                            <a:srgbClr val="000000"/>
                          </a:solidFill>
                          <a:latin typeface="Arial"/>
                          <a:cs typeface="Arial"/>
                          <a:sym typeface="Arial"/>
                        </a:rPr>
                        <a:t>Backend</a:t>
                      </a:r>
                    </a:p>
                  </a:txBody>
                  <a:tcPr anchor="ctr"/>
                </a:tc>
                <a:tc>
                  <a:txBody>
                    <a:bodyPr/>
                    <a:lstStyle/>
                    <a:p>
                      <a:pPr>
                        <a:buNone/>
                      </a:pPr>
                      <a:r>
                        <a:rPr lang="en-US" sz="1600" b="0" i="0" u="none" strike="noStrike" cap="none" spc="0" dirty="0">
                          <a:solidFill>
                            <a:srgbClr val="000000"/>
                          </a:solidFill>
                          <a:latin typeface="Arial"/>
                          <a:cs typeface="Arial"/>
                          <a:sym typeface="Arial"/>
                        </a:rPr>
                        <a:t>Node.js</a:t>
                      </a:r>
                    </a:p>
                  </a:txBody>
                  <a:tcPr anchor="ctr"/>
                </a:tc>
                <a:tc>
                  <a:txBody>
                    <a:bodyPr/>
                    <a:lstStyle/>
                    <a:p>
                      <a:pPr>
                        <a:buNone/>
                      </a:pPr>
                      <a:r>
                        <a:rPr lang="en-US" sz="1600" b="0" i="0" u="none" strike="noStrike" cap="none" spc="0" dirty="0" err="1">
                          <a:solidFill>
                            <a:srgbClr val="000000"/>
                          </a:solidFill>
                          <a:latin typeface="Arial"/>
                          <a:cs typeface="Arial"/>
                          <a:sym typeface="Arial"/>
                        </a:rPr>
                        <a:t>Chạy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mã</a:t>
                      </a:r>
                      <a:r>
                        <a:rPr lang="en-US" sz="1600" b="0" i="0" u="none" strike="noStrike" cap="none" spc="0" dirty="0">
                          <a:solidFill>
                            <a:srgbClr val="000000"/>
                          </a:solidFill>
                          <a:latin typeface="Arial"/>
                          <a:cs typeface="Arial"/>
                          <a:sym typeface="Arial"/>
                        </a:rPr>
                        <a:t> JavaScript </a:t>
                      </a:r>
                      <a:r>
                        <a:rPr lang="en-US" sz="1600" b="0" i="0" u="none" strike="noStrike" cap="none" spc="0" dirty="0" err="1">
                          <a:solidFill>
                            <a:srgbClr val="000000"/>
                          </a:solidFill>
                          <a:latin typeface="Arial"/>
                          <a:cs typeface="Arial"/>
                          <a:sym typeface="Arial"/>
                        </a:rPr>
                        <a:t>phía</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máy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chủ</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3513700199"/>
                  </a:ext>
                </a:extLst>
              </a:tr>
              <a:tr h="393431">
                <a:tc>
                  <a:txBody>
                    <a:bodyPr/>
                    <a:lstStyle/>
                    <a:p>
                      <a:pPr>
                        <a:buNone/>
                      </a:pPr>
                      <a:r>
                        <a:rPr lang="en-US" sz="1600" b="0" i="0" u="none" strike="noStrike" cap="none" spc="0" dirty="0">
                          <a:solidFill>
                            <a:srgbClr val="000000"/>
                          </a:solidFill>
                          <a:latin typeface="Arial"/>
                          <a:cs typeface="Arial"/>
                          <a:sym typeface="Arial"/>
                        </a:rPr>
                        <a:t>Framework Backend</a:t>
                      </a:r>
                    </a:p>
                  </a:txBody>
                  <a:tcPr anchor="ctr"/>
                </a:tc>
                <a:tc>
                  <a:txBody>
                    <a:bodyPr/>
                    <a:lstStyle/>
                    <a:p>
                      <a:pPr>
                        <a:buNone/>
                      </a:pPr>
                      <a:r>
                        <a:rPr lang="en-US" sz="1600" b="0" i="0" u="none" strike="noStrike" cap="none" spc="0" dirty="0">
                          <a:solidFill>
                            <a:srgbClr val="000000"/>
                          </a:solidFill>
                          <a:latin typeface="Arial"/>
                          <a:cs typeface="Arial"/>
                          <a:sym typeface="Arial"/>
                        </a:rPr>
                        <a:t>Express.js</a:t>
                      </a:r>
                    </a:p>
                  </a:txBody>
                  <a:tcPr anchor="ctr"/>
                </a:tc>
                <a:tc>
                  <a:txBody>
                    <a:bodyPr/>
                    <a:lstStyle/>
                    <a:p>
                      <a:pPr>
                        <a:buNone/>
                      </a:pPr>
                      <a:r>
                        <a:rPr lang="en-US" sz="1600" b="0" i="0" u="none" strike="noStrike" cap="none" spc="0" dirty="0" err="1">
                          <a:solidFill>
                            <a:srgbClr val="000000"/>
                          </a:solidFill>
                          <a:latin typeface="Arial"/>
                          <a:cs typeface="Arial"/>
                          <a:sym typeface="Arial"/>
                        </a:rPr>
                        <a:t>Xây</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dựng</a:t>
                      </a:r>
                      <a:r>
                        <a:rPr lang="en-US" sz="1600" b="0" i="0" u="none" strike="noStrike" cap="none" spc="0" dirty="0">
                          <a:solidFill>
                            <a:srgbClr val="000000"/>
                          </a:solidFill>
                          <a:latin typeface="Arial"/>
                          <a:cs typeface="Arial"/>
                          <a:sym typeface="Arial"/>
                        </a:rPr>
                        <a:t> REST API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xử</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lý</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yêu</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cầu</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3388440470"/>
                  </a:ext>
                </a:extLst>
              </a:tr>
              <a:tr h="393431">
                <a:tc>
                  <a:txBody>
                    <a:bodyPr/>
                    <a:lstStyle/>
                    <a:p>
                      <a:pPr>
                        <a:buNone/>
                      </a:pPr>
                      <a:r>
                        <a:rPr lang="en-US" sz="1600" b="0" i="0" u="none" strike="noStrike" cap="none" spc="0" dirty="0">
                          <a:solidFill>
                            <a:srgbClr val="000000"/>
                          </a:solidFill>
                          <a:latin typeface="Arial"/>
                          <a:cs typeface="Arial"/>
                          <a:sym typeface="Arial"/>
                        </a:rPr>
                        <a:t>Database</a:t>
                      </a:r>
                    </a:p>
                  </a:txBody>
                  <a:tcPr anchor="ctr"/>
                </a:tc>
                <a:tc>
                  <a:txBody>
                    <a:bodyPr/>
                    <a:lstStyle/>
                    <a:p>
                      <a:pPr>
                        <a:buNone/>
                      </a:pPr>
                      <a:r>
                        <a:rPr lang="en-US" sz="1600" b="0" i="0" u="none" strike="noStrike" cap="none" spc="0" dirty="0">
                          <a:solidFill>
                            <a:srgbClr val="000000"/>
                          </a:solidFill>
                          <a:latin typeface="Arial"/>
                          <a:cs typeface="Arial"/>
                          <a:sym typeface="Arial"/>
                        </a:rPr>
                        <a:t>PostgreSQL</a:t>
                      </a:r>
                    </a:p>
                  </a:txBody>
                  <a:tcPr anchor="ctr"/>
                </a:tc>
                <a:tc>
                  <a:txBody>
                    <a:bodyPr/>
                    <a:lstStyle/>
                    <a:p>
                      <a:pPr>
                        <a:buNone/>
                      </a:pPr>
                      <a:r>
                        <a:rPr lang="en-US" sz="1600" b="0" i="0" u="none" strike="noStrike" cap="none" spc="0" dirty="0">
                          <a:solidFill>
                            <a:srgbClr val="000000"/>
                          </a:solidFill>
                          <a:latin typeface="Arial"/>
                          <a:cs typeface="Arial"/>
                          <a:sym typeface="Arial"/>
                        </a:rPr>
                        <a:t>Lưu </a:t>
                      </a:r>
                      <a:r>
                        <a:rPr lang="en-US" sz="1600" b="0" i="0" u="none" strike="noStrike" cap="none" spc="0" dirty="0" err="1">
                          <a:solidFill>
                            <a:srgbClr val="000000"/>
                          </a:solidFill>
                          <a:latin typeface="Arial"/>
                          <a:cs typeface="Arial"/>
                          <a:sym typeface="Arial"/>
                        </a:rPr>
                        <a:t>trữ</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và</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quản</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lý</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dữ</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liệu</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quan</a:t>
                      </a:r>
                      <a:r>
                        <a:rPr lang="en-US" sz="1600" b="0" i="0" u="none" strike="noStrike" cap="none" spc="0" dirty="0">
                          <a:solidFill>
                            <a:srgbClr val="000000"/>
                          </a:solidFill>
                          <a:latin typeface="Arial"/>
                          <a:cs typeface="Arial"/>
                          <a:sym typeface="Arial"/>
                        </a:rPr>
                        <a:t> </a:t>
                      </a:r>
                      <a:r>
                        <a:rPr lang="en-US" sz="1600" b="0" i="0" u="none" strike="noStrike" cap="none" spc="0" dirty="0" err="1">
                          <a:solidFill>
                            <a:srgbClr val="000000"/>
                          </a:solidFill>
                          <a:latin typeface="Arial"/>
                          <a:cs typeface="Arial"/>
                          <a:sym typeface="Arial"/>
                        </a:rPr>
                        <a:t>hệ</a:t>
                      </a:r>
                      <a:endParaRPr lang="en-US" sz="1600" b="0" i="0" u="none" strike="noStrike" cap="none" spc="0" dirty="0">
                        <a:solidFill>
                          <a:srgbClr val="000000"/>
                        </a:solidFill>
                        <a:latin typeface="Arial"/>
                        <a:cs typeface="Arial"/>
                        <a:sym typeface="Arial"/>
                      </a:endParaRPr>
                    </a:p>
                  </a:txBody>
                  <a:tcPr anchor="ctr"/>
                </a:tc>
                <a:extLst>
                  <a:ext uri="{0D108BD9-81ED-4DB2-BD59-A6C34878D82A}">
                    <a16:rowId xmlns:a16="http://schemas.microsoft.com/office/drawing/2014/main" val="515178304"/>
                  </a:ext>
                </a:extLst>
              </a:tr>
            </a:tbl>
          </a:graphicData>
        </a:graphic>
      </p:graphicFrame>
      <p:sp>
        <p:nvSpPr>
          <p:cNvPr id="7" name="TextBox 6">
            <a:extLst>
              <a:ext uri="{FF2B5EF4-FFF2-40B4-BE49-F238E27FC236}">
                <a16:creationId xmlns:a16="http://schemas.microsoft.com/office/drawing/2014/main" id="{6CF98C2C-ECC3-81A4-065D-406FDE0994A9}"/>
              </a:ext>
            </a:extLst>
          </p:cNvPr>
          <p:cNvSpPr txBox="1"/>
          <p:nvPr/>
        </p:nvSpPr>
        <p:spPr>
          <a:xfrm>
            <a:off x="338736" y="878860"/>
            <a:ext cx="6096000" cy="523220"/>
          </a:xfrm>
          <a:prstGeom prst="rect">
            <a:avLst/>
          </a:prstGeom>
          <a:noFill/>
        </p:spPr>
        <p:txBody>
          <a:bodyPr wrap="square">
            <a:spAutoFit/>
          </a:bodyPr>
          <a:lstStyle/>
          <a:p>
            <a:pPr marL="50800" indent="0">
              <a:buNone/>
            </a:pPr>
            <a:r>
              <a:rPr lang="en-US" sz="2800" b="1" dirty="0">
                <a:latin typeface="+mn-lt"/>
              </a:rPr>
              <a:t>c</a:t>
            </a:r>
            <a:r>
              <a:rPr lang="vi-VN" sz="2800" b="1" dirty="0">
                <a:latin typeface="+mn-lt"/>
              </a:rPr>
              <a:t>. Giải pháp:</a:t>
            </a:r>
          </a:p>
        </p:txBody>
      </p:sp>
    </p:spTree>
    <p:extLst>
      <p:ext uri="{BB962C8B-B14F-4D97-AF65-F5344CB8AC3E}">
        <p14:creationId xmlns:p14="http://schemas.microsoft.com/office/powerpoint/2010/main" val="2873644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28D18E0E-877F-5A10-8F07-49B16812159E}"/>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E6070F54-08EA-2DEC-DA4A-84744D4790F0}"/>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D3A66C83-82E8-A306-80DF-45FA9784AA71}"/>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3. </a:t>
            </a:r>
            <a:r>
              <a:rPr lang="en-US" dirty="0" err="1">
                <a:solidFill>
                  <a:srgbClr val="FF0000"/>
                </a:solidFill>
                <a:latin typeface="Arial"/>
                <a:ea typeface="Arial"/>
                <a:cs typeface="Arial"/>
                <a:sym typeface="Arial"/>
              </a:rPr>
              <a:t>Phân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tích</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yêu</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cầu</a:t>
            </a:r>
            <a:endParaRPr lang="en-US"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4. </a:t>
            </a:r>
            <a:r>
              <a:rPr lang="en-US" dirty="0" err="1">
                <a:latin typeface="Arial"/>
                <a:ea typeface="Arial"/>
                <a:cs typeface="Arial"/>
                <a:sym typeface="Arial"/>
              </a:rPr>
              <a:t>Phân</a:t>
            </a:r>
            <a:r>
              <a:rPr lang="en-US" dirty="0">
                <a:latin typeface="Arial"/>
                <a:ea typeface="Arial"/>
                <a:cs typeface="Arial"/>
                <a:sym typeface="Arial"/>
              </a:rPr>
              <a:t> </a:t>
            </a:r>
            <a:r>
              <a:rPr lang="en-US" dirty="0" err="1">
                <a:latin typeface="Arial"/>
                <a:ea typeface="Arial"/>
                <a:cs typeface="Arial"/>
                <a:sym typeface="Arial"/>
              </a:rPr>
              <a:t>tích</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vi-VN"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44421B97-843C-E3A9-C3C1-0B4B2B86A65D}"/>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091656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8021-C656-C3E8-AE1F-634858C9292A}"/>
              </a:ext>
            </a:extLst>
          </p:cNvPr>
          <p:cNvSpPr>
            <a:spLocks noGrp="1"/>
          </p:cNvSpPr>
          <p:nvPr>
            <p:ph type="title"/>
          </p:nvPr>
        </p:nvSpPr>
        <p:spPr/>
        <p:txBody>
          <a:bodyPr/>
          <a:lstStyle/>
          <a:p>
            <a:pPr algn="ctr"/>
            <a:r>
              <a:rPr lang="vi-VN" dirty="0"/>
              <a:t>Đặc tả </a:t>
            </a:r>
            <a:r>
              <a:rPr lang="vi-VN" dirty="0" err="1"/>
              <a:t>User</a:t>
            </a:r>
            <a:r>
              <a:rPr lang="vi-VN" dirty="0"/>
              <a:t> </a:t>
            </a:r>
            <a:r>
              <a:rPr lang="vi-VN" dirty="0" err="1"/>
              <a:t>Story</a:t>
            </a:r>
            <a:endParaRPr lang="en-US" dirty="0"/>
          </a:p>
        </p:txBody>
      </p:sp>
      <p:sp>
        <p:nvSpPr>
          <p:cNvPr id="4" name="Slide Number Placeholder 3">
            <a:extLst>
              <a:ext uri="{FF2B5EF4-FFF2-40B4-BE49-F238E27FC236}">
                <a16:creationId xmlns:a16="http://schemas.microsoft.com/office/drawing/2014/main" id="{DA0926CE-2942-1B1C-87E2-8DED92DA19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graphicFrame>
        <p:nvGraphicFramePr>
          <p:cNvPr id="6" name="Table 5">
            <a:extLst>
              <a:ext uri="{FF2B5EF4-FFF2-40B4-BE49-F238E27FC236}">
                <a16:creationId xmlns:a16="http://schemas.microsoft.com/office/drawing/2014/main" id="{2A4C31ED-54F3-1FCB-B20B-470E39054AEC}"/>
              </a:ext>
            </a:extLst>
          </p:cNvPr>
          <p:cNvGraphicFramePr>
            <a:graphicFrameLocks noGrp="1"/>
          </p:cNvGraphicFramePr>
          <p:nvPr>
            <p:extLst>
              <p:ext uri="{D42A27DB-BD31-4B8C-83A1-F6EECF244321}">
                <p14:modId xmlns:p14="http://schemas.microsoft.com/office/powerpoint/2010/main" val="3919846122"/>
              </p:ext>
            </p:extLst>
          </p:nvPr>
        </p:nvGraphicFramePr>
        <p:xfrm>
          <a:off x="1283109" y="953730"/>
          <a:ext cx="9625781" cy="5240379"/>
        </p:xfrm>
        <a:graphic>
          <a:graphicData uri="http://schemas.openxmlformats.org/drawingml/2006/table">
            <a:tbl>
              <a:tblPr firstRow="1" bandRow="1">
                <a:tableStyleId>{01511797-984D-44DA-BBBC-5FB16A20FFCF}</a:tableStyleId>
              </a:tblPr>
              <a:tblGrid>
                <a:gridCol w="1666193">
                  <a:extLst>
                    <a:ext uri="{9D8B030D-6E8A-4147-A177-3AD203B41FA5}">
                      <a16:colId xmlns:a16="http://schemas.microsoft.com/office/drawing/2014/main" val="3226489531"/>
                    </a:ext>
                  </a:extLst>
                </a:gridCol>
                <a:gridCol w="2640360">
                  <a:extLst>
                    <a:ext uri="{9D8B030D-6E8A-4147-A177-3AD203B41FA5}">
                      <a16:colId xmlns:a16="http://schemas.microsoft.com/office/drawing/2014/main" val="1581172824"/>
                    </a:ext>
                  </a:extLst>
                </a:gridCol>
                <a:gridCol w="2666032">
                  <a:extLst>
                    <a:ext uri="{9D8B030D-6E8A-4147-A177-3AD203B41FA5}">
                      <a16:colId xmlns:a16="http://schemas.microsoft.com/office/drawing/2014/main" val="533597153"/>
                    </a:ext>
                  </a:extLst>
                </a:gridCol>
                <a:gridCol w="2653196">
                  <a:extLst>
                    <a:ext uri="{9D8B030D-6E8A-4147-A177-3AD203B41FA5}">
                      <a16:colId xmlns:a16="http://schemas.microsoft.com/office/drawing/2014/main" val="3116429725"/>
                    </a:ext>
                  </a:extLst>
                </a:gridCol>
              </a:tblGrid>
              <a:tr h="553357">
                <a:tc>
                  <a:txBody>
                    <a:bodyPr/>
                    <a:lstStyle/>
                    <a:p>
                      <a:pPr algn="ctr"/>
                      <a:r>
                        <a:rPr lang="vi-VN" sz="1400" b="1" i="0" u="none" strike="noStrike" cap="none" spc="0" dirty="0">
                          <a:solidFill>
                            <a:srgbClr val="000000"/>
                          </a:solidFill>
                          <a:latin typeface="Arial"/>
                          <a:cs typeface="Arial"/>
                          <a:sym typeface="Arial"/>
                        </a:rPr>
                        <a:t>Mã </a:t>
                      </a:r>
                      <a:r>
                        <a:rPr lang="vi-VN" sz="1400" b="1" i="0" u="none" strike="noStrike" cap="none" spc="0" dirty="0" err="1">
                          <a:solidFill>
                            <a:srgbClr val="000000"/>
                          </a:solidFill>
                          <a:latin typeface="Arial"/>
                          <a:cs typeface="Arial"/>
                          <a:sym typeface="Arial"/>
                        </a:rPr>
                        <a:t>User</a:t>
                      </a:r>
                      <a:r>
                        <a:rPr lang="vi-VN" sz="1400" b="1" i="0" u="none" strike="noStrike" cap="none" spc="0" dirty="0">
                          <a:solidFill>
                            <a:srgbClr val="000000"/>
                          </a:solidFill>
                          <a:latin typeface="Arial"/>
                          <a:cs typeface="Arial"/>
                          <a:sym typeface="Arial"/>
                        </a:rPr>
                        <a:t> </a:t>
                      </a:r>
                      <a:r>
                        <a:rPr lang="vi-VN" sz="1400" b="1" i="0" u="none" strike="noStrike" cap="none" spc="0" dirty="0" err="1">
                          <a:solidFill>
                            <a:srgbClr val="000000"/>
                          </a:solidFill>
                          <a:latin typeface="Arial"/>
                          <a:cs typeface="Arial"/>
                          <a:sym typeface="Arial"/>
                        </a:rPr>
                        <a:t>Story</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i="0" u="none" strike="noStrike" cap="none" spc="0" dirty="0">
                          <a:solidFill>
                            <a:srgbClr val="000000"/>
                          </a:solidFill>
                          <a:latin typeface="Arial"/>
                          <a:cs typeface="Arial"/>
                          <a:sym typeface="Arial"/>
                        </a:rPr>
                        <a:t>Là (Vai trò)</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i="0" u="none" strike="noStrike" cap="none" spc="0" dirty="0">
                          <a:solidFill>
                            <a:srgbClr val="000000"/>
                          </a:solidFill>
                          <a:latin typeface="Arial"/>
                          <a:cs typeface="Arial"/>
                          <a:sym typeface="Arial"/>
                        </a:rPr>
                        <a:t>Tôi muốn (Hành động / Nhu cầu)</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i="0" u="none" strike="noStrike" cap="none" spc="0" dirty="0">
                          <a:solidFill>
                            <a:srgbClr val="000000"/>
                          </a:solidFill>
                          <a:latin typeface="Arial"/>
                          <a:cs typeface="Arial"/>
                          <a:sym typeface="Arial"/>
                        </a:rPr>
                        <a:t>Để (Mục đích / Giá trị nhận được)</a:t>
                      </a:r>
                      <a:endParaRPr lang="en-US" sz="1400" b="1"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836055"/>
                  </a:ext>
                </a:extLst>
              </a:tr>
              <a:tr h="834245">
                <a:tc>
                  <a:txBody>
                    <a:bodyPr/>
                    <a:lstStyle/>
                    <a:p>
                      <a:pPr algn="ctr"/>
                      <a:r>
                        <a:rPr lang="vi-VN" sz="1400" b="0" i="0" u="none" strike="noStrike" cap="none" spc="0" dirty="0">
                          <a:solidFill>
                            <a:srgbClr val="000000"/>
                          </a:solidFill>
                          <a:latin typeface="Arial"/>
                          <a:cs typeface="Arial"/>
                          <a:sym typeface="Arial"/>
                        </a:rPr>
                        <a:t>US01</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Người dùng (Chủ nhà / Người thuê)</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Đăng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bằng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tài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mật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khẩu</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Truy</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sử</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dụng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chức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năng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phù</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hợp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vai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trò</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được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phân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quyền</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7810077"/>
                  </a:ext>
                </a:extLst>
              </a:tr>
              <a:tr h="645868">
                <a:tc>
                  <a:txBody>
                    <a:bodyPr/>
                    <a:lstStyle/>
                    <a:p>
                      <a:pPr algn="ctr"/>
                      <a:r>
                        <a:rPr lang="vi-VN" sz="1400" b="0" i="0" u="none" strike="noStrike" cap="none" spc="0" dirty="0">
                          <a:solidFill>
                            <a:srgbClr val="000000"/>
                          </a:solidFill>
                          <a:latin typeface="Arial"/>
                          <a:cs typeface="Arial"/>
                          <a:sym typeface="Arial"/>
                        </a:rPr>
                        <a:t>US02</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Người dùng (Chủ nhà / Người thuê)</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Đăng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xuất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khỏi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sau</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kết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thúc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phiên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làm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việc</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latin typeface="Arial"/>
                          <a:ea typeface="Arial"/>
                          <a:cs typeface="Arial"/>
                          <a:sym typeface="Arial"/>
                        </a:rPr>
                        <a:t>Bảo </a:t>
                      </a:r>
                      <a:r>
                        <a:rPr lang="en-US" sz="1400" b="0" i="0" u="none" strike="noStrike" cap="none" spc="0" dirty="0" err="1">
                          <a:solidFill>
                            <a:srgbClr val="000000"/>
                          </a:solidFill>
                          <a:latin typeface="Arial"/>
                          <a:ea typeface="Arial"/>
                          <a:cs typeface="Arial"/>
                          <a:sym typeface="Arial"/>
                        </a:rPr>
                        <a:t>mật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tài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cá</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nhân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thiết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bị</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truy</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163618"/>
                  </a:ext>
                </a:extLst>
              </a:tr>
              <a:tr h="834245">
                <a:tc>
                  <a:txBody>
                    <a:bodyPr/>
                    <a:lstStyle/>
                    <a:p>
                      <a:pPr algn="ctr"/>
                      <a:r>
                        <a:rPr lang="vi-VN" sz="1400" b="0" i="0" u="none" strike="noStrike" cap="none" spc="0" dirty="0">
                          <a:solidFill>
                            <a:srgbClr val="000000"/>
                          </a:solidFill>
                          <a:latin typeface="Arial"/>
                          <a:cs typeface="Arial"/>
                          <a:sym typeface="Arial"/>
                        </a:rPr>
                        <a:t>US03</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Chủ</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nhà</a:t>
                      </a:r>
                      <a:r>
                        <a:rPr lang="en-US" sz="1400" b="0" i="0" u="none" strike="noStrike" cap="none" spc="0" dirty="0">
                          <a:solidFill>
                            <a:srgbClr val="000000"/>
                          </a:solidFill>
                          <a:latin typeface="Arial"/>
                          <a:ea typeface="Arial"/>
                          <a:cs typeface="Arial"/>
                          <a:sym typeface="Arial"/>
                        </a:rPr>
                        <a:t> /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latin typeface="Arial"/>
                          <a:ea typeface="Arial"/>
                          <a:cs typeface="Arial"/>
                          <a:sym typeface="Arial"/>
                        </a:rPr>
                        <a:t>Quản </a:t>
                      </a:r>
                      <a:r>
                        <a:rPr lang="en-US" sz="1400" b="0" i="0" u="none" strike="noStrike" cap="none" spc="0" dirty="0" err="1">
                          <a:solidFill>
                            <a:srgbClr val="000000"/>
                          </a:solidFill>
                          <a:latin typeface="Arial"/>
                          <a:ea typeface="Arial"/>
                          <a:cs typeface="Arial"/>
                          <a:sym typeface="Arial"/>
                        </a:rPr>
                        <a:t>lý</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tài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phân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quyền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truy</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từng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dùng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Đảm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bảo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chỉ</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được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xem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thuộc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hợp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đồng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của</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mình</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7253083"/>
                  </a:ext>
                </a:extLst>
              </a:tr>
              <a:tr h="834245">
                <a:tc>
                  <a:txBody>
                    <a:bodyPr/>
                    <a:lstStyle/>
                    <a:p>
                      <a:pPr algn="ctr"/>
                      <a:r>
                        <a:rPr lang="vi-VN" sz="1400" b="0" i="0" u="none" strike="noStrike" cap="none" spc="0" dirty="0">
                          <a:solidFill>
                            <a:srgbClr val="000000"/>
                          </a:solidFill>
                          <a:latin typeface="Arial"/>
                          <a:cs typeface="Arial"/>
                          <a:sym typeface="Arial"/>
                        </a:rPr>
                        <a:t>US04</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spc="0" dirty="0" err="1">
                          <a:solidFill>
                            <a:srgbClr val="000000"/>
                          </a:solidFill>
                          <a:latin typeface="Arial"/>
                          <a:ea typeface="Arial"/>
                          <a:cs typeface="Arial"/>
                          <a:sym typeface="Arial"/>
                        </a:rPr>
                        <a:t>Chủ</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nhà</a:t>
                      </a:r>
                      <a:r>
                        <a:rPr lang="en-US" sz="1400" b="0" i="0" u="none" strike="noStrike" cap="none" spc="0" dirty="0">
                          <a:solidFill>
                            <a:srgbClr val="000000"/>
                          </a:solidFill>
                          <a:latin typeface="Arial"/>
                          <a:ea typeface="Arial"/>
                          <a:cs typeface="Arial"/>
                          <a:sym typeface="Arial"/>
                        </a:rPr>
                        <a:t> /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endParaRPr lang="en-US" sz="1400" b="0" i="0" u="none" strike="noStrike" cap="none" spc="0" dirty="0">
                        <a:solidFill>
                          <a:srgbClr val="000000"/>
                        </a:solidFill>
                        <a:latin typeface="Arial"/>
                        <a:cs typeface="Arial"/>
                        <a:sym typeface="Arial"/>
                      </a:endParaRPr>
                    </a:p>
                    <a:p>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Thêm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trọ</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mã</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diện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tích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giá</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trạng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thái</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Đưa</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danh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sách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trung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752351"/>
                  </a:ext>
                </a:extLst>
              </a:tr>
              <a:tr h="327418">
                <a:tc>
                  <a:txBody>
                    <a:bodyPr/>
                    <a:lstStyle/>
                    <a:p>
                      <a:pPr algn="ctr"/>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latin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573307"/>
                  </a:ext>
                </a:extLst>
              </a:tr>
              <a:tr h="1211001">
                <a:tc>
                  <a:txBody>
                    <a:bodyPr/>
                    <a:lstStyle/>
                    <a:p>
                      <a:pPr algn="ctr"/>
                      <a:r>
                        <a:rPr lang="vi-VN" sz="1400" b="0" i="0" u="none" strike="noStrike" cap="none" spc="0" dirty="0">
                          <a:solidFill>
                            <a:srgbClr val="000000"/>
                          </a:solidFill>
                          <a:latin typeface="Arial"/>
                          <a:cs typeface="Arial"/>
                          <a:sym typeface="Arial"/>
                        </a:rPr>
                        <a:t>US29</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dùng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Chủ</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nhà</a:t>
                      </a:r>
                      <a:r>
                        <a:rPr lang="en-US" sz="1400" b="0" i="0" u="none" strike="noStrike" cap="none" spc="0" dirty="0">
                          <a:solidFill>
                            <a:srgbClr val="000000"/>
                          </a:solidFill>
                          <a:latin typeface="Arial"/>
                          <a:ea typeface="Arial"/>
                          <a:cs typeface="Arial"/>
                          <a:sym typeface="Arial"/>
                        </a:rPr>
                        <a:t> / </a:t>
                      </a:r>
                      <a:r>
                        <a:rPr lang="en-US" sz="1400" b="0" i="0" u="none" strike="noStrike" cap="none" spc="0" dirty="0" err="1">
                          <a:solidFill>
                            <a:srgbClr val="000000"/>
                          </a:solidFill>
                          <a:latin typeface="Arial"/>
                          <a:ea typeface="Arial"/>
                          <a:cs typeface="Arial"/>
                          <a:sym typeface="Arial"/>
                        </a:rPr>
                        <a:t>Người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Nhận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xem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báo</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tự</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động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từ</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hệ</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thống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liên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quan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đến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hóa</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đơn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mới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khoản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phí</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hợp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đồng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hoặc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cập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nhật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sự</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cố</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latin typeface="Arial"/>
                          <a:ea typeface="Arial"/>
                          <a:cs typeface="Arial"/>
                          <a:sym typeface="Arial"/>
                        </a:rPr>
                        <a:t>Nắm</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bắt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kịp</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thời</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các</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thông</a:t>
                      </a:r>
                      <a:r>
                        <a:rPr lang="en-US" sz="1400" b="0" i="0" u="none" strike="noStrike" cap="none" spc="0" dirty="0">
                          <a:solidFill>
                            <a:srgbClr val="000000"/>
                          </a:solidFill>
                          <a:latin typeface="Arial"/>
                          <a:ea typeface="Arial"/>
                          <a:cs typeface="Arial"/>
                          <a:sym typeface="Arial"/>
                        </a:rPr>
                        <a:t> tin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sự</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kiện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quan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trọng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phát</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sinh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trong</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quá</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trình</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quản</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lý</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và</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thuê</a:t>
                      </a:r>
                      <a:r>
                        <a:rPr lang="en-US" sz="1400" b="0" i="0" u="none" strike="noStrike" cap="none" spc="0" dirty="0">
                          <a:solidFill>
                            <a:srgbClr val="000000"/>
                          </a:solidFill>
                          <a:latin typeface="Arial"/>
                          <a:ea typeface="Arial"/>
                          <a:cs typeface="Arial"/>
                          <a:sym typeface="Arial"/>
                        </a:rPr>
                        <a:t> </a:t>
                      </a:r>
                      <a:r>
                        <a:rPr lang="en-US" sz="1400" b="0" i="0" u="none" strike="noStrike" cap="none" spc="0" dirty="0" err="1">
                          <a:solidFill>
                            <a:srgbClr val="000000"/>
                          </a:solidFill>
                          <a:latin typeface="Arial"/>
                          <a:ea typeface="Arial"/>
                          <a:cs typeface="Arial"/>
                          <a:sym typeface="Arial"/>
                        </a:rPr>
                        <a:t>phòng</a:t>
                      </a:r>
                      <a:r>
                        <a:rPr lang="en-US" sz="1400" b="0" i="0" u="none" strike="noStrike" cap="none" spc="0" dirty="0">
                          <a:solidFill>
                            <a:srgbClr val="000000"/>
                          </a:solidFill>
                          <a:latin typeface="Arial"/>
                          <a:ea typeface="Arial"/>
                          <a:cs typeface="Arial"/>
                          <a:sym typeface="Arial"/>
                        </a:rPr>
                        <a:t>.</a:t>
                      </a:r>
                      <a:endParaRPr lang="en-US" sz="1400" b="0" i="0" u="none" strike="noStrike" cap="none" spc="0"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471067"/>
                  </a:ext>
                </a:extLst>
              </a:tr>
            </a:tbl>
          </a:graphicData>
        </a:graphic>
      </p:graphicFrame>
    </p:spTree>
    <p:extLst>
      <p:ext uri="{BB962C8B-B14F-4D97-AF65-F5344CB8AC3E}">
        <p14:creationId xmlns:p14="http://schemas.microsoft.com/office/powerpoint/2010/main" val="934111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a:t>Sơ đồ </a:t>
            </a:r>
            <a:r>
              <a:rPr lang="en-US" dirty="0" err="1"/>
              <a:t>phân</a:t>
            </a:r>
            <a:r>
              <a:rPr lang="en-US" dirty="0"/>
              <a:t> </a:t>
            </a:r>
            <a:r>
              <a:rPr lang="en-US" dirty="0" err="1"/>
              <a:t>cấp</a:t>
            </a:r>
            <a:r>
              <a:rPr lang="en-US" dirty="0"/>
              <a:t> </a:t>
            </a:r>
            <a:r>
              <a:rPr lang="en-US" dirty="0" err="1"/>
              <a:t>chức</a:t>
            </a:r>
            <a:r>
              <a:rPr lang="en-US" dirty="0"/>
              <a:t> </a:t>
            </a:r>
            <a:r>
              <a:rPr lang="en-US" dirty="0" err="1"/>
              <a:t>năng</a:t>
            </a:r>
            <a:endParaRPr dirty="0"/>
          </a:p>
        </p:txBody>
      </p:sp>
      <p:sp>
        <p:nvSpPr>
          <p:cNvPr id="191" name="Google Shape;191;p30"/>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dirty="0"/>
          </a:p>
        </p:txBody>
      </p:sp>
      <p:pic>
        <p:nvPicPr>
          <p:cNvPr id="2" name="Picture 1">
            <a:extLst>
              <a:ext uri="{FF2B5EF4-FFF2-40B4-BE49-F238E27FC236}">
                <a16:creationId xmlns:a16="http://schemas.microsoft.com/office/drawing/2014/main" id="{D2C3AF8C-45AE-0503-CE9B-8733046D99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50" y="1174279"/>
            <a:ext cx="10950499" cy="450944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55A7CCD-4E28-E03B-BBF1-E185E8E6B067}"/>
            </a:ext>
          </a:extLst>
        </p:cNvPr>
        <p:cNvGrpSpPr/>
        <p:nvPr/>
      </p:nvGrpSpPr>
      <p:grpSpPr>
        <a:xfrm>
          <a:off x="0" y="0"/>
          <a:ext cx="0" cy="0"/>
          <a:chOff x="0" y="0"/>
          <a:chExt cx="0" cy="0"/>
        </a:xfrm>
      </p:grpSpPr>
      <p:sp>
        <p:nvSpPr>
          <p:cNvPr id="188" name="Google Shape;188;p30">
            <a:extLst>
              <a:ext uri="{FF2B5EF4-FFF2-40B4-BE49-F238E27FC236}">
                <a16:creationId xmlns:a16="http://schemas.microsoft.com/office/drawing/2014/main" id="{C362E631-F3CF-19D7-0FA1-9C078F4B2B2F}"/>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err="1"/>
              <a:t>Yêu</a:t>
            </a:r>
            <a:r>
              <a:rPr lang="en-US" dirty="0"/>
              <a:t> </a:t>
            </a:r>
            <a:r>
              <a:rPr lang="en-US" dirty="0" err="1"/>
              <a:t>cầu</a:t>
            </a:r>
            <a:r>
              <a:rPr lang="en-US" dirty="0"/>
              <a:t> </a:t>
            </a:r>
            <a:r>
              <a:rPr lang="en-US" dirty="0" err="1"/>
              <a:t>chức</a:t>
            </a:r>
            <a:r>
              <a:rPr lang="en-US" dirty="0"/>
              <a:t> </a:t>
            </a:r>
            <a:r>
              <a:rPr lang="en-US" dirty="0" err="1"/>
              <a:t>năng</a:t>
            </a:r>
            <a:endParaRPr dirty="0"/>
          </a:p>
        </p:txBody>
      </p:sp>
      <p:sp>
        <p:nvSpPr>
          <p:cNvPr id="191" name="Google Shape;191;p30">
            <a:extLst>
              <a:ext uri="{FF2B5EF4-FFF2-40B4-BE49-F238E27FC236}">
                <a16:creationId xmlns:a16="http://schemas.microsoft.com/office/drawing/2014/main" id="{1A6CE252-3816-548B-8922-B9E1A7CE2972}"/>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graphicFrame>
        <p:nvGraphicFramePr>
          <p:cNvPr id="5" name="Table 4">
            <a:extLst>
              <a:ext uri="{FF2B5EF4-FFF2-40B4-BE49-F238E27FC236}">
                <a16:creationId xmlns:a16="http://schemas.microsoft.com/office/drawing/2014/main" id="{8002A0CA-B301-8949-3B18-AE14199C8353}"/>
              </a:ext>
            </a:extLst>
          </p:cNvPr>
          <p:cNvGraphicFramePr>
            <a:graphicFrameLocks noGrp="1"/>
          </p:cNvGraphicFramePr>
          <p:nvPr>
            <p:extLst>
              <p:ext uri="{D42A27DB-BD31-4B8C-83A1-F6EECF244321}">
                <p14:modId xmlns:p14="http://schemas.microsoft.com/office/powerpoint/2010/main" val="765536480"/>
              </p:ext>
            </p:extLst>
          </p:nvPr>
        </p:nvGraphicFramePr>
        <p:xfrm>
          <a:off x="2038555" y="1565241"/>
          <a:ext cx="8114890" cy="4368800"/>
        </p:xfrm>
        <a:graphic>
          <a:graphicData uri="http://schemas.openxmlformats.org/drawingml/2006/table">
            <a:tbl>
              <a:tblPr firstRow="1" bandRow="1">
                <a:tableStyleId>{01511797-984D-44DA-BBBC-5FB16A20FFCF}</a:tableStyleId>
              </a:tblPr>
              <a:tblGrid>
                <a:gridCol w="1533832">
                  <a:extLst>
                    <a:ext uri="{9D8B030D-6E8A-4147-A177-3AD203B41FA5}">
                      <a16:colId xmlns:a16="http://schemas.microsoft.com/office/drawing/2014/main" val="3351278948"/>
                    </a:ext>
                  </a:extLst>
                </a:gridCol>
                <a:gridCol w="6581058">
                  <a:extLst>
                    <a:ext uri="{9D8B030D-6E8A-4147-A177-3AD203B41FA5}">
                      <a16:colId xmlns:a16="http://schemas.microsoft.com/office/drawing/2014/main" val="309833668"/>
                    </a:ext>
                  </a:extLst>
                </a:gridCol>
              </a:tblGrid>
              <a:tr h="370840">
                <a:tc>
                  <a:txBody>
                    <a:bodyPr/>
                    <a:lstStyle/>
                    <a:p>
                      <a:pPr algn="ctr"/>
                      <a:r>
                        <a:rPr lang="en-US" sz="1600" b="1" dirty="0" err="1"/>
                        <a:t>Mã</a:t>
                      </a:r>
                      <a:r>
                        <a:rPr lang="en-US" sz="1600" b="1" dirty="0"/>
                        <a:t> FR</a:t>
                      </a:r>
                    </a:p>
                  </a:txBody>
                  <a:tcPr/>
                </a:tc>
                <a:tc>
                  <a:txBody>
                    <a:bodyPr/>
                    <a:lstStyle/>
                    <a:p>
                      <a:pPr algn="ctr"/>
                      <a:r>
                        <a:rPr lang="en-US" sz="1600" b="1" dirty="0" err="1"/>
                        <a:t>Mô</a:t>
                      </a:r>
                      <a:r>
                        <a:rPr lang="en-US" sz="1600" b="1" dirty="0"/>
                        <a:t> </a:t>
                      </a:r>
                      <a:r>
                        <a:rPr lang="en-US" sz="1600" b="1" dirty="0" err="1"/>
                        <a:t>tả</a:t>
                      </a:r>
                      <a:endParaRPr lang="en-US" sz="1600" b="1" dirty="0"/>
                    </a:p>
                  </a:txBody>
                  <a:tcPr/>
                </a:tc>
                <a:extLst>
                  <a:ext uri="{0D108BD9-81ED-4DB2-BD59-A6C34878D82A}">
                    <a16:rowId xmlns:a16="http://schemas.microsoft.com/office/drawing/2014/main" val="3553916671"/>
                  </a:ext>
                </a:extLst>
              </a:tr>
              <a:tr h="370840">
                <a:tc>
                  <a:txBody>
                    <a:bodyPr/>
                    <a:lstStyle/>
                    <a:p>
                      <a:pPr algn="ctr"/>
                      <a:r>
                        <a:rPr lang="en-US" sz="1600" dirty="0"/>
                        <a:t>FR01</a:t>
                      </a:r>
                    </a:p>
                  </a:txBody>
                  <a:tcPr/>
                </a:tc>
                <a:tc>
                  <a:txBody>
                    <a:bodyPr/>
                    <a:lstStyle/>
                    <a:p>
                      <a:r>
                        <a:rPr lang="vi-VN" sz="1600" dirty="0"/>
                        <a:t>Cho phép người dùng (Chủ nhà và Người thuê) đăng nhập vào hệ thống bằng tài khoản và mật khẩu.</a:t>
                      </a:r>
                      <a:endParaRPr lang="en-US" sz="1600" dirty="0"/>
                    </a:p>
                  </a:txBody>
                  <a:tcPr/>
                </a:tc>
                <a:extLst>
                  <a:ext uri="{0D108BD9-81ED-4DB2-BD59-A6C34878D82A}">
                    <a16:rowId xmlns:a16="http://schemas.microsoft.com/office/drawing/2014/main" val="2056111214"/>
                  </a:ext>
                </a:extLst>
              </a:tr>
              <a:tr h="370840">
                <a:tc>
                  <a:txBody>
                    <a:bodyPr/>
                    <a:lstStyle/>
                    <a:p>
                      <a:pPr algn="ctr"/>
                      <a:r>
                        <a:rPr lang="en-US" sz="1600" dirty="0"/>
                        <a:t>FR02</a:t>
                      </a:r>
                    </a:p>
                  </a:txBody>
                  <a:tcPr/>
                </a:tc>
                <a:tc>
                  <a:txBody>
                    <a:bodyPr/>
                    <a:lstStyle/>
                    <a:p>
                      <a:r>
                        <a:rPr lang="vi-VN" sz="1600" dirty="0"/>
                        <a:t>Tự động xác thực và phân quyền truy cập dựa trên vai trò của người dùng: Chủ nhà được sử dụng toàn bộ chức năng quản lý; Người thuê chỉ được truy cập thông tin thuộc phòng, hợp đồng, hóa đơn và sự cố của mình.</a:t>
                      </a:r>
                      <a:endParaRPr lang="en-US" sz="1600" dirty="0"/>
                    </a:p>
                  </a:txBody>
                  <a:tcPr/>
                </a:tc>
                <a:extLst>
                  <a:ext uri="{0D108BD9-81ED-4DB2-BD59-A6C34878D82A}">
                    <a16:rowId xmlns:a16="http://schemas.microsoft.com/office/drawing/2014/main" val="3390394791"/>
                  </a:ext>
                </a:extLst>
              </a:tr>
              <a:tr h="370840">
                <a:tc>
                  <a:txBody>
                    <a:bodyPr/>
                    <a:lstStyle/>
                    <a:p>
                      <a:pPr algn="ctr"/>
                      <a:r>
                        <a:rPr lang="en-US" sz="1600" dirty="0"/>
                        <a:t>FR03</a:t>
                      </a:r>
                    </a:p>
                  </a:txBody>
                  <a:tcPr/>
                </a:tc>
                <a:tc>
                  <a:txBody>
                    <a:bodyPr/>
                    <a:lstStyle/>
                    <a:p>
                      <a:r>
                        <a:rPr lang="vi-VN" sz="1600" dirty="0"/>
                        <a:t>Cho phép Chủ nhà tạo, cấp phát tài khoản và gán quyền truy cập cho người thuê mới trên hệ thống.</a:t>
                      </a:r>
                      <a:endParaRPr lang="en-US" sz="1600" dirty="0"/>
                    </a:p>
                  </a:txBody>
                  <a:tcPr/>
                </a:tc>
                <a:extLst>
                  <a:ext uri="{0D108BD9-81ED-4DB2-BD59-A6C34878D82A}">
                    <a16:rowId xmlns:a16="http://schemas.microsoft.com/office/drawing/2014/main" val="1733486315"/>
                  </a:ext>
                </a:extLst>
              </a:tr>
              <a:tr h="370840">
                <a:tc>
                  <a:txBody>
                    <a:bodyPr/>
                    <a:lstStyle/>
                    <a:p>
                      <a:pPr algn="ctr"/>
                      <a:r>
                        <a:rPr lang="en-US" sz="1600" dirty="0"/>
                        <a:t>FR04</a:t>
                      </a:r>
                    </a:p>
                  </a:txBody>
                  <a:tcPr/>
                </a:tc>
                <a:tc>
                  <a:txBody>
                    <a:bodyPr/>
                    <a:lstStyle/>
                    <a:p>
                      <a:r>
                        <a:rPr lang="vi-VN" sz="1600" dirty="0"/>
                        <a:t>Cho phép người dùng đổi mật khẩu và đăng xuất khỏi hệ thống (hủy phiên làm việc/token hiện tại).</a:t>
                      </a:r>
                      <a:endParaRPr lang="en-US" sz="1600" dirty="0"/>
                    </a:p>
                  </a:txBody>
                  <a:tcPr/>
                </a:tc>
                <a:extLst>
                  <a:ext uri="{0D108BD9-81ED-4DB2-BD59-A6C34878D82A}">
                    <a16:rowId xmlns:a16="http://schemas.microsoft.com/office/drawing/2014/main" val="1426143979"/>
                  </a:ext>
                </a:extLst>
              </a:tr>
              <a:tr h="370840">
                <a:tc>
                  <a:txBody>
                    <a:bodyPr/>
                    <a:lstStyle/>
                    <a:p>
                      <a:pPr algn="ctr"/>
                      <a:r>
                        <a:rPr lang="en-US" sz="1600" dirty="0"/>
                        <a:t>…</a:t>
                      </a:r>
                    </a:p>
                  </a:txBody>
                  <a:tcPr/>
                </a:tc>
                <a:tc>
                  <a:txBody>
                    <a:bodyPr/>
                    <a:lstStyle/>
                    <a:p>
                      <a:r>
                        <a:rPr lang="en-US" sz="1600" dirty="0"/>
                        <a:t>…</a:t>
                      </a:r>
                    </a:p>
                  </a:txBody>
                  <a:tcPr/>
                </a:tc>
                <a:extLst>
                  <a:ext uri="{0D108BD9-81ED-4DB2-BD59-A6C34878D82A}">
                    <a16:rowId xmlns:a16="http://schemas.microsoft.com/office/drawing/2014/main" val="3186046771"/>
                  </a:ext>
                </a:extLst>
              </a:tr>
              <a:tr h="370840">
                <a:tc>
                  <a:txBody>
                    <a:bodyPr/>
                    <a:lstStyle/>
                    <a:p>
                      <a:pPr algn="ctr"/>
                      <a:r>
                        <a:rPr lang="en-US" sz="1600" dirty="0"/>
                        <a:t>FR32</a:t>
                      </a:r>
                    </a:p>
                  </a:txBody>
                  <a:tcPr/>
                </a:tc>
                <a:tc>
                  <a:txBody>
                    <a:bodyPr/>
                    <a:lstStyle/>
                    <a:p>
                      <a:r>
                        <a:rPr lang="vi-VN" sz="1600" dirty="0"/>
                        <a:t>Tự động gửi thông báo cho Chủ nhà khi có báo cáo sự cố mới từ Người thuê và gửi thông báo cho Người thuê khi trạng thái xử lý sự cố được cập nhật.</a:t>
                      </a:r>
                      <a:endParaRPr lang="en-US" sz="1600" dirty="0"/>
                    </a:p>
                  </a:txBody>
                  <a:tcPr/>
                </a:tc>
                <a:extLst>
                  <a:ext uri="{0D108BD9-81ED-4DB2-BD59-A6C34878D82A}">
                    <a16:rowId xmlns:a16="http://schemas.microsoft.com/office/drawing/2014/main" val="186467330"/>
                  </a:ext>
                </a:extLst>
              </a:tr>
            </a:tbl>
          </a:graphicData>
        </a:graphic>
      </p:graphicFrame>
    </p:spTree>
    <p:extLst>
      <p:ext uri="{BB962C8B-B14F-4D97-AF65-F5344CB8AC3E}">
        <p14:creationId xmlns:p14="http://schemas.microsoft.com/office/powerpoint/2010/main" val="1188882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A359479-222D-3A91-7199-546E7C0A9949}"/>
            </a:ext>
          </a:extLst>
        </p:cNvPr>
        <p:cNvGrpSpPr/>
        <p:nvPr/>
      </p:nvGrpSpPr>
      <p:grpSpPr>
        <a:xfrm>
          <a:off x="0" y="0"/>
          <a:ext cx="0" cy="0"/>
          <a:chOff x="0" y="0"/>
          <a:chExt cx="0" cy="0"/>
        </a:xfrm>
      </p:grpSpPr>
      <p:sp>
        <p:nvSpPr>
          <p:cNvPr id="188" name="Google Shape;188;p30">
            <a:extLst>
              <a:ext uri="{FF2B5EF4-FFF2-40B4-BE49-F238E27FC236}">
                <a16:creationId xmlns:a16="http://schemas.microsoft.com/office/drawing/2014/main" id="{EC21E4C8-2D69-0297-4FB5-0A44660159DB}"/>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err="1"/>
              <a:t>Yêu</a:t>
            </a:r>
            <a:r>
              <a:rPr lang="en-US" dirty="0"/>
              <a:t> </a:t>
            </a:r>
            <a:r>
              <a:rPr lang="en-US" dirty="0" err="1"/>
              <a:t>cầu</a:t>
            </a:r>
            <a:r>
              <a:rPr lang="en-US" dirty="0"/>
              <a:t> phi </a:t>
            </a:r>
            <a:r>
              <a:rPr lang="en-US" dirty="0" err="1"/>
              <a:t>chức</a:t>
            </a:r>
            <a:r>
              <a:rPr lang="en-US" dirty="0"/>
              <a:t> </a:t>
            </a:r>
            <a:r>
              <a:rPr lang="en-US" dirty="0" err="1"/>
              <a:t>năng</a:t>
            </a:r>
            <a:endParaRPr dirty="0"/>
          </a:p>
        </p:txBody>
      </p:sp>
      <p:sp>
        <p:nvSpPr>
          <p:cNvPr id="191" name="Google Shape;191;p30">
            <a:extLst>
              <a:ext uri="{FF2B5EF4-FFF2-40B4-BE49-F238E27FC236}">
                <a16:creationId xmlns:a16="http://schemas.microsoft.com/office/drawing/2014/main" id="{1B536B48-8938-7CC5-95B3-762075A04270}"/>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graphicFrame>
        <p:nvGraphicFramePr>
          <p:cNvPr id="5" name="Table 4">
            <a:extLst>
              <a:ext uri="{FF2B5EF4-FFF2-40B4-BE49-F238E27FC236}">
                <a16:creationId xmlns:a16="http://schemas.microsoft.com/office/drawing/2014/main" id="{D1EC9919-FC53-4656-3897-0CA920636BA1}"/>
              </a:ext>
            </a:extLst>
          </p:cNvPr>
          <p:cNvGraphicFramePr>
            <a:graphicFrameLocks noGrp="1"/>
          </p:cNvGraphicFramePr>
          <p:nvPr>
            <p:extLst>
              <p:ext uri="{D42A27DB-BD31-4B8C-83A1-F6EECF244321}">
                <p14:modId xmlns:p14="http://schemas.microsoft.com/office/powerpoint/2010/main" val="724939512"/>
              </p:ext>
            </p:extLst>
          </p:nvPr>
        </p:nvGraphicFramePr>
        <p:xfrm>
          <a:off x="1027172" y="1346190"/>
          <a:ext cx="10137656" cy="4220462"/>
        </p:xfrm>
        <a:graphic>
          <a:graphicData uri="http://schemas.openxmlformats.org/drawingml/2006/table">
            <a:tbl>
              <a:tblPr firstRow="1" bandRow="1">
                <a:tableStyleId>{01511797-984D-44DA-BBBC-5FB16A20FFCF}</a:tableStyleId>
              </a:tblPr>
              <a:tblGrid>
                <a:gridCol w="1058078">
                  <a:extLst>
                    <a:ext uri="{9D8B030D-6E8A-4147-A177-3AD203B41FA5}">
                      <a16:colId xmlns:a16="http://schemas.microsoft.com/office/drawing/2014/main" val="3351278948"/>
                    </a:ext>
                  </a:extLst>
                </a:gridCol>
                <a:gridCol w="5170956">
                  <a:extLst>
                    <a:ext uri="{9D8B030D-6E8A-4147-A177-3AD203B41FA5}">
                      <a16:colId xmlns:a16="http://schemas.microsoft.com/office/drawing/2014/main" val="309833668"/>
                    </a:ext>
                  </a:extLst>
                </a:gridCol>
                <a:gridCol w="3908622">
                  <a:extLst>
                    <a:ext uri="{9D8B030D-6E8A-4147-A177-3AD203B41FA5}">
                      <a16:colId xmlns:a16="http://schemas.microsoft.com/office/drawing/2014/main" val="1051021933"/>
                    </a:ext>
                  </a:extLst>
                </a:gridCol>
              </a:tblGrid>
              <a:tr h="377309">
                <a:tc>
                  <a:txBody>
                    <a:bodyPr/>
                    <a:lstStyle/>
                    <a:p>
                      <a:pPr algn="ctr"/>
                      <a:r>
                        <a:rPr lang="en-US" sz="1600" b="1" dirty="0" err="1"/>
                        <a:t>Mã</a:t>
                      </a:r>
                      <a:r>
                        <a:rPr lang="en-US" sz="1600" b="1" dirty="0"/>
                        <a:t> NFR</a:t>
                      </a:r>
                    </a:p>
                  </a:txBody>
                  <a:tcPr/>
                </a:tc>
                <a:tc>
                  <a:txBody>
                    <a:bodyPr/>
                    <a:lstStyle/>
                    <a:p>
                      <a:pPr algn="ctr"/>
                      <a:r>
                        <a:rPr lang="en-US" sz="1600" b="1" dirty="0" err="1"/>
                        <a:t>Mô</a:t>
                      </a:r>
                      <a:r>
                        <a:rPr lang="en-US" sz="1600" b="1" dirty="0"/>
                        <a:t> </a:t>
                      </a:r>
                      <a:r>
                        <a:rPr lang="en-US" sz="1600" b="1" dirty="0" err="1"/>
                        <a:t>tả</a:t>
                      </a:r>
                      <a:endParaRPr lang="en-US" sz="1600" b="1" dirty="0"/>
                    </a:p>
                  </a:txBody>
                  <a:tcPr/>
                </a:tc>
                <a:tc>
                  <a:txBody>
                    <a:bodyPr/>
                    <a:lstStyle/>
                    <a:p>
                      <a:pPr algn="ctr"/>
                      <a:r>
                        <a:rPr lang="en-US" sz="1600" b="1" dirty="0" err="1"/>
                        <a:t>Điều</a:t>
                      </a:r>
                      <a:r>
                        <a:rPr lang="en-US" sz="1600" b="1" dirty="0"/>
                        <a:t> </a:t>
                      </a:r>
                      <a:r>
                        <a:rPr lang="en-US" sz="1600" b="1" dirty="0" err="1"/>
                        <a:t>kiện</a:t>
                      </a:r>
                      <a:r>
                        <a:rPr lang="en-US" sz="1600" b="1" dirty="0"/>
                        <a:t> </a:t>
                      </a:r>
                      <a:r>
                        <a:rPr lang="en-US" sz="1600" b="1" dirty="0" err="1"/>
                        <a:t>đo</a:t>
                      </a:r>
                      <a:endParaRPr lang="en-US" sz="1600" b="1" dirty="0"/>
                    </a:p>
                  </a:txBody>
                  <a:tcPr/>
                </a:tc>
                <a:extLst>
                  <a:ext uri="{0D108BD9-81ED-4DB2-BD59-A6C34878D82A}">
                    <a16:rowId xmlns:a16="http://schemas.microsoft.com/office/drawing/2014/main" val="3553916671"/>
                  </a:ext>
                </a:extLst>
              </a:tr>
              <a:tr h="589222">
                <a:tc>
                  <a:txBody>
                    <a:bodyPr/>
                    <a:lstStyle/>
                    <a:p>
                      <a:pPr algn="ctr"/>
                      <a:r>
                        <a:rPr lang="en-US" sz="1600" dirty="0"/>
                        <a:t>NFR01</a:t>
                      </a:r>
                    </a:p>
                  </a:txBody>
                  <a:tcPr/>
                </a:tc>
                <a:tc>
                  <a:txBody>
                    <a:bodyPr/>
                    <a:lstStyle/>
                    <a:p>
                      <a:r>
                        <a:rPr lang="vi-VN" sz="1600" dirty="0"/>
                        <a:t>Các API tra cứu phòng, người thuê và hợp đồng phải phản hồi trong ≤ 800 ms với ít nhất 95% số request.</a:t>
                      </a:r>
                      <a:endParaRPr lang="en-US" sz="1600" dirty="0"/>
                    </a:p>
                  </a:txBody>
                  <a:tcPr/>
                </a:tc>
                <a:tc>
                  <a:txBody>
                    <a:bodyPr/>
                    <a:lstStyle/>
                    <a:p>
                      <a:r>
                        <a:rPr lang="vi-VN" sz="1600" dirty="0"/>
                        <a:t>100 người dùng đồng thời, dữ liệu mẫu 10.000 phòng và 20.000 người thuê.</a:t>
                      </a:r>
                      <a:endParaRPr lang="en-US" sz="1600" dirty="0"/>
                    </a:p>
                  </a:txBody>
                  <a:tcPr/>
                </a:tc>
                <a:extLst>
                  <a:ext uri="{0D108BD9-81ED-4DB2-BD59-A6C34878D82A}">
                    <a16:rowId xmlns:a16="http://schemas.microsoft.com/office/drawing/2014/main" val="2056111214"/>
                  </a:ext>
                </a:extLst>
              </a:tr>
              <a:tr h="627124">
                <a:tc>
                  <a:txBody>
                    <a:bodyPr/>
                    <a:lstStyle/>
                    <a:p>
                      <a:pPr algn="ctr"/>
                      <a:r>
                        <a:rPr lang="en-US" sz="1600" dirty="0"/>
                        <a:t>NFR02</a:t>
                      </a:r>
                    </a:p>
                  </a:txBody>
                  <a:tcPr/>
                </a:tc>
                <a:tc>
                  <a:txBody>
                    <a:bodyPr/>
                    <a:lstStyle/>
                    <a:p>
                      <a:r>
                        <a:rPr lang="vi-VN" sz="1600" dirty="0"/>
                        <a:t>Trang dashboard phải hiển thị đầy đủ dữ liệu trong ≤ 2 giây.</a:t>
                      </a:r>
                      <a:endParaRPr lang="en-US" sz="1600" dirty="0"/>
                    </a:p>
                  </a:txBody>
                  <a:tcPr/>
                </a:tc>
                <a:tc>
                  <a:txBody>
                    <a:bodyPr/>
                    <a:lstStyle/>
                    <a:p>
                      <a:r>
                        <a:rPr lang="vi-VN" sz="1600" dirty="0"/>
                        <a:t>Dữ liệu gồm tối thiểu 10.000 hóa đơn và 5.000 hợp đồng.</a:t>
                      </a:r>
                      <a:endParaRPr lang="en-US" sz="1600" dirty="0"/>
                    </a:p>
                  </a:txBody>
                  <a:tcPr/>
                </a:tc>
                <a:extLst>
                  <a:ext uri="{0D108BD9-81ED-4DB2-BD59-A6C34878D82A}">
                    <a16:rowId xmlns:a16="http://schemas.microsoft.com/office/drawing/2014/main" val="3390394791"/>
                  </a:ext>
                </a:extLst>
              </a:tr>
              <a:tr h="589222">
                <a:tc>
                  <a:txBody>
                    <a:bodyPr/>
                    <a:lstStyle/>
                    <a:p>
                      <a:pPr algn="ctr"/>
                      <a:r>
                        <a:rPr lang="en-US" sz="1600" dirty="0"/>
                        <a:t>NFR03</a:t>
                      </a:r>
                    </a:p>
                  </a:txBody>
                  <a:tcPr/>
                </a:tc>
                <a:tc>
                  <a:txBody>
                    <a:bodyPr/>
                    <a:lstStyle/>
                    <a:p>
                      <a:r>
                        <a:rPr lang="vi-VN" sz="1600" dirty="0"/>
                        <a:t>Hệ thống phải duy trì mức sử dụng CPU server ≤ 70% và RAM ≤ 2 GB trong bài kiểm thử tải.</a:t>
                      </a:r>
                      <a:endParaRPr lang="en-US" sz="1600" dirty="0"/>
                    </a:p>
                  </a:txBody>
                  <a:tcPr/>
                </a:tc>
                <a:tc>
                  <a:txBody>
                    <a:bodyPr/>
                    <a:lstStyle/>
                    <a:p>
                      <a:r>
                        <a:rPr lang="vi-VN" sz="1600" dirty="0"/>
                        <a:t>100 người dùng đồng thời trong 10 phút.</a:t>
                      </a:r>
                      <a:endParaRPr lang="en-US" sz="1600" dirty="0"/>
                    </a:p>
                  </a:txBody>
                  <a:tcPr/>
                </a:tc>
                <a:extLst>
                  <a:ext uri="{0D108BD9-81ED-4DB2-BD59-A6C34878D82A}">
                    <a16:rowId xmlns:a16="http://schemas.microsoft.com/office/drawing/2014/main" val="1733486315"/>
                  </a:ext>
                </a:extLst>
              </a:tr>
              <a:tr h="589222">
                <a:tc>
                  <a:txBody>
                    <a:bodyPr/>
                    <a:lstStyle/>
                    <a:p>
                      <a:pPr algn="ctr"/>
                      <a:r>
                        <a:rPr lang="en-US" sz="1600" dirty="0"/>
                        <a:t>NFR04</a:t>
                      </a:r>
                    </a:p>
                  </a:txBody>
                  <a:tcPr/>
                </a:tc>
                <a:tc>
                  <a:txBody>
                    <a:bodyPr/>
                    <a:lstStyle/>
                    <a:p>
                      <a:r>
                        <a:rPr lang="vi-VN" sz="1600" dirty="0"/>
                        <a:t>Người dùng mới phải có thể thực hiện các thao tác đăng nhập và xem hóa đơn mà không cần hướng dẫn trực tiếp.</a:t>
                      </a:r>
                      <a:endParaRPr lang="en-US" sz="1600" dirty="0"/>
                    </a:p>
                  </a:txBody>
                  <a:tcPr/>
                </a:tc>
                <a:tc>
                  <a:txBody>
                    <a:bodyPr/>
                    <a:lstStyle/>
                    <a:p>
                      <a:r>
                        <a:rPr lang="vi-VN" sz="1600" dirty="0"/>
                        <a:t>Kiểm thử với 10 người dùng, tối thiểu 8/10 người hoàn thành trong ≤ 3 phút.</a:t>
                      </a:r>
                      <a:endParaRPr lang="en-US" sz="1600" dirty="0"/>
                    </a:p>
                  </a:txBody>
                  <a:tcPr/>
                </a:tc>
                <a:extLst>
                  <a:ext uri="{0D108BD9-81ED-4DB2-BD59-A6C34878D82A}">
                    <a16:rowId xmlns:a16="http://schemas.microsoft.com/office/drawing/2014/main" val="1426143979"/>
                  </a:ext>
                </a:extLst>
              </a:tr>
              <a:tr h="377309">
                <a:tc>
                  <a:txBody>
                    <a:bodyPr/>
                    <a:lstStyle/>
                    <a:p>
                      <a:pPr algn="ctr"/>
                      <a:r>
                        <a:rPr lang="en-US" sz="1600" dirty="0"/>
                        <a:t>…</a:t>
                      </a:r>
                    </a:p>
                  </a:txBody>
                  <a:tcPr/>
                </a:tc>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186046771"/>
                  </a:ext>
                </a:extLst>
              </a:tr>
              <a:tr h="837316">
                <a:tc>
                  <a:txBody>
                    <a:bodyPr/>
                    <a:lstStyle/>
                    <a:p>
                      <a:pPr algn="ctr"/>
                      <a:r>
                        <a:rPr lang="en-US" sz="1600" dirty="0"/>
                        <a:t>NFR11</a:t>
                      </a:r>
                    </a:p>
                  </a:txBody>
                  <a:tcPr/>
                </a:tc>
                <a:tc>
                  <a:txBody>
                    <a:bodyPr/>
                    <a:lstStyle/>
                    <a:p>
                      <a:r>
                        <a:rPr lang="vi-VN" sz="1600" dirty="0"/>
                        <a:t>Mã nguồn phải được tổ chức thành các module riêng cho frontend, backend và database, không đặt toàn bộ logic trong một file.</a:t>
                      </a:r>
                      <a:endParaRPr lang="en-US" sz="1600" dirty="0"/>
                    </a:p>
                  </a:txBody>
                  <a:tcPr/>
                </a:tc>
                <a:tc>
                  <a:txBody>
                    <a:bodyPr/>
                    <a:lstStyle/>
                    <a:p>
                      <a:r>
                        <a:rPr lang="vi-VN" sz="1600" dirty="0"/>
                        <a:t>Kiểm tra cấu trúc source code trước nghiệm thu.</a:t>
                      </a:r>
                      <a:endParaRPr lang="en-US" sz="1600" dirty="0"/>
                    </a:p>
                  </a:txBody>
                  <a:tcPr/>
                </a:tc>
                <a:extLst>
                  <a:ext uri="{0D108BD9-81ED-4DB2-BD59-A6C34878D82A}">
                    <a16:rowId xmlns:a16="http://schemas.microsoft.com/office/drawing/2014/main" val="186467330"/>
                  </a:ext>
                </a:extLst>
              </a:tr>
            </a:tbl>
          </a:graphicData>
        </a:graphic>
      </p:graphicFrame>
    </p:spTree>
    <p:extLst>
      <p:ext uri="{BB962C8B-B14F-4D97-AF65-F5344CB8AC3E}">
        <p14:creationId xmlns:p14="http://schemas.microsoft.com/office/powerpoint/2010/main" val="1944299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9CBC60F-F529-03D4-9DE2-DD715A3A64AC}"/>
            </a:ext>
          </a:extLst>
        </p:cNvPr>
        <p:cNvGrpSpPr/>
        <p:nvPr/>
      </p:nvGrpSpPr>
      <p:grpSpPr>
        <a:xfrm>
          <a:off x="0" y="0"/>
          <a:ext cx="0" cy="0"/>
          <a:chOff x="0" y="0"/>
          <a:chExt cx="0" cy="0"/>
        </a:xfrm>
      </p:grpSpPr>
      <p:sp>
        <p:nvSpPr>
          <p:cNvPr id="188" name="Google Shape;188;p30">
            <a:extLst>
              <a:ext uri="{FF2B5EF4-FFF2-40B4-BE49-F238E27FC236}">
                <a16:creationId xmlns:a16="http://schemas.microsoft.com/office/drawing/2014/main" id="{AD3C8E92-D2E4-79B5-4A3F-A7493B99CB81}"/>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a:t>Ma </a:t>
            </a:r>
            <a:r>
              <a:rPr lang="en-US" dirty="0" err="1"/>
              <a:t>trận</a:t>
            </a:r>
            <a:r>
              <a:rPr lang="en-US" dirty="0"/>
              <a:t> </a:t>
            </a:r>
            <a:r>
              <a:rPr lang="en-US" dirty="0" err="1"/>
              <a:t>truy</a:t>
            </a:r>
            <a:r>
              <a:rPr lang="en-US" dirty="0"/>
              <a:t> </a:t>
            </a:r>
            <a:r>
              <a:rPr lang="en-US" dirty="0" err="1"/>
              <a:t>vết</a:t>
            </a:r>
            <a:r>
              <a:rPr lang="en-US" dirty="0"/>
              <a:t> </a:t>
            </a:r>
            <a:r>
              <a:rPr lang="en-US" dirty="0" err="1"/>
              <a:t>chức</a:t>
            </a:r>
            <a:r>
              <a:rPr lang="en-US" dirty="0"/>
              <a:t> </a:t>
            </a:r>
            <a:r>
              <a:rPr lang="en-US" dirty="0" err="1"/>
              <a:t>năng</a:t>
            </a:r>
            <a:endParaRPr dirty="0"/>
          </a:p>
        </p:txBody>
      </p:sp>
      <p:sp>
        <p:nvSpPr>
          <p:cNvPr id="191" name="Google Shape;191;p30">
            <a:extLst>
              <a:ext uri="{FF2B5EF4-FFF2-40B4-BE49-F238E27FC236}">
                <a16:creationId xmlns:a16="http://schemas.microsoft.com/office/drawing/2014/main" id="{8FEEA790-C971-E638-7746-5525BE58F0F3}"/>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graphicFrame>
        <p:nvGraphicFramePr>
          <p:cNvPr id="5" name="Table 4">
            <a:extLst>
              <a:ext uri="{FF2B5EF4-FFF2-40B4-BE49-F238E27FC236}">
                <a16:creationId xmlns:a16="http://schemas.microsoft.com/office/drawing/2014/main" id="{785E27F3-4B02-650B-565F-B554F568E62B}"/>
              </a:ext>
            </a:extLst>
          </p:cNvPr>
          <p:cNvGraphicFramePr>
            <a:graphicFrameLocks noGrp="1"/>
          </p:cNvGraphicFramePr>
          <p:nvPr>
            <p:extLst>
              <p:ext uri="{D42A27DB-BD31-4B8C-83A1-F6EECF244321}">
                <p14:modId xmlns:p14="http://schemas.microsoft.com/office/powerpoint/2010/main" val="2401887866"/>
              </p:ext>
            </p:extLst>
          </p:nvPr>
        </p:nvGraphicFramePr>
        <p:xfrm>
          <a:off x="1027172" y="1601830"/>
          <a:ext cx="10137656" cy="4239523"/>
        </p:xfrm>
        <a:graphic>
          <a:graphicData uri="http://schemas.openxmlformats.org/drawingml/2006/table">
            <a:tbl>
              <a:tblPr firstRow="1" bandRow="1">
                <a:tableStyleId>{01511797-984D-44DA-BBBC-5FB16A20FFCF}</a:tableStyleId>
              </a:tblPr>
              <a:tblGrid>
                <a:gridCol w="1106428">
                  <a:extLst>
                    <a:ext uri="{9D8B030D-6E8A-4147-A177-3AD203B41FA5}">
                      <a16:colId xmlns:a16="http://schemas.microsoft.com/office/drawing/2014/main" val="3351278948"/>
                    </a:ext>
                  </a:extLst>
                </a:gridCol>
                <a:gridCol w="3952568">
                  <a:extLst>
                    <a:ext uri="{9D8B030D-6E8A-4147-A177-3AD203B41FA5}">
                      <a16:colId xmlns:a16="http://schemas.microsoft.com/office/drawing/2014/main" val="309833668"/>
                    </a:ext>
                  </a:extLst>
                </a:gridCol>
                <a:gridCol w="1907458">
                  <a:extLst>
                    <a:ext uri="{9D8B030D-6E8A-4147-A177-3AD203B41FA5}">
                      <a16:colId xmlns:a16="http://schemas.microsoft.com/office/drawing/2014/main" val="1051021933"/>
                    </a:ext>
                  </a:extLst>
                </a:gridCol>
                <a:gridCol w="3171202">
                  <a:extLst>
                    <a:ext uri="{9D8B030D-6E8A-4147-A177-3AD203B41FA5}">
                      <a16:colId xmlns:a16="http://schemas.microsoft.com/office/drawing/2014/main" val="520192220"/>
                    </a:ext>
                  </a:extLst>
                </a:gridCol>
              </a:tblGrid>
              <a:tr h="383826">
                <a:tc>
                  <a:txBody>
                    <a:bodyPr/>
                    <a:lstStyle/>
                    <a:p>
                      <a:pPr algn="ctr"/>
                      <a:r>
                        <a:rPr lang="en-US" sz="1600" b="1" dirty="0" err="1"/>
                        <a:t>Mã</a:t>
                      </a:r>
                      <a:r>
                        <a:rPr lang="en-US" sz="1600" b="1" dirty="0"/>
                        <a:t> FR</a:t>
                      </a:r>
                    </a:p>
                  </a:txBody>
                  <a:tcPr/>
                </a:tc>
                <a:tc>
                  <a:txBody>
                    <a:bodyPr/>
                    <a:lstStyle/>
                    <a:p>
                      <a:pPr algn="ctr"/>
                      <a:r>
                        <a:rPr lang="en-US" sz="1600" b="1" dirty="0" err="1"/>
                        <a:t>Mô</a:t>
                      </a:r>
                      <a:r>
                        <a:rPr lang="en-US" sz="1600" b="1" dirty="0"/>
                        <a:t> </a:t>
                      </a:r>
                      <a:r>
                        <a:rPr lang="en-US" sz="1600" b="1" dirty="0" err="1"/>
                        <a:t>tả</a:t>
                      </a:r>
                      <a:endParaRPr lang="en-US" sz="1600" b="1" dirty="0"/>
                    </a:p>
                  </a:txBody>
                  <a:tcPr/>
                </a:tc>
                <a:tc>
                  <a:txBody>
                    <a:bodyPr/>
                    <a:lstStyle/>
                    <a:p>
                      <a:pPr algn="ctr"/>
                      <a:r>
                        <a:rPr lang="en-US" sz="1600" b="1" dirty="0" err="1"/>
                        <a:t>Mã</a:t>
                      </a:r>
                      <a:r>
                        <a:rPr lang="en-US" sz="1600" b="1" dirty="0"/>
                        <a:t> User Story</a:t>
                      </a:r>
                    </a:p>
                  </a:txBody>
                  <a:tcPr/>
                </a:tc>
                <a:tc>
                  <a:txBody>
                    <a:bodyPr/>
                    <a:lstStyle/>
                    <a:p>
                      <a:pPr algn="ctr"/>
                      <a:r>
                        <a:rPr lang="en-US" sz="1600" b="1" dirty="0" err="1"/>
                        <a:t>Biểu</a:t>
                      </a:r>
                      <a:r>
                        <a:rPr lang="en-US" sz="1600" b="1" dirty="0"/>
                        <a:t> </a:t>
                      </a:r>
                      <a:r>
                        <a:rPr lang="en-US" sz="1600" b="1" dirty="0" err="1"/>
                        <a:t>đồ</a:t>
                      </a:r>
                      <a:r>
                        <a:rPr lang="en-US" sz="1600" b="1" dirty="0"/>
                        <a:t> Use Case</a:t>
                      </a:r>
                    </a:p>
                  </a:txBody>
                  <a:tcPr/>
                </a:tc>
                <a:extLst>
                  <a:ext uri="{0D108BD9-81ED-4DB2-BD59-A6C34878D82A}">
                    <a16:rowId xmlns:a16="http://schemas.microsoft.com/office/drawing/2014/main" val="3553916671"/>
                  </a:ext>
                </a:extLst>
              </a:tr>
              <a:tr h="417186">
                <a:tc>
                  <a:txBody>
                    <a:bodyPr/>
                    <a:lstStyle/>
                    <a:p>
                      <a:pPr algn="ctr"/>
                      <a:r>
                        <a:rPr lang="en-US" sz="1600" dirty="0"/>
                        <a:t>FR01</a:t>
                      </a:r>
                    </a:p>
                  </a:txBody>
                  <a:tcPr/>
                </a:tc>
                <a:tc>
                  <a:txBody>
                    <a:bodyPr/>
                    <a:lstStyle/>
                    <a:p>
                      <a:r>
                        <a:rPr lang="en-US" sz="1600" dirty="0" err="1"/>
                        <a:t>Đăng</a:t>
                      </a:r>
                      <a:r>
                        <a:rPr lang="en-US" sz="1600" dirty="0"/>
                        <a:t> </a:t>
                      </a:r>
                      <a:r>
                        <a:rPr lang="en-US" sz="1600" dirty="0" err="1"/>
                        <a:t>nhập</a:t>
                      </a:r>
                      <a:r>
                        <a:rPr lang="en-US" sz="1600" dirty="0"/>
                        <a:t> </a:t>
                      </a:r>
                      <a:r>
                        <a:rPr lang="en-US" sz="1600" dirty="0" err="1"/>
                        <a:t>bằng</a:t>
                      </a:r>
                      <a:r>
                        <a:rPr lang="en-US" sz="1600" dirty="0"/>
                        <a:t> </a:t>
                      </a:r>
                      <a:r>
                        <a:rPr lang="en-US" sz="1600" dirty="0" err="1"/>
                        <a:t>tài</a:t>
                      </a:r>
                      <a:r>
                        <a:rPr lang="en-US" sz="1600" dirty="0"/>
                        <a:t> </a:t>
                      </a:r>
                      <a:r>
                        <a:rPr lang="en-US" sz="1600" dirty="0" err="1"/>
                        <a:t>khoản</a:t>
                      </a:r>
                      <a:r>
                        <a:rPr lang="en-US" sz="1600" dirty="0"/>
                        <a:t> </a:t>
                      </a:r>
                      <a:r>
                        <a:rPr lang="en-US" sz="1600" dirty="0" err="1"/>
                        <a:t>và</a:t>
                      </a:r>
                      <a:r>
                        <a:rPr lang="en-US" sz="1600" dirty="0"/>
                        <a:t> </a:t>
                      </a:r>
                      <a:r>
                        <a:rPr lang="en-US" sz="1600" dirty="0" err="1"/>
                        <a:t>mật</a:t>
                      </a:r>
                      <a:r>
                        <a:rPr lang="en-US" sz="1600" dirty="0"/>
                        <a:t> </a:t>
                      </a:r>
                      <a:r>
                        <a:rPr lang="en-US" sz="1600" dirty="0" err="1"/>
                        <a:t>khẩu</a:t>
                      </a:r>
                      <a:endParaRPr lang="en-US" sz="1600" dirty="0"/>
                    </a:p>
                  </a:txBody>
                  <a:tcPr/>
                </a:tc>
                <a:tc>
                  <a:txBody>
                    <a:bodyPr/>
                    <a:lstStyle/>
                    <a:p>
                      <a:r>
                        <a:rPr lang="en-US" sz="1400" b="0" i="0" u="none" strike="noStrike" cap="none" spc="0" dirty="0">
                          <a:solidFill>
                            <a:srgbClr val="000000"/>
                          </a:solidFill>
                          <a:effectLst/>
                          <a:latin typeface="Arial"/>
                          <a:ea typeface="Arial"/>
                          <a:cs typeface="Arial"/>
                          <a:sym typeface="Arial"/>
                        </a:rPr>
                        <a:t>US01</a:t>
                      </a:r>
                      <a:endParaRPr lang="en-US" sz="1600" dirty="0"/>
                    </a:p>
                  </a:txBody>
                  <a:tcPr/>
                </a:tc>
                <a:tc>
                  <a:txBody>
                    <a:bodyPr/>
                    <a:lstStyle/>
                    <a:p>
                      <a:r>
                        <a:rPr lang="en-US" sz="1600" dirty="0"/>
                        <a:t>UC </a:t>
                      </a:r>
                      <a:r>
                        <a:rPr lang="en-US" sz="1600" dirty="0" err="1"/>
                        <a:t>Đăng</a:t>
                      </a:r>
                      <a:r>
                        <a:rPr lang="en-US" sz="1600" dirty="0"/>
                        <a:t> </a:t>
                      </a:r>
                      <a:r>
                        <a:rPr lang="en-US" sz="1600" dirty="0" err="1"/>
                        <a:t>nhập</a:t>
                      </a:r>
                      <a:r>
                        <a:rPr lang="en-US" sz="1600" dirty="0"/>
                        <a:t>, </a:t>
                      </a:r>
                      <a:r>
                        <a:rPr lang="en-US" sz="1600" dirty="0" err="1"/>
                        <a:t>phân</a:t>
                      </a:r>
                      <a:r>
                        <a:rPr lang="en-US" sz="1600" dirty="0"/>
                        <a:t> </a:t>
                      </a:r>
                      <a:r>
                        <a:rPr lang="en-US" sz="1600" dirty="0" err="1"/>
                        <a:t>quyền</a:t>
                      </a:r>
                      <a:r>
                        <a:rPr lang="en-US" sz="1600" dirty="0"/>
                        <a:t> (</a:t>
                      </a:r>
                      <a:r>
                        <a:rPr lang="en-US" sz="1600" dirty="0" err="1"/>
                        <a:t>Đăng</a:t>
                      </a:r>
                      <a:r>
                        <a:rPr lang="en-US" sz="1600" dirty="0"/>
                        <a:t> </a:t>
                      </a:r>
                      <a:r>
                        <a:rPr lang="en-US" sz="1600" dirty="0" err="1"/>
                        <a:t>nhập</a:t>
                      </a:r>
                      <a:r>
                        <a:rPr lang="en-US" sz="1600" dirty="0"/>
                        <a:t>)</a:t>
                      </a:r>
                    </a:p>
                  </a:txBody>
                  <a:tcPr/>
                </a:tc>
                <a:extLst>
                  <a:ext uri="{0D108BD9-81ED-4DB2-BD59-A6C34878D82A}">
                    <a16:rowId xmlns:a16="http://schemas.microsoft.com/office/drawing/2014/main" val="2056111214"/>
                  </a:ext>
                </a:extLst>
              </a:tr>
              <a:tr h="637958">
                <a:tc>
                  <a:txBody>
                    <a:bodyPr/>
                    <a:lstStyle/>
                    <a:p>
                      <a:pPr algn="ctr"/>
                      <a:r>
                        <a:rPr lang="en-US" sz="1600" dirty="0"/>
                        <a:t>FR02</a:t>
                      </a:r>
                    </a:p>
                  </a:txBody>
                  <a:tcPr/>
                </a:tc>
                <a:tc>
                  <a:txBody>
                    <a:bodyPr/>
                    <a:lstStyle/>
                    <a:p>
                      <a:r>
                        <a:rPr lang="en-US" sz="1600" dirty="0" err="1"/>
                        <a:t>Tự</a:t>
                      </a:r>
                      <a:r>
                        <a:rPr lang="en-US" sz="1600" dirty="0"/>
                        <a:t> </a:t>
                      </a:r>
                      <a:r>
                        <a:rPr lang="en-US" sz="1600" dirty="0" err="1"/>
                        <a:t>động</a:t>
                      </a:r>
                      <a:r>
                        <a:rPr lang="en-US" sz="1600" dirty="0"/>
                        <a:t> </a:t>
                      </a:r>
                      <a:r>
                        <a:rPr lang="en-US" sz="1600" dirty="0" err="1"/>
                        <a:t>xác</a:t>
                      </a:r>
                      <a:r>
                        <a:rPr lang="en-US" sz="1600" dirty="0"/>
                        <a:t> </a:t>
                      </a:r>
                      <a:r>
                        <a:rPr lang="en-US" sz="1600" dirty="0" err="1"/>
                        <a:t>thực</a:t>
                      </a:r>
                      <a:r>
                        <a:rPr lang="en-US" sz="1600" dirty="0"/>
                        <a:t> </a:t>
                      </a:r>
                      <a:r>
                        <a:rPr lang="en-US" sz="1600" dirty="0" err="1"/>
                        <a:t>và</a:t>
                      </a:r>
                      <a:r>
                        <a:rPr lang="en-US" sz="1600" dirty="0"/>
                        <a:t> </a:t>
                      </a:r>
                      <a:r>
                        <a:rPr lang="en-US" sz="1600" dirty="0" err="1"/>
                        <a:t>phân</a:t>
                      </a:r>
                      <a:r>
                        <a:rPr lang="en-US" sz="1600" dirty="0"/>
                        <a:t> </a:t>
                      </a:r>
                      <a:r>
                        <a:rPr lang="en-US" sz="1600" dirty="0" err="1"/>
                        <a:t>quyền</a:t>
                      </a:r>
                      <a:r>
                        <a:rPr lang="en-US" sz="1600" dirty="0"/>
                        <a:t> </a:t>
                      </a:r>
                      <a:r>
                        <a:rPr lang="en-US" sz="1600" dirty="0" err="1"/>
                        <a:t>theo</a:t>
                      </a:r>
                      <a:r>
                        <a:rPr lang="en-US" sz="1600" dirty="0"/>
                        <a:t> </a:t>
                      </a:r>
                      <a:r>
                        <a:rPr lang="en-US" sz="1600" dirty="0" err="1"/>
                        <a:t>vai</a:t>
                      </a:r>
                      <a:r>
                        <a:rPr lang="en-US" sz="1600" dirty="0"/>
                        <a:t> </a:t>
                      </a:r>
                      <a:r>
                        <a:rPr lang="en-US" sz="1600" dirty="0" err="1"/>
                        <a:t>trò</a:t>
                      </a:r>
                      <a:endParaRPr lang="en-US" sz="1600" dirty="0"/>
                    </a:p>
                  </a:txBody>
                  <a:tcPr/>
                </a:tc>
                <a:tc>
                  <a:txBody>
                    <a:bodyPr/>
                    <a:lstStyle/>
                    <a:p>
                      <a:r>
                        <a:rPr lang="en-US" sz="1600" dirty="0"/>
                        <a:t>US01, US03</a:t>
                      </a:r>
                    </a:p>
                  </a:txBody>
                  <a:tcPr/>
                </a:tc>
                <a:tc>
                  <a:txBody>
                    <a:bodyPr/>
                    <a:lstStyle/>
                    <a:p>
                      <a:r>
                        <a:rPr lang="vi-VN" sz="1600" dirty="0"/>
                        <a:t>UC Đăng nhập, phân quyền (Phân quyền người dùng)</a:t>
                      </a:r>
                      <a:endParaRPr lang="en-US" sz="1600" dirty="0"/>
                    </a:p>
                  </a:txBody>
                  <a:tcPr/>
                </a:tc>
                <a:extLst>
                  <a:ext uri="{0D108BD9-81ED-4DB2-BD59-A6C34878D82A}">
                    <a16:rowId xmlns:a16="http://schemas.microsoft.com/office/drawing/2014/main" val="3390394791"/>
                  </a:ext>
                </a:extLst>
              </a:tr>
              <a:tr h="619379">
                <a:tc>
                  <a:txBody>
                    <a:bodyPr/>
                    <a:lstStyle/>
                    <a:p>
                      <a:pPr algn="ctr"/>
                      <a:r>
                        <a:rPr lang="en-US" sz="1600" dirty="0"/>
                        <a:t>FR03</a:t>
                      </a:r>
                    </a:p>
                  </a:txBody>
                  <a:tcPr/>
                </a:tc>
                <a:tc>
                  <a:txBody>
                    <a:bodyPr/>
                    <a:lstStyle/>
                    <a:p>
                      <a:r>
                        <a:rPr lang="vi-VN" sz="1600" dirty="0"/>
                        <a:t>Tạo, cấp phát tài khoản và gán quyền cho người thuê mới</a:t>
                      </a:r>
                      <a:endParaRPr lang="en-US" sz="1600" dirty="0"/>
                    </a:p>
                  </a:txBody>
                  <a:tcPr/>
                </a:tc>
                <a:tc>
                  <a:txBody>
                    <a:bodyPr/>
                    <a:lstStyle/>
                    <a:p>
                      <a:r>
                        <a:rPr lang="en-US" sz="1600" dirty="0"/>
                        <a:t>US03</a:t>
                      </a:r>
                    </a:p>
                  </a:txBody>
                  <a:tcPr/>
                </a:tc>
                <a:tc>
                  <a:txBody>
                    <a:bodyPr/>
                    <a:lstStyle/>
                    <a:p>
                      <a:r>
                        <a:rPr lang="vi-VN" sz="1600" dirty="0"/>
                        <a:t>UC Đăng nhập, phân quyền (Phân quyền người dùng)</a:t>
                      </a:r>
                      <a:endParaRPr lang="en-US" sz="1600" dirty="0"/>
                    </a:p>
                  </a:txBody>
                  <a:tcPr/>
                </a:tc>
                <a:extLst>
                  <a:ext uri="{0D108BD9-81ED-4DB2-BD59-A6C34878D82A}">
                    <a16:rowId xmlns:a16="http://schemas.microsoft.com/office/drawing/2014/main" val="1733486315"/>
                  </a:ext>
                </a:extLst>
              </a:tr>
              <a:tr h="619379">
                <a:tc>
                  <a:txBody>
                    <a:bodyPr/>
                    <a:lstStyle/>
                    <a:p>
                      <a:pPr algn="ctr"/>
                      <a:r>
                        <a:rPr lang="en-US" sz="1600" dirty="0"/>
                        <a:t>FR04</a:t>
                      </a:r>
                    </a:p>
                  </a:txBody>
                  <a:tcPr/>
                </a:tc>
                <a:tc>
                  <a:txBody>
                    <a:bodyPr/>
                    <a:lstStyle/>
                    <a:p>
                      <a:r>
                        <a:rPr lang="en-US" sz="1600" dirty="0" err="1"/>
                        <a:t>Đổi</a:t>
                      </a:r>
                      <a:r>
                        <a:rPr lang="en-US" sz="1600" dirty="0"/>
                        <a:t> </a:t>
                      </a:r>
                      <a:r>
                        <a:rPr lang="en-US" sz="1600" dirty="0" err="1"/>
                        <a:t>mật</a:t>
                      </a:r>
                      <a:r>
                        <a:rPr lang="en-US" sz="1600" dirty="0"/>
                        <a:t> </a:t>
                      </a:r>
                      <a:r>
                        <a:rPr lang="en-US" sz="1600" dirty="0" err="1"/>
                        <a:t>khẩu</a:t>
                      </a:r>
                      <a:r>
                        <a:rPr lang="en-US" sz="1600" dirty="0"/>
                        <a:t> </a:t>
                      </a:r>
                      <a:r>
                        <a:rPr lang="en-US" sz="1600" dirty="0" err="1"/>
                        <a:t>và</a:t>
                      </a:r>
                      <a:r>
                        <a:rPr lang="en-US" sz="1600" dirty="0"/>
                        <a:t> </a:t>
                      </a:r>
                      <a:r>
                        <a:rPr lang="en-US" sz="1600" dirty="0" err="1"/>
                        <a:t>đăng</a:t>
                      </a:r>
                      <a:r>
                        <a:rPr lang="en-US" sz="1600" dirty="0"/>
                        <a:t> </a:t>
                      </a:r>
                      <a:r>
                        <a:rPr lang="en-US" sz="1600" dirty="0" err="1"/>
                        <a:t>xuất</a:t>
                      </a:r>
                      <a:r>
                        <a:rPr lang="en-US" sz="1600" dirty="0"/>
                        <a:t> (</a:t>
                      </a:r>
                      <a:r>
                        <a:rPr lang="en-US" sz="1600" dirty="0" err="1"/>
                        <a:t>hủy</a:t>
                      </a:r>
                      <a:r>
                        <a:rPr lang="en-US" sz="1600" dirty="0"/>
                        <a:t> </a:t>
                      </a:r>
                      <a:r>
                        <a:rPr lang="en-US" sz="1600" dirty="0" err="1"/>
                        <a:t>phiên</a:t>
                      </a:r>
                      <a:r>
                        <a:rPr lang="en-US" sz="1600" dirty="0"/>
                        <a:t>/token)</a:t>
                      </a:r>
                    </a:p>
                  </a:txBody>
                  <a:tcPr/>
                </a:tc>
                <a:tc>
                  <a:txBody>
                    <a:bodyPr/>
                    <a:lstStyle/>
                    <a:p>
                      <a:r>
                        <a:rPr lang="en-US" sz="1600" dirty="0"/>
                        <a:t>US02</a:t>
                      </a:r>
                    </a:p>
                  </a:txBody>
                  <a:tcPr/>
                </a:tc>
                <a:tc>
                  <a:txBody>
                    <a:bodyPr/>
                    <a:lstStyle/>
                    <a:p>
                      <a:r>
                        <a:rPr lang="en-US" sz="1600" dirty="0"/>
                        <a:t>UC </a:t>
                      </a:r>
                      <a:r>
                        <a:rPr lang="en-US" sz="1600" dirty="0" err="1"/>
                        <a:t>Đăng</a:t>
                      </a:r>
                      <a:r>
                        <a:rPr lang="en-US" sz="1600" dirty="0"/>
                        <a:t> </a:t>
                      </a:r>
                      <a:r>
                        <a:rPr lang="en-US" sz="1600" dirty="0" err="1"/>
                        <a:t>nhập</a:t>
                      </a:r>
                      <a:r>
                        <a:rPr lang="en-US" sz="1600" dirty="0"/>
                        <a:t>, </a:t>
                      </a:r>
                      <a:r>
                        <a:rPr lang="en-US" sz="1600" dirty="0" err="1"/>
                        <a:t>phân</a:t>
                      </a:r>
                      <a:r>
                        <a:rPr lang="en-US" sz="1600" dirty="0"/>
                        <a:t> </a:t>
                      </a:r>
                      <a:r>
                        <a:rPr lang="en-US" sz="1600" dirty="0" err="1"/>
                        <a:t>quyền</a:t>
                      </a:r>
                      <a:r>
                        <a:rPr lang="en-US" sz="1600" dirty="0"/>
                        <a:t> (</a:t>
                      </a:r>
                      <a:r>
                        <a:rPr lang="en-US" sz="1600" dirty="0" err="1"/>
                        <a:t>Đăng</a:t>
                      </a:r>
                      <a:r>
                        <a:rPr lang="en-US" sz="1600" dirty="0"/>
                        <a:t> </a:t>
                      </a:r>
                      <a:r>
                        <a:rPr lang="en-US" sz="1600" dirty="0" err="1"/>
                        <a:t>xuất</a:t>
                      </a:r>
                      <a:r>
                        <a:rPr lang="en-US" sz="1600" dirty="0"/>
                        <a:t>) </a:t>
                      </a:r>
                    </a:p>
                  </a:txBody>
                  <a:tcPr/>
                </a:tc>
                <a:extLst>
                  <a:ext uri="{0D108BD9-81ED-4DB2-BD59-A6C34878D82A}">
                    <a16:rowId xmlns:a16="http://schemas.microsoft.com/office/drawing/2014/main" val="1426143979"/>
                  </a:ext>
                </a:extLst>
              </a:tr>
              <a:tr h="548081">
                <a:tc>
                  <a:txBody>
                    <a:bodyPr/>
                    <a:lstStyle/>
                    <a:p>
                      <a:pPr algn="ctr"/>
                      <a:r>
                        <a:rPr lang="en-US" sz="1600" dirty="0"/>
                        <a:t>…</a:t>
                      </a:r>
                    </a:p>
                  </a:txBody>
                  <a:tcPr/>
                </a:tc>
                <a:tc>
                  <a:txBody>
                    <a:bodyPr/>
                    <a:lstStyle/>
                    <a:p>
                      <a:r>
                        <a:rPr lang="en-US" sz="1600" dirty="0"/>
                        <a:t>…</a:t>
                      </a:r>
                    </a:p>
                  </a:txBody>
                  <a:tcPr/>
                </a:tc>
                <a:tc>
                  <a:txBody>
                    <a:bodyPr/>
                    <a:lstStyle/>
                    <a:p>
                      <a:r>
                        <a:rPr lang="en-US" sz="1600" dirty="0"/>
                        <a:t>…</a:t>
                      </a:r>
                    </a:p>
                  </a:txBody>
                  <a:tcPr/>
                </a:tc>
                <a:tc>
                  <a:txBody>
                    <a:bodyPr/>
                    <a:lstStyle/>
                    <a:p>
                      <a:r>
                        <a:rPr lang="en-US" sz="1600" dirty="0"/>
                        <a:t>…</a:t>
                      </a:r>
                    </a:p>
                  </a:txBody>
                  <a:tcPr/>
                </a:tc>
                <a:extLst>
                  <a:ext uri="{0D108BD9-81ED-4DB2-BD59-A6C34878D82A}">
                    <a16:rowId xmlns:a16="http://schemas.microsoft.com/office/drawing/2014/main" val="3186046771"/>
                  </a:ext>
                </a:extLst>
              </a:tr>
              <a:tr h="851780">
                <a:tc>
                  <a:txBody>
                    <a:bodyPr/>
                    <a:lstStyle/>
                    <a:p>
                      <a:pPr algn="ctr"/>
                      <a:r>
                        <a:rPr lang="en-US" sz="1600" dirty="0"/>
                        <a:t>FR32</a:t>
                      </a:r>
                    </a:p>
                  </a:txBody>
                  <a:tcPr/>
                </a:tc>
                <a:tc>
                  <a:txBody>
                    <a:bodyPr/>
                    <a:lstStyle/>
                    <a:p>
                      <a:r>
                        <a:rPr lang="en-US" sz="1600" dirty="0" err="1"/>
                        <a:t>Tự</a:t>
                      </a:r>
                      <a:r>
                        <a:rPr lang="en-US" sz="1600" dirty="0"/>
                        <a:t> </a:t>
                      </a:r>
                      <a:r>
                        <a:rPr lang="en-US" sz="1600" dirty="0" err="1"/>
                        <a:t>động</a:t>
                      </a:r>
                      <a:r>
                        <a:rPr lang="en-US" sz="1600" dirty="0"/>
                        <a:t> </a:t>
                      </a:r>
                      <a:r>
                        <a:rPr lang="en-US" sz="1600" dirty="0" err="1"/>
                        <a:t>gửi</a:t>
                      </a:r>
                      <a:r>
                        <a:rPr lang="en-US" sz="1600" dirty="0"/>
                        <a:t> </a:t>
                      </a:r>
                      <a:r>
                        <a:rPr lang="en-US" sz="1600" dirty="0" err="1"/>
                        <a:t>thông</a:t>
                      </a:r>
                      <a:r>
                        <a:rPr lang="en-US" sz="1600" dirty="0"/>
                        <a:t> </a:t>
                      </a:r>
                      <a:r>
                        <a:rPr lang="en-US" sz="1600" dirty="0" err="1"/>
                        <a:t>báo</a:t>
                      </a:r>
                      <a:r>
                        <a:rPr lang="en-US" sz="1600" dirty="0"/>
                        <a:t> </a:t>
                      </a:r>
                      <a:r>
                        <a:rPr lang="en-US" sz="1600" dirty="0" err="1"/>
                        <a:t>khi</a:t>
                      </a:r>
                      <a:r>
                        <a:rPr lang="en-US" sz="1600" dirty="0"/>
                        <a:t> </a:t>
                      </a:r>
                      <a:r>
                        <a:rPr lang="en-US" sz="1600" dirty="0" err="1"/>
                        <a:t>có</a:t>
                      </a:r>
                      <a:r>
                        <a:rPr lang="en-US" sz="1600" dirty="0"/>
                        <a:t> </a:t>
                      </a:r>
                      <a:r>
                        <a:rPr lang="en-US" sz="1600" dirty="0" err="1"/>
                        <a:t>báo</a:t>
                      </a:r>
                      <a:r>
                        <a:rPr lang="en-US" sz="1600" dirty="0"/>
                        <a:t> </a:t>
                      </a:r>
                      <a:r>
                        <a:rPr lang="en-US" sz="1600" dirty="0" err="1"/>
                        <a:t>cáo</a:t>
                      </a:r>
                      <a:r>
                        <a:rPr lang="en-US" sz="1600" dirty="0"/>
                        <a:t> </a:t>
                      </a:r>
                      <a:r>
                        <a:rPr lang="en-US" sz="1600" dirty="0" err="1"/>
                        <a:t>sự</a:t>
                      </a:r>
                      <a:r>
                        <a:rPr lang="en-US" sz="1600" dirty="0"/>
                        <a:t> </a:t>
                      </a:r>
                      <a:r>
                        <a:rPr lang="en-US" sz="1600" dirty="0" err="1"/>
                        <a:t>cố</a:t>
                      </a:r>
                      <a:r>
                        <a:rPr lang="en-US" sz="1600" dirty="0"/>
                        <a:t> </a:t>
                      </a:r>
                      <a:r>
                        <a:rPr lang="en-US" sz="1600" dirty="0" err="1"/>
                        <a:t>mới</a:t>
                      </a:r>
                      <a:r>
                        <a:rPr lang="en-US" sz="1600" dirty="0"/>
                        <a:t> </a:t>
                      </a:r>
                      <a:r>
                        <a:rPr lang="en-US" sz="1600" dirty="0" err="1"/>
                        <a:t>và</a:t>
                      </a:r>
                      <a:r>
                        <a:rPr lang="en-US" sz="1600" dirty="0"/>
                        <a:t> </a:t>
                      </a:r>
                      <a:r>
                        <a:rPr lang="en-US" sz="1600" dirty="0" err="1"/>
                        <a:t>khi</a:t>
                      </a:r>
                      <a:r>
                        <a:rPr lang="en-US" sz="1600" dirty="0"/>
                        <a:t> </a:t>
                      </a:r>
                      <a:r>
                        <a:rPr lang="en-US" sz="1600" dirty="0" err="1"/>
                        <a:t>cập</a:t>
                      </a:r>
                      <a:r>
                        <a:rPr lang="en-US" sz="1600" dirty="0"/>
                        <a:t> </a:t>
                      </a:r>
                      <a:r>
                        <a:rPr lang="en-US" sz="1600" dirty="0" err="1"/>
                        <a:t>nhật</a:t>
                      </a:r>
                      <a:r>
                        <a:rPr lang="en-US" sz="1600" dirty="0"/>
                        <a:t> </a:t>
                      </a:r>
                      <a:r>
                        <a:rPr lang="en-US" sz="1600" dirty="0" err="1"/>
                        <a:t>trạng</a:t>
                      </a:r>
                      <a:r>
                        <a:rPr lang="en-US" sz="1600" dirty="0"/>
                        <a:t> </a:t>
                      </a:r>
                      <a:r>
                        <a:rPr lang="en-US" sz="1600" dirty="0" err="1"/>
                        <a:t>thái</a:t>
                      </a:r>
                      <a:r>
                        <a:rPr lang="en-US" sz="1600" dirty="0"/>
                        <a:t> </a:t>
                      </a:r>
                      <a:r>
                        <a:rPr lang="en-US" sz="1600" dirty="0" err="1"/>
                        <a:t>xử</a:t>
                      </a:r>
                      <a:r>
                        <a:rPr lang="en-US" sz="1600" dirty="0"/>
                        <a:t> </a:t>
                      </a:r>
                      <a:r>
                        <a:rPr lang="en-US" sz="1600" dirty="0" err="1"/>
                        <a:t>lý</a:t>
                      </a:r>
                      <a:endParaRPr lang="en-US" sz="1600" dirty="0"/>
                    </a:p>
                  </a:txBody>
                  <a:tcPr/>
                </a:tc>
                <a:tc>
                  <a:txBody>
                    <a:bodyPr/>
                    <a:lstStyle/>
                    <a:p>
                      <a:r>
                        <a:rPr lang="en-US" sz="1600" dirty="0"/>
                        <a:t>US29</a:t>
                      </a:r>
                    </a:p>
                  </a:txBody>
                  <a:tcPr/>
                </a:tc>
                <a:tc>
                  <a:txBody>
                    <a:bodyPr/>
                    <a:lstStyle/>
                    <a:p>
                      <a:r>
                        <a:rPr lang="en-US" sz="1600" dirty="0"/>
                        <a:t>UC Thông </a:t>
                      </a:r>
                      <a:r>
                        <a:rPr lang="en-US" sz="1600" dirty="0" err="1"/>
                        <a:t>báo</a:t>
                      </a:r>
                      <a:r>
                        <a:rPr lang="en-US" sz="1600" dirty="0"/>
                        <a:t> (Thông </a:t>
                      </a:r>
                      <a:r>
                        <a:rPr lang="en-US" sz="1600" dirty="0" err="1"/>
                        <a:t>báo</a:t>
                      </a:r>
                      <a:r>
                        <a:rPr lang="en-US" sz="1600" dirty="0"/>
                        <a:t> </a:t>
                      </a:r>
                      <a:r>
                        <a:rPr lang="en-US" sz="1600" dirty="0" err="1"/>
                        <a:t>liên</a:t>
                      </a:r>
                      <a:r>
                        <a:rPr lang="en-US" sz="1600" dirty="0"/>
                        <a:t> </a:t>
                      </a:r>
                      <a:r>
                        <a:rPr lang="en-US" sz="1600" dirty="0" err="1"/>
                        <a:t>quan</a:t>
                      </a:r>
                      <a:r>
                        <a:rPr lang="en-US" sz="1600" dirty="0"/>
                        <a:t> </a:t>
                      </a:r>
                      <a:r>
                        <a:rPr lang="en-US" sz="1600" dirty="0" err="1"/>
                        <a:t>đến</a:t>
                      </a:r>
                      <a:r>
                        <a:rPr lang="en-US" sz="1600" dirty="0"/>
                        <a:t> </a:t>
                      </a:r>
                      <a:r>
                        <a:rPr lang="en-US" sz="1600" dirty="0" err="1"/>
                        <a:t>sự</a:t>
                      </a:r>
                      <a:r>
                        <a:rPr lang="en-US" sz="1600" dirty="0"/>
                        <a:t> </a:t>
                      </a:r>
                      <a:r>
                        <a:rPr lang="en-US" sz="1600" dirty="0" err="1"/>
                        <a:t>cố</a:t>
                      </a:r>
                      <a:r>
                        <a:rPr lang="en-US" sz="1600" dirty="0"/>
                        <a:t>)</a:t>
                      </a:r>
                    </a:p>
                  </a:txBody>
                  <a:tcPr/>
                </a:tc>
                <a:extLst>
                  <a:ext uri="{0D108BD9-81ED-4DB2-BD59-A6C34878D82A}">
                    <a16:rowId xmlns:a16="http://schemas.microsoft.com/office/drawing/2014/main" val="186467330"/>
                  </a:ext>
                </a:extLst>
              </a:tr>
            </a:tbl>
          </a:graphicData>
        </a:graphic>
      </p:graphicFrame>
    </p:spTree>
    <p:extLst>
      <p:ext uri="{BB962C8B-B14F-4D97-AF65-F5344CB8AC3E}">
        <p14:creationId xmlns:p14="http://schemas.microsoft.com/office/powerpoint/2010/main" val="1518393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97FEF1D6-1AFD-069C-AA8D-5DF33A8460BB}"/>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0A0565D6-5F67-7D85-2DC3-5D4F3F67623D}"/>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B531DBA9-D7EC-3974-412D-E82741B52BAB}"/>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chemeClr val="tx1"/>
                </a:solidFill>
                <a:latin typeface="Arial"/>
                <a:ea typeface="Arial"/>
                <a:cs typeface="Arial"/>
                <a:sym typeface="Arial"/>
              </a:rPr>
              <a:t>3.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tích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yêu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cầu</a:t>
            </a:r>
            <a:endParaRPr lang="en-US"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4. </a:t>
            </a:r>
            <a:r>
              <a:rPr lang="en-US" dirty="0" err="1">
                <a:solidFill>
                  <a:srgbClr val="FF0000"/>
                </a:solidFill>
                <a:latin typeface="Arial"/>
                <a:ea typeface="Arial"/>
                <a:cs typeface="Arial"/>
                <a:sym typeface="Arial"/>
              </a:rPr>
              <a:t>Phân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tích</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hệ</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thống</a:t>
            </a:r>
            <a:endParaRPr lang="vi-VN" dirty="0">
              <a:solidFill>
                <a:srgbClr val="FF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5</a:t>
            </a:r>
            <a:r>
              <a:rPr lang="vi-VN" dirty="0">
                <a:latin typeface="Arial"/>
                <a:ea typeface="Arial"/>
                <a:cs typeface="Arial"/>
                <a:sym typeface="Arial"/>
              </a:rPr>
              <a:t>. </a:t>
            </a:r>
            <a:r>
              <a:rPr lang="en-US" dirty="0" err="1">
                <a:latin typeface="Arial"/>
                <a:ea typeface="Arial"/>
                <a:cs typeface="Arial"/>
                <a:sym typeface="Arial"/>
              </a:rPr>
              <a:t>Thiết</a:t>
            </a:r>
            <a:r>
              <a:rPr lang="en-US" dirty="0">
                <a:latin typeface="Arial"/>
                <a:ea typeface="Arial"/>
                <a:cs typeface="Arial"/>
                <a:sym typeface="Arial"/>
              </a:rPr>
              <a:t> </a:t>
            </a:r>
            <a:r>
              <a:rPr lang="en-US" dirty="0" err="1">
                <a:latin typeface="Arial"/>
                <a:ea typeface="Arial"/>
                <a:cs typeface="Arial"/>
                <a:sym typeface="Arial"/>
              </a:rPr>
              <a:t>kế</a:t>
            </a:r>
            <a:r>
              <a:rPr lang="en-US" dirty="0">
                <a:latin typeface="Arial"/>
                <a:ea typeface="Arial"/>
                <a:cs typeface="Arial"/>
                <a:sym typeface="Arial"/>
              </a:rPr>
              <a:t> </a:t>
            </a:r>
            <a:r>
              <a:rPr lang="en-US" dirty="0" err="1">
                <a:latin typeface="Arial"/>
                <a:ea typeface="Arial"/>
                <a:cs typeface="Arial"/>
                <a:sym typeface="Arial"/>
              </a:rPr>
              <a:t>kiến</a:t>
            </a:r>
            <a:r>
              <a:rPr lang="en-US" dirty="0">
                <a:latin typeface="Arial"/>
                <a:ea typeface="Arial"/>
                <a:cs typeface="Arial"/>
                <a:sym typeface="Arial"/>
              </a:rPr>
              <a:t> </a:t>
            </a:r>
            <a:r>
              <a:rPr lang="en-US" dirty="0" err="1">
                <a:latin typeface="Arial"/>
                <a:ea typeface="Arial"/>
                <a:cs typeface="Arial"/>
                <a:sym typeface="Arial"/>
              </a:rPr>
              <a:t>trúc</a:t>
            </a:r>
            <a:r>
              <a:rPr lang="en-US" dirty="0">
                <a:latin typeface="Arial"/>
                <a:ea typeface="Arial"/>
                <a:cs typeface="Arial"/>
                <a:sym typeface="Arial"/>
              </a:rPr>
              <a:t> </a:t>
            </a:r>
            <a:r>
              <a:rPr lang="en-US" dirty="0" err="1">
                <a:latin typeface="Arial"/>
                <a:ea typeface="Arial"/>
                <a:cs typeface="Arial"/>
                <a:sym typeface="Arial"/>
              </a:rPr>
              <a:t>hệ</a:t>
            </a:r>
            <a:r>
              <a:rPr lang="en-US" dirty="0">
                <a:latin typeface="Arial"/>
                <a:ea typeface="Arial"/>
                <a:cs typeface="Arial"/>
                <a:sym typeface="Arial"/>
              </a:rPr>
              <a:t> </a:t>
            </a:r>
            <a:r>
              <a:rPr lang="en-US" dirty="0" err="1">
                <a:latin typeface="Arial"/>
                <a:ea typeface="Arial"/>
                <a:cs typeface="Arial"/>
                <a:sym typeface="Arial"/>
              </a:rPr>
              <a:t>thống</a:t>
            </a:r>
            <a:endParaRPr lang="en-US" dirty="0">
              <a:latin typeface="Arial"/>
              <a:ea typeface="Arial"/>
              <a:cs typeface="Arial"/>
              <a:sym typeface="Arial"/>
            </a:endParaRPr>
          </a:p>
        </p:txBody>
      </p:sp>
      <p:sp>
        <p:nvSpPr>
          <p:cNvPr id="97" name="Google Shape;97;p17">
            <a:extLst>
              <a:ext uri="{FF2B5EF4-FFF2-40B4-BE49-F238E27FC236}">
                <a16:creationId xmlns:a16="http://schemas.microsoft.com/office/drawing/2014/main" id="{D17B5EED-CEC6-88BE-9C8B-F3B54E451138}"/>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617620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en-US" dirty="0"/>
              <a:t>Use case</a:t>
            </a:r>
            <a:r>
              <a:rPr lang="vi-VN" dirty="0"/>
              <a:t> - </a:t>
            </a:r>
            <a:r>
              <a:rPr lang="en-US" dirty="0"/>
              <a:t>T</a:t>
            </a:r>
            <a:r>
              <a:rPr lang="vi-VN" dirty="0"/>
              <a:t>ổng thể</a:t>
            </a:r>
            <a:endParaRPr dirty="0"/>
          </a:p>
        </p:txBody>
      </p:sp>
      <p:sp>
        <p:nvSpPr>
          <p:cNvPr id="183" name="Google Shape;183;p29"/>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9" name="image11.png">
            <a:extLst>
              <a:ext uri="{FF2B5EF4-FFF2-40B4-BE49-F238E27FC236}">
                <a16:creationId xmlns:a16="http://schemas.microsoft.com/office/drawing/2014/main" id="{80DDF0A7-7A4D-B21C-AC5B-D4318F172BB3}"/>
              </a:ext>
            </a:extLst>
          </p:cNvPr>
          <p:cNvPicPr/>
          <p:nvPr/>
        </p:nvPicPr>
        <p:blipFill>
          <a:blip r:embed="rId3"/>
          <a:srcRect/>
          <a:stretch>
            <a:fillRect/>
          </a:stretch>
        </p:blipFill>
        <p:spPr>
          <a:xfrm>
            <a:off x="2615380" y="1209368"/>
            <a:ext cx="6961239" cy="5016909"/>
          </a:xfrm>
          <a:prstGeom prst="rect">
            <a:avLst/>
          </a:prstGeo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3"/>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sp>
        <p:nvSpPr>
          <p:cNvPr id="211" name="Google Shape;211;p33"/>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Use</a:t>
            </a:r>
            <a:r>
              <a:rPr lang="vi-VN" dirty="0"/>
              <a:t> </a:t>
            </a:r>
            <a:r>
              <a:rPr lang="vi-VN" dirty="0" err="1"/>
              <a:t>Case</a:t>
            </a:r>
            <a:r>
              <a:rPr lang="vi-VN" dirty="0"/>
              <a:t> – Đăng nhập, phân quyền</a:t>
            </a:r>
            <a:endParaRPr dirty="0"/>
          </a:p>
        </p:txBody>
      </p:sp>
      <p:pic>
        <p:nvPicPr>
          <p:cNvPr id="2" name="Picture 1">
            <a:extLst>
              <a:ext uri="{FF2B5EF4-FFF2-40B4-BE49-F238E27FC236}">
                <a16:creationId xmlns:a16="http://schemas.microsoft.com/office/drawing/2014/main" id="{B7026567-844A-B455-1157-DA90CFB67E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1627" y="1562832"/>
            <a:ext cx="7448746" cy="373233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8C10F1-F30F-9F75-8DD4-2C33EF6978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3" name="Title 2">
            <a:extLst>
              <a:ext uri="{FF2B5EF4-FFF2-40B4-BE49-F238E27FC236}">
                <a16:creationId xmlns:a16="http://schemas.microsoft.com/office/drawing/2014/main" id="{BF0ABEB6-02AE-5EA2-3292-1AD1AB27529C}"/>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phòng, người thuê</a:t>
            </a:r>
            <a:endParaRPr lang="en-US" dirty="0"/>
          </a:p>
        </p:txBody>
      </p:sp>
      <p:pic>
        <p:nvPicPr>
          <p:cNvPr id="9" name="Picture 8">
            <a:extLst>
              <a:ext uri="{FF2B5EF4-FFF2-40B4-BE49-F238E27FC236}">
                <a16:creationId xmlns:a16="http://schemas.microsoft.com/office/drawing/2014/main" id="{1DF1E00F-17DD-9064-91C6-A57BD02EA25B}"/>
              </a:ext>
            </a:extLst>
          </p:cNvPr>
          <p:cNvPicPr>
            <a:picLocks noChangeAspect="1"/>
          </p:cNvPicPr>
          <p:nvPr/>
        </p:nvPicPr>
        <p:blipFill>
          <a:blip r:embed="rId2"/>
          <a:stretch>
            <a:fillRect/>
          </a:stretch>
        </p:blipFill>
        <p:spPr>
          <a:xfrm>
            <a:off x="330201" y="1406769"/>
            <a:ext cx="5765799" cy="4648200"/>
          </a:xfrm>
          <a:prstGeom prst="rect">
            <a:avLst/>
          </a:prstGeom>
        </p:spPr>
      </p:pic>
      <p:pic>
        <p:nvPicPr>
          <p:cNvPr id="13" name="Picture 12">
            <a:extLst>
              <a:ext uri="{FF2B5EF4-FFF2-40B4-BE49-F238E27FC236}">
                <a16:creationId xmlns:a16="http://schemas.microsoft.com/office/drawing/2014/main" id="{9FA33CCD-E31C-755E-D62C-A1379BC26EA7}"/>
              </a:ext>
            </a:extLst>
          </p:cNvPr>
          <p:cNvPicPr>
            <a:picLocks noChangeAspect="1"/>
          </p:cNvPicPr>
          <p:nvPr/>
        </p:nvPicPr>
        <p:blipFill>
          <a:blip r:embed="rId3"/>
          <a:stretch>
            <a:fillRect/>
          </a:stretch>
        </p:blipFill>
        <p:spPr>
          <a:xfrm>
            <a:off x="6219210" y="1406769"/>
            <a:ext cx="5634054" cy="4655894"/>
          </a:xfrm>
          <a:prstGeom prst="rect">
            <a:avLst/>
          </a:prstGeom>
        </p:spPr>
      </p:pic>
    </p:spTree>
    <p:extLst>
      <p:ext uri="{BB962C8B-B14F-4D97-AF65-F5344CB8AC3E}">
        <p14:creationId xmlns:p14="http://schemas.microsoft.com/office/powerpoint/2010/main" val="2615458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A866D8-433D-B3DB-01E7-A277E7506C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3" name="Title 2">
            <a:extLst>
              <a:ext uri="{FF2B5EF4-FFF2-40B4-BE49-F238E27FC236}">
                <a16:creationId xmlns:a16="http://schemas.microsoft.com/office/drawing/2014/main" id="{CAB0F772-2415-5445-EF55-0AC885EBB76E}"/>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khoản phí và hóa đơn</a:t>
            </a:r>
            <a:endParaRPr lang="en-US" dirty="0"/>
          </a:p>
        </p:txBody>
      </p:sp>
      <p:pic>
        <p:nvPicPr>
          <p:cNvPr id="16" name="Picture 15">
            <a:extLst>
              <a:ext uri="{FF2B5EF4-FFF2-40B4-BE49-F238E27FC236}">
                <a16:creationId xmlns:a16="http://schemas.microsoft.com/office/drawing/2014/main" id="{AB7BE992-0AED-AD46-CF6D-C1F5A6E4B216}"/>
              </a:ext>
            </a:extLst>
          </p:cNvPr>
          <p:cNvPicPr>
            <a:picLocks noChangeAspect="1"/>
          </p:cNvPicPr>
          <p:nvPr/>
        </p:nvPicPr>
        <p:blipFill>
          <a:blip r:embed="rId2"/>
          <a:stretch>
            <a:fillRect/>
          </a:stretch>
        </p:blipFill>
        <p:spPr>
          <a:xfrm>
            <a:off x="338736" y="1406769"/>
            <a:ext cx="5757264" cy="4655894"/>
          </a:xfrm>
          <a:prstGeom prst="rect">
            <a:avLst/>
          </a:prstGeom>
        </p:spPr>
      </p:pic>
      <p:pic>
        <p:nvPicPr>
          <p:cNvPr id="18" name="Picture 17">
            <a:extLst>
              <a:ext uri="{FF2B5EF4-FFF2-40B4-BE49-F238E27FC236}">
                <a16:creationId xmlns:a16="http://schemas.microsoft.com/office/drawing/2014/main" id="{54B2B77E-7AC4-7F28-988A-73775484827B}"/>
              </a:ext>
            </a:extLst>
          </p:cNvPr>
          <p:cNvPicPr>
            <a:picLocks noChangeAspect="1"/>
          </p:cNvPicPr>
          <p:nvPr/>
        </p:nvPicPr>
        <p:blipFill>
          <a:blip r:embed="rId3"/>
          <a:stretch>
            <a:fillRect/>
          </a:stretch>
        </p:blipFill>
        <p:spPr>
          <a:xfrm>
            <a:off x="6277879" y="1406769"/>
            <a:ext cx="5757264" cy="4655893"/>
          </a:xfrm>
          <a:prstGeom prst="rect">
            <a:avLst/>
          </a:prstGeom>
        </p:spPr>
      </p:pic>
    </p:spTree>
    <p:extLst>
      <p:ext uri="{BB962C8B-B14F-4D97-AF65-F5344CB8AC3E}">
        <p14:creationId xmlns:p14="http://schemas.microsoft.com/office/powerpoint/2010/main" val="1832599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EA6A5D-0371-699C-4950-FD67D10443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3" name="Title 2">
            <a:extLst>
              <a:ext uri="{FF2B5EF4-FFF2-40B4-BE49-F238E27FC236}">
                <a16:creationId xmlns:a16="http://schemas.microsoft.com/office/drawing/2014/main" id="{3E036881-250B-53FF-679B-5F836C3749E1}"/>
              </a:ext>
            </a:extLst>
          </p:cNvPr>
          <p:cNvSpPr>
            <a:spLocks noGrp="1"/>
          </p:cNvSpPr>
          <p:nvPr>
            <p:ph type="title"/>
          </p:nvPr>
        </p:nvSpPr>
        <p:spPr/>
        <p:txBody>
          <a:bodyPr/>
          <a:lstStyle/>
          <a:p>
            <a:pPr algn="ctr"/>
            <a:r>
              <a:rPr lang="vi-VN" dirty="0" err="1"/>
              <a:t>Use</a:t>
            </a:r>
            <a:r>
              <a:rPr lang="vi-VN" dirty="0"/>
              <a:t> </a:t>
            </a:r>
            <a:r>
              <a:rPr lang="vi-VN" dirty="0" err="1"/>
              <a:t>Case</a:t>
            </a:r>
            <a:r>
              <a:rPr lang="vi-VN" dirty="0"/>
              <a:t> – Tìm kiếm, thống kê</a:t>
            </a:r>
            <a:endParaRPr lang="en-US" dirty="0"/>
          </a:p>
        </p:txBody>
      </p:sp>
      <p:pic>
        <p:nvPicPr>
          <p:cNvPr id="7" name="Picture 6">
            <a:extLst>
              <a:ext uri="{FF2B5EF4-FFF2-40B4-BE49-F238E27FC236}">
                <a16:creationId xmlns:a16="http://schemas.microsoft.com/office/drawing/2014/main" id="{FF77A36B-77B5-0BB2-517D-FE7CA9D624EA}"/>
              </a:ext>
            </a:extLst>
          </p:cNvPr>
          <p:cNvPicPr>
            <a:picLocks noChangeAspect="1"/>
          </p:cNvPicPr>
          <p:nvPr/>
        </p:nvPicPr>
        <p:blipFill>
          <a:blip r:embed="rId2"/>
          <a:stretch>
            <a:fillRect/>
          </a:stretch>
        </p:blipFill>
        <p:spPr>
          <a:xfrm>
            <a:off x="2324100" y="1368108"/>
            <a:ext cx="7543800" cy="4305300"/>
          </a:xfrm>
          <a:prstGeom prst="rect">
            <a:avLst/>
          </a:prstGeom>
        </p:spPr>
      </p:pic>
    </p:spTree>
    <p:extLst>
      <p:ext uri="{BB962C8B-B14F-4D97-AF65-F5344CB8AC3E}">
        <p14:creationId xmlns:p14="http://schemas.microsoft.com/office/powerpoint/2010/main" val="307523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A5AE07-AFD7-F211-06D1-24A9EF6EEA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3" name="Title 2">
            <a:extLst>
              <a:ext uri="{FF2B5EF4-FFF2-40B4-BE49-F238E27FC236}">
                <a16:creationId xmlns:a16="http://schemas.microsoft.com/office/drawing/2014/main" id="{AD56A0E7-4E7E-468C-7E48-63FA330CF76C}"/>
              </a:ext>
            </a:extLst>
          </p:cNvPr>
          <p:cNvSpPr>
            <a:spLocks noGrp="1"/>
          </p:cNvSpPr>
          <p:nvPr>
            <p:ph type="title"/>
          </p:nvPr>
        </p:nvSpPr>
        <p:spPr/>
        <p:txBody>
          <a:bodyPr/>
          <a:lstStyle/>
          <a:p>
            <a:pPr algn="ctr"/>
            <a:r>
              <a:rPr lang="vi-VN" dirty="0" err="1"/>
              <a:t>Use</a:t>
            </a:r>
            <a:r>
              <a:rPr lang="vi-VN" dirty="0"/>
              <a:t> </a:t>
            </a:r>
            <a:r>
              <a:rPr lang="vi-VN" dirty="0" err="1"/>
              <a:t>Case</a:t>
            </a:r>
            <a:r>
              <a:rPr lang="vi-VN" dirty="0"/>
              <a:t> – Quản lý thông báo, báo cáo</a:t>
            </a:r>
            <a:endParaRPr lang="en-US" dirty="0"/>
          </a:p>
        </p:txBody>
      </p:sp>
      <p:pic>
        <p:nvPicPr>
          <p:cNvPr id="7" name="Picture 6">
            <a:extLst>
              <a:ext uri="{FF2B5EF4-FFF2-40B4-BE49-F238E27FC236}">
                <a16:creationId xmlns:a16="http://schemas.microsoft.com/office/drawing/2014/main" id="{A7F162C9-6A6E-4107-F6CB-5D1E51D68430}"/>
              </a:ext>
            </a:extLst>
          </p:cNvPr>
          <p:cNvPicPr>
            <a:picLocks noChangeAspect="1"/>
          </p:cNvPicPr>
          <p:nvPr/>
        </p:nvPicPr>
        <p:blipFill>
          <a:blip r:embed="rId2"/>
          <a:stretch>
            <a:fillRect/>
          </a:stretch>
        </p:blipFill>
        <p:spPr>
          <a:xfrm>
            <a:off x="6277879" y="1406769"/>
            <a:ext cx="5757264" cy="4655894"/>
          </a:xfrm>
          <a:prstGeom prst="rect">
            <a:avLst/>
          </a:prstGeom>
        </p:spPr>
      </p:pic>
      <p:pic>
        <p:nvPicPr>
          <p:cNvPr id="9" name="Picture 8">
            <a:extLst>
              <a:ext uri="{FF2B5EF4-FFF2-40B4-BE49-F238E27FC236}">
                <a16:creationId xmlns:a16="http://schemas.microsoft.com/office/drawing/2014/main" id="{24D8D7E3-DC8A-EF24-8B8C-B97DCDDE4C28}"/>
              </a:ext>
            </a:extLst>
          </p:cNvPr>
          <p:cNvPicPr>
            <a:picLocks noChangeAspect="1"/>
          </p:cNvPicPr>
          <p:nvPr/>
        </p:nvPicPr>
        <p:blipFill>
          <a:blip r:embed="rId3"/>
          <a:stretch>
            <a:fillRect/>
          </a:stretch>
        </p:blipFill>
        <p:spPr>
          <a:xfrm>
            <a:off x="330201" y="1406769"/>
            <a:ext cx="5765799" cy="4655894"/>
          </a:xfrm>
          <a:prstGeom prst="rect">
            <a:avLst/>
          </a:prstGeom>
        </p:spPr>
      </p:pic>
    </p:spTree>
    <p:extLst>
      <p:ext uri="{BB962C8B-B14F-4D97-AF65-F5344CB8AC3E}">
        <p14:creationId xmlns:p14="http://schemas.microsoft.com/office/powerpoint/2010/main" val="2644264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Đăng nhập, phân quyền</a:t>
            </a:r>
            <a:endParaRPr dirty="0"/>
          </a:p>
        </p:txBody>
      </p:sp>
      <p:sp>
        <p:nvSpPr>
          <p:cNvPr id="220" name="Google Shape;220;p3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a:p>
        </p:txBody>
      </p:sp>
      <p:pic>
        <p:nvPicPr>
          <p:cNvPr id="15" name="Picture 14">
            <a:extLst>
              <a:ext uri="{FF2B5EF4-FFF2-40B4-BE49-F238E27FC236}">
                <a16:creationId xmlns:a16="http://schemas.microsoft.com/office/drawing/2014/main" id="{B9863336-FE63-B059-B028-70BA391C2449}"/>
              </a:ext>
            </a:extLst>
          </p:cNvPr>
          <p:cNvPicPr>
            <a:picLocks noChangeAspect="1"/>
          </p:cNvPicPr>
          <p:nvPr/>
        </p:nvPicPr>
        <p:blipFill>
          <a:blip r:embed="rId3"/>
          <a:stretch>
            <a:fillRect/>
          </a:stretch>
        </p:blipFill>
        <p:spPr>
          <a:xfrm>
            <a:off x="2782529" y="648928"/>
            <a:ext cx="6626941" cy="620907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0A8DEAC5-730D-AC17-F268-2322A6434453}"/>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A7E6F585-B2C5-F890-F825-455D1BE9F20D}"/>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Quản lý phòng, người thuê, hợp đồng</a:t>
            </a:r>
            <a:endParaRPr dirty="0"/>
          </a:p>
        </p:txBody>
      </p:sp>
      <p:sp>
        <p:nvSpPr>
          <p:cNvPr id="220" name="Google Shape;220;p34">
            <a:extLst>
              <a:ext uri="{FF2B5EF4-FFF2-40B4-BE49-F238E27FC236}">
                <a16:creationId xmlns:a16="http://schemas.microsoft.com/office/drawing/2014/main" id="{75D89934-874A-2C07-6C09-114609A3BEB6}"/>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a:p>
        </p:txBody>
      </p:sp>
      <p:pic>
        <p:nvPicPr>
          <p:cNvPr id="3" name="Picture 2">
            <a:extLst>
              <a:ext uri="{FF2B5EF4-FFF2-40B4-BE49-F238E27FC236}">
                <a16:creationId xmlns:a16="http://schemas.microsoft.com/office/drawing/2014/main" id="{1280BAA7-5596-B6B5-6675-D85C738A4061}"/>
              </a:ext>
            </a:extLst>
          </p:cNvPr>
          <p:cNvPicPr>
            <a:picLocks noChangeAspect="1"/>
          </p:cNvPicPr>
          <p:nvPr/>
        </p:nvPicPr>
        <p:blipFill>
          <a:blip r:embed="rId3"/>
          <a:stretch>
            <a:fillRect/>
          </a:stretch>
        </p:blipFill>
        <p:spPr>
          <a:xfrm>
            <a:off x="2874596" y="764458"/>
            <a:ext cx="6442808" cy="6100916"/>
          </a:xfrm>
          <a:prstGeom prst="rect">
            <a:avLst/>
          </a:prstGeom>
        </p:spPr>
      </p:pic>
    </p:spTree>
    <p:extLst>
      <p:ext uri="{BB962C8B-B14F-4D97-AF65-F5344CB8AC3E}">
        <p14:creationId xmlns:p14="http://schemas.microsoft.com/office/powerpoint/2010/main" val="897962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FE59FFAA-B81D-2387-FEAD-4B13EF80DE95}"/>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CB9D03CF-2275-AE80-3AC5-CFB11930D5DE}"/>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Quản lý thanh toán, hóa đơn</a:t>
            </a:r>
            <a:endParaRPr dirty="0"/>
          </a:p>
        </p:txBody>
      </p:sp>
      <p:sp>
        <p:nvSpPr>
          <p:cNvPr id="220" name="Google Shape;220;p34">
            <a:extLst>
              <a:ext uri="{FF2B5EF4-FFF2-40B4-BE49-F238E27FC236}">
                <a16:creationId xmlns:a16="http://schemas.microsoft.com/office/drawing/2014/main" id="{E9B9F8E1-7514-56B3-1595-38B94240CB5C}"/>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a:p>
        </p:txBody>
      </p:sp>
      <p:pic>
        <p:nvPicPr>
          <p:cNvPr id="3" name="Picture 2">
            <a:extLst>
              <a:ext uri="{FF2B5EF4-FFF2-40B4-BE49-F238E27FC236}">
                <a16:creationId xmlns:a16="http://schemas.microsoft.com/office/drawing/2014/main" id="{E411A7CE-9E3E-EE14-79B9-A69D0F74B45B}"/>
              </a:ext>
            </a:extLst>
          </p:cNvPr>
          <p:cNvPicPr>
            <a:picLocks noChangeAspect="1"/>
          </p:cNvPicPr>
          <p:nvPr/>
        </p:nvPicPr>
        <p:blipFill>
          <a:blip r:embed="rId3"/>
          <a:stretch>
            <a:fillRect/>
          </a:stretch>
        </p:blipFill>
        <p:spPr>
          <a:xfrm>
            <a:off x="2950288" y="715333"/>
            <a:ext cx="6291423" cy="6142667"/>
          </a:xfrm>
          <a:prstGeom prst="rect">
            <a:avLst/>
          </a:prstGeom>
        </p:spPr>
      </p:pic>
    </p:spTree>
    <p:extLst>
      <p:ext uri="{BB962C8B-B14F-4D97-AF65-F5344CB8AC3E}">
        <p14:creationId xmlns:p14="http://schemas.microsoft.com/office/powerpoint/2010/main" val="2310929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C9FF95B5-A7F9-7956-F6A0-FF139F156407}"/>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275EF455-9D5F-2590-7CDC-57607B0CB3B4}"/>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Tìm kiếm, thống kê</a:t>
            </a:r>
            <a:endParaRPr dirty="0"/>
          </a:p>
        </p:txBody>
      </p:sp>
      <p:sp>
        <p:nvSpPr>
          <p:cNvPr id="220" name="Google Shape;220;p34">
            <a:extLst>
              <a:ext uri="{FF2B5EF4-FFF2-40B4-BE49-F238E27FC236}">
                <a16:creationId xmlns:a16="http://schemas.microsoft.com/office/drawing/2014/main" id="{1A444D2E-9968-7369-74E5-FAEB21E05582}"/>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33</a:t>
            </a:fld>
            <a:endParaRPr/>
          </a:p>
        </p:txBody>
      </p:sp>
      <p:pic>
        <p:nvPicPr>
          <p:cNvPr id="3" name="Picture 2">
            <a:extLst>
              <a:ext uri="{FF2B5EF4-FFF2-40B4-BE49-F238E27FC236}">
                <a16:creationId xmlns:a16="http://schemas.microsoft.com/office/drawing/2014/main" id="{220E364B-B697-41F9-02DF-71F25023C52F}"/>
              </a:ext>
            </a:extLst>
          </p:cNvPr>
          <p:cNvPicPr>
            <a:picLocks noChangeAspect="1"/>
          </p:cNvPicPr>
          <p:nvPr/>
        </p:nvPicPr>
        <p:blipFill>
          <a:blip r:embed="rId3"/>
          <a:stretch>
            <a:fillRect/>
          </a:stretch>
        </p:blipFill>
        <p:spPr>
          <a:xfrm>
            <a:off x="1807546" y="658762"/>
            <a:ext cx="8576907" cy="6086695"/>
          </a:xfrm>
          <a:prstGeom prst="rect">
            <a:avLst/>
          </a:prstGeom>
        </p:spPr>
      </p:pic>
    </p:spTree>
    <p:extLst>
      <p:ext uri="{BB962C8B-B14F-4D97-AF65-F5344CB8AC3E}">
        <p14:creationId xmlns:p14="http://schemas.microsoft.com/office/powerpoint/2010/main" val="1952601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75472D7C-82B7-4464-C0E8-A01B2A4D7DE7}"/>
            </a:ext>
          </a:extLst>
        </p:cNvPr>
        <p:cNvGrpSpPr/>
        <p:nvPr/>
      </p:nvGrpSpPr>
      <p:grpSpPr>
        <a:xfrm>
          <a:off x="0" y="0"/>
          <a:ext cx="0" cy="0"/>
          <a:chOff x="0" y="0"/>
          <a:chExt cx="0" cy="0"/>
        </a:xfrm>
      </p:grpSpPr>
      <p:sp>
        <p:nvSpPr>
          <p:cNvPr id="218" name="Google Shape;218;p34">
            <a:extLst>
              <a:ext uri="{FF2B5EF4-FFF2-40B4-BE49-F238E27FC236}">
                <a16:creationId xmlns:a16="http://schemas.microsoft.com/office/drawing/2014/main" id="{F7E23DC4-A4A4-F60D-8C50-1F47386848B7}"/>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2800"/>
              <a:buFont typeface="Lato"/>
              <a:buNone/>
            </a:pPr>
            <a:r>
              <a:rPr lang="vi-VN" dirty="0" err="1"/>
              <a:t>Sequence</a:t>
            </a:r>
            <a:r>
              <a:rPr lang="vi-VN" dirty="0"/>
              <a:t> – Báo cáo sự cố, thông báo</a:t>
            </a:r>
            <a:endParaRPr dirty="0"/>
          </a:p>
        </p:txBody>
      </p:sp>
      <p:sp>
        <p:nvSpPr>
          <p:cNvPr id="220" name="Google Shape;220;p34">
            <a:extLst>
              <a:ext uri="{FF2B5EF4-FFF2-40B4-BE49-F238E27FC236}">
                <a16:creationId xmlns:a16="http://schemas.microsoft.com/office/drawing/2014/main" id="{CBE4831F-002F-DCD9-E36C-F9F336339BD4}"/>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34</a:t>
            </a:fld>
            <a:endParaRPr/>
          </a:p>
        </p:txBody>
      </p:sp>
      <p:pic>
        <p:nvPicPr>
          <p:cNvPr id="3" name="Picture 2">
            <a:extLst>
              <a:ext uri="{FF2B5EF4-FFF2-40B4-BE49-F238E27FC236}">
                <a16:creationId xmlns:a16="http://schemas.microsoft.com/office/drawing/2014/main" id="{F010825C-3B2C-090A-8A15-5456CAD4213B}"/>
              </a:ext>
            </a:extLst>
          </p:cNvPr>
          <p:cNvPicPr>
            <a:picLocks noChangeAspect="1"/>
          </p:cNvPicPr>
          <p:nvPr/>
        </p:nvPicPr>
        <p:blipFill>
          <a:blip r:embed="rId3"/>
          <a:stretch>
            <a:fillRect/>
          </a:stretch>
        </p:blipFill>
        <p:spPr>
          <a:xfrm>
            <a:off x="2580967" y="629264"/>
            <a:ext cx="7030065" cy="6228736"/>
          </a:xfrm>
          <a:prstGeom prst="rect">
            <a:avLst/>
          </a:prstGeom>
        </p:spPr>
      </p:pic>
    </p:spTree>
    <p:extLst>
      <p:ext uri="{BB962C8B-B14F-4D97-AF65-F5344CB8AC3E}">
        <p14:creationId xmlns:p14="http://schemas.microsoft.com/office/powerpoint/2010/main" val="186810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1E27-E56D-3C37-B7E5-34E49214CC5C}"/>
              </a:ext>
            </a:extLst>
          </p:cNvPr>
          <p:cNvSpPr>
            <a:spLocks noGrp="1"/>
          </p:cNvSpPr>
          <p:nvPr>
            <p:ph type="title"/>
          </p:nvPr>
        </p:nvSpPr>
        <p:spPr/>
        <p:txBody>
          <a:bodyPr/>
          <a:lstStyle/>
          <a:p>
            <a:pPr algn="ctr"/>
            <a:r>
              <a:rPr lang="vi-VN" dirty="0" err="1"/>
              <a:t>Activity</a:t>
            </a:r>
            <a:r>
              <a:rPr lang="vi-VN" dirty="0"/>
              <a:t> – Đăng nhập, phân quyền </a:t>
            </a:r>
            <a:endParaRPr lang="en-US" dirty="0"/>
          </a:p>
        </p:txBody>
      </p:sp>
      <p:sp>
        <p:nvSpPr>
          <p:cNvPr id="4" name="Slide Number Placeholder 3">
            <a:extLst>
              <a:ext uri="{FF2B5EF4-FFF2-40B4-BE49-F238E27FC236}">
                <a16:creationId xmlns:a16="http://schemas.microsoft.com/office/drawing/2014/main" id="{E30EC894-D212-D349-182B-D9C4F17CFF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pic>
        <p:nvPicPr>
          <p:cNvPr id="6" name="Picture 5">
            <a:extLst>
              <a:ext uri="{FF2B5EF4-FFF2-40B4-BE49-F238E27FC236}">
                <a16:creationId xmlns:a16="http://schemas.microsoft.com/office/drawing/2014/main" id="{3DB136AD-56D4-1982-F6A8-F68FB17F8639}"/>
              </a:ext>
            </a:extLst>
          </p:cNvPr>
          <p:cNvPicPr>
            <a:picLocks noChangeAspect="1"/>
          </p:cNvPicPr>
          <p:nvPr/>
        </p:nvPicPr>
        <p:blipFill>
          <a:blip r:embed="rId2"/>
          <a:stretch>
            <a:fillRect/>
          </a:stretch>
        </p:blipFill>
        <p:spPr>
          <a:xfrm>
            <a:off x="2091813" y="907977"/>
            <a:ext cx="8008373" cy="5403666"/>
          </a:xfrm>
          <a:prstGeom prst="rect">
            <a:avLst/>
          </a:prstGeom>
        </p:spPr>
      </p:pic>
    </p:spTree>
    <p:extLst>
      <p:ext uri="{BB962C8B-B14F-4D97-AF65-F5344CB8AC3E}">
        <p14:creationId xmlns:p14="http://schemas.microsoft.com/office/powerpoint/2010/main" val="3555142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6D587-87B9-ED6E-064F-E79E425B1C4E}"/>
              </a:ext>
            </a:extLst>
          </p:cNvPr>
          <p:cNvSpPr>
            <a:spLocks noGrp="1"/>
          </p:cNvSpPr>
          <p:nvPr>
            <p:ph type="title"/>
          </p:nvPr>
        </p:nvSpPr>
        <p:spPr/>
        <p:txBody>
          <a:bodyPr/>
          <a:lstStyle/>
          <a:p>
            <a:pPr algn="ctr"/>
            <a:r>
              <a:rPr lang="vi-VN" dirty="0" err="1"/>
              <a:t>Activity</a:t>
            </a:r>
            <a:r>
              <a:rPr lang="vi-VN" dirty="0"/>
              <a:t> – Quản lý phòng, người thuê</a:t>
            </a:r>
            <a:endParaRPr lang="en-US" dirty="0"/>
          </a:p>
        </p:txBody>
      </p:sp>
      <p:sp>
        <p:nvSpPr>
          <p:cNvPr id="4" name="Slide Number Placeholder 3">
            <a:extLst>
              <a:ext uri="{FF2B5EF4-FFF2-40B4-BE49-F238E27FC236}">
                <a16:creationId xmlns:a16="http://schemas.microsoft.com/office/drawing/2014/main" id="{3766382F-8E4E-DB52-C550-69DCE7494A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pic>
        <p:nvPicPr>
          <p:cNvPr id="6" name="Picture 5">
            <a:extLst>
              <a:ext uri="{FF2B5EF4-FFF2-40B4-BE49-F238E27FC236}">
                <a16:creationId xmlns:a16="http://schemas.microsoft.com/office/drawing/2014/main" id="{11B9574B-27E3-A15D-6052-D6B9084F4F12}"/>
              </a:ext>
            </a:extLst>
          </p:cNvPr>
          <p:cNvPicPr>
            <a:picLocks noChangeAspect="1"/>
          </p:cNvPicPr>
          <p:nvPr/>
        </p:nvPicPr>
        <p:blipFill>
          <a:blip r:embed="rId2"/>
          <a:stretch>
            <a:fillRect/>
          </a:stretch>
        </p:blipFill>
        <p:spPr>
          <a:xfrm>
            <a:off x="78658" y="1294688"/>
            <a:ext cx="5732206" cy="4268624"/>
          </a:xfrm>
          <a:prstGeom prst="rect">
            <a:avLst/>
          </a:prstGeom>
        </p:spPr>
      </p:pic>
      <p:pic>
        <p:nvPicPr>
          <p:cNvPr id="8" name="Picture 7">
            <a:extLst>
              <a:ext uri="{FF2B5EF4-FFF2-40B4-BE49-F238E27FC236}">
                <a16:creationId xmlns:a16="http://schemas.microsoft.com/office/drawing/2014/main" id="{C6587E0F-7707-03C3-0D99-2EC006992B84}"/>
              </a:ext>
            </a:extLst>
          </p:cNvPr>
          <p:cNvPicPr>
            <a:picLocks noChangeAspect="1"/>
          </p:cNvPicPr>
          <p:nvPr/>
        </p:nvPicPr>
        <p:blipFill>
          <a:blip r:embed="rId3"/>
          <a:stretch>
            <a:fillRect/>
          </a:stretch>
        </p:blipFill>
        <p:spPr>
          <a:xfrm>
            <a:off x="6381136" y="1294688"/>
            <a:ext cx="5732206" cy="4268624"/>
          </a:xfrm>
          <a:prstGeom prst="rect">
            <a:avLst/>
          </a:prstGeom>
        </p:spPr>
      </p:pic>
    </p:spTree>
    <p:extLst>
      <p:ext uri="{BB962C8B-B14F-4D97-AF65-F5344CB8AC3E}">
        <p14:creationId xmlns:p14="http://schemas.microsoft.com/office/powerpoint/2010/main" val="1473315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D9694-CED8-A7A7-7ADD-ED02325BDD15}"/>
              </a:ext>
            </a:extLst>
          </p:cNvPr>
          <p:cNvSpPr>
            <a:spLocks noGrp="1"/>
          </p:cNvSpPr>
          <p:nvPr>
            <p:ph type="title"/>
          </p:nvPr>
        </p:nvSpPr>
        <p:spPr/>
        <p:txBody>
          <a:bodyPr/>
          <a:lstStyle/>
          <a:p>
            <a:pPr algn="ctr"/>
            <a:r>
              <a:rPr lang="vi-VN" dirty="0" err="1"/>
              <a:t>Activity</a:t>
            </a:r>
            <a:r>
              <a:rPr lang="vi-VN" dirty="0"/>
              <a:t> – Quản lý hợp đồng</a:t>
            </a:r>
            <a:endParaRPr lang="en-US" dirty="0"/>
          </a:p>
        </p:txBody>
      </p:sp>
      <p:sp>
        <p:nvSpPr>
          <p:cNvPr id="4" name="Slide Number Placeholder 3">
            <a:extLst>
              <a:ext uri="{FF2B5EF4-FFF2-40B4-BE49-F238E27FC236}">
                <a16:creationId xmlns:a16="http://schemas.microsoft.com/office/drawing/2014/main" id="{58DAB0DC-5EFB-DA0A-DAC6-AC53B5177D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pic>
        <p:nvPicPr>
          <p:cNvPr id="6" name="Picture 5">
            <a:extLst>
              <a:ext uri="{FF2B5EF4-FFF2-40B4-BE49-F238E27FC236}">
                <a16:creationId xmlns:a16="http://schemas.microsoft.com/office/drawing/2014/main" id="{D7694E29-00B2-3402-DCF4-4F5BEBF22D5D}"/>
              </a:ext>
            </a:extLst>
          </p:cNvPr>
          <p:cNvPicPr>
            <a:picLocks noChangeAspect="1"/>
          </p:cNvPicPr>
          <p:nvPr/>
        </p:nvPicPr>
        <p:blipFill>
          <a:blip r:embed="rId2"/>
          <a:stretch>
            <a:fillRect/>
          </a:stretch>
        </p:blipFill>
        <p:spPr>
          <a:xfrm>
            <a:off x="2222091" y="913980"/>
            <a:ext cx="7747818" cy="5370871"/>
          </a:xfrm>
          <a:prstGeom prst="rect">
            <a:avLst/>
          </a:prstGeom>
        </p:spPr>
      </p:pic>
    </p:spTree>
    <p:extLst>
      <p:ext uri="{BB962C8B-B14F-4D97-AF65-F5344CB8AC3E}">
        <p14:creationId xmlns:p14="http://schemas.microsoft.com/office/powerpoint/2010/main" val="1284081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D875-33B4-DC5D-4F71-CA91997EEB46}"/>
              </a:ext>
            </a:extLst>
          </p:cNvPr>
          <p:cNvSpPr>
            <a:spLocks noGrp="1"/>
          </p:cNvSpPr>
          <p:nvPr>
            <p:ph type="title"/>
          </p:nvPr>
        </p:nvSpPr>
        <p:spPr/>
        <p:txBody>
          <a:bodyPr/>
          <a:lstStyle/>
          <a:p>
            <a:pPr algn="ctr"/>
            <a:r>
              <a:rPr lang="vi-VN" dirty="0" err="1"/>
              <a:t>Activity</a:t>
            </a:r>
            <a:r>
              <a:rPr lang="vi-VN" dirty="0"/>
              <a:t> – Quản lý than toán, hóa đơn </a:t>
            </a:r>
            <a:endParaRPr lang="en-US" dirty="0"/>
          </a:p>
        </p:txBody>
      </p:sp>
      <p:sp>
        <p:nvSpPr>
          <p:cNvPr id="4" name="Slide Number Placeholder 3">
            <a:extLst>
              <a:ext uri="{FF2B5EF4-FFF2-40B4-BE49-F238E27FC236}">
                <a16:creationId xmlns:a16="http://schemas.microsoft.com/office/drawing/2014/main" id="{99EA9952-A400-154E-D75F-BEFE46988F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pic>
        <p:nvPicPr>
          <p:cNvPr id="6" name="Picture 5">
            <a:extLst>
              <a:ext uri="{FF2B5EF4-FFF2-40B4-BE49-F238E27FC236}">
                <a16:creationId xmlns:a16="http://schemas.microsoft.com/office/drawing/2014/main" id="{F2887F39-9C14-E0F1-6EA5-41117F0718CF}"/>
              </a:ext>
            </a:extLst>
          </p:cNvPr>
          <p:cNvPicPr>
            <a:picLocks noChangeAspect="1"/>
          </p:cNvPicPr>
          <p:nvPr/>
        </p:nvPicPr>
        <p:blipFill>
          <a:blip r:embed="rId2"/>
          <a:stretch>
            <a:fillRect/>
          </a:stretch>
        </p:blipFill>
        <p:spPr>
          <a:xfrm>
            <a:off x="2305665" y="920444"/>
            <a:ext cx="7580670" cy="5352538"/>
          </a:xfrm>
          <a:prstGeom prst="rect">
            <a:avLst/>
          </a:prstGeom>
        </p:spPr>
      </p:pic>
    </p:spTree>
    <p:extLst>
      <p:ext uri="{BB962C8B-B14F-4D97-AF65-F5344CB8AC3E}">
        <p14:creationId xmlns:p14="http://schemas.microsoft.com/office/powerpoint/2010/main" val="1959279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F6377-7A11-ACA8-1EF8-E444BD9D6687}"/>
              </a:ext>
            </a:extLst>
          </p:cNvPr>
          <p:cNvSpPr>
            <a:spLocks noGrp="1"/>
          </p:cNvSpPr>
          <p:nvPr>
            <p:ph type="title"/>
          </p:nvPr>
        </p:nvSpPr>
        <p:spPr/>
        <p:txBody>
          <a:bodyPr/>
          <a:lstStyle/>
          <a:p>
            <a:pPr algn="ctr"/>
            <a:r>
              <a:rPr lang="vi-VN" dirty="0" err="1"/>
              <a:t>Activity</a:t>
            </a:r>
            <a:r>
              <a:rPr lang="vi-VN" dirty="0"/>
              <a:t> – Tìm kiếm, thống kê </a:t>
            </a:r>
            <a:endParaRPr lang="en-US" dirty="0"/>
          </a:p>
        </p:txBody>
      </p:sp>
      <p:sp>
        <p:nvSpPr>
          <p:cNvPr id="4" name="Slide Number Placeholder 3">
            <a:extLst>
              <a:ext uri="{FF2B5EF4-FFF2-40B4-BE49-F238E27FC236}">
                <a16:creationId xmlns:a16="http://schemas.microsoft.com/office/drawing/2014/main" id="{8E242C55-E4CE-2DFF-D70E-72986E7BEF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pic>
        <p:nvPicPr>
          <p:cNvPr id="6" name="Picture 5">
            <a:extLst>
              <a:ext uri="{FF2B5EF4-FFF2-40B4-BE49-F238E27FC236}">
                <a16:creationId xmlns:a16="http://schemas.microsoft.com/office/drawing/2014/main" id="{123818ED-9A86-B61C-027D-2584FDBD2E04}"/>
              </a:ext>
            </a:extLst>
          </p:cNvPr>
          <p:cNvPicPr>
            <a:picLocks noChangeAspect="1"/>
          </p:cNvPicPr>
          <p:nvPr/>
        </p:nvPicPr>
        <p:blipFill>
          <a:blip r:embed="rId2"/>
          <a:stretch>
            <a:fillRect/>
          </a:stretch>
        </p:blipFill>
        <p:spPr>
          <a:xfrm>
            <a:off x="2222090" y="981609"/>
            <a:ext cx="7747820" cy="5275292"/>
          </a:xfrm>
          <a:prstGeom prst="rect">
            <a:avLst/>
          </a:prstGeom>
        </p:spPr>
      </p:pic>
    </p:spTree>
    <p:extLst>
      <p:ext uri="{BB962C8B-B14F-4D97-AF65-F5344CB8AC3E}">
        <p14:creationId xmlns:p14="http://schemas.microsoft.com/office/powerpoint/2010/main" val="3904014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D175-3A63-49D1-E309-8CF6F4EE2FE6}"/>
              </a:ext>
            </a:extLst>
          </p:cNvPr>
          <p:cNvSpPr>
            <a:spLocks noGrp="1"/>
          </p:cNvSpPr>
          <p:nvPr>
            <p:ph type="title"/>
          </p:nvPr>
        </p:nvSpPr>
        <p:spPr/>
        <p:txBody>
          <a:bodyPr/>
          <a:lstStyle/>
          <a:p>
            <a:pPr algn="ctr"/>
            <a:r>
              <a:rPr lang="vi-VN" dirty="0" err="1"/>
              <a:t>Activity</a:t>
            </a:r>
            <a:r>
              <a:rPr lang="vi-VN" dirty="0"/>
              <a:t> – Báo cáo sự cố, thông báo</a:t>
            </a:r>
            <a:endParaRPr lang="en-US" dirty="0"/>
          </a:p>
        </p:txBody>
      </p:sp>
      <p:sp>
        <p:nvSpPr>
          <p:cNvPr id="4" name="Slide Number Placeholder 3">
            <a:extLst>
              <a:ext uri="{FF2B5EF4-FFF2-40B4-BE49-F238E27FC236}">
                <a16:creationId xmlns:a16="http://schemas.microsoft.com/office/drawing/2014/main" id="{130CE0A9-F9FE-3940-1F9D-8145B8775C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pic>
        <p:nvPicPr>
          <p:cNvPr id="6" name="Picture 5">
            <a:extLst>
              <a:ext uri="{FF2B5EF4-FFF2-40B4-BE49-F238E27FC236}">
                <a16:creationId xmlns:a16="http://schemas.microsoft.com/office/drawing/2014/main" id="{4C024402-8BA2-4D4F-2893-F6560CC4D84E}"/>
              </a:ext>
            </a:extLst>
          </p:cNvPr>
          <p:cNvPicPr>
            <a:picLocks noChangeAspect="1"/>
          </p:cNvPicPr>
          <p:nvPr/>
        </p:nvPicPr>
        <p:blipFill>
          <a:blip r:embed="rId2"/>
          <a:stretch>
            <a:fillRect/>
          </a:stretch>
        </p:blipFill>
        <p:spPr>
          <a:xfrm>
            <a:off x="1668403" y="924693"/>
            <a:ext cx="8855193" cy="5279462"/>
          </a:xfrm>
          <a:prstGeom prst="rect">
            <a:avLst/>
          </a:prstGeom>
        </p:spPr>
      </p:pic>
    </p:spTree>
    <p:extLst>
      <p:ext uri="{BB962C8B-B14F-4D97-AF65-F5344CB8AC3E}">
        <p14:creationId xmlns:p14="http://schemas.microsoft.com/office/powerpoint/2010/main" val="1016512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CAF09D3-679B-0BFF-828D-BE6069A40CB5}"/>
            </a:ext>
          </a:extLst>
        </p:cNvPr>
        <p:cNvGrpSpPr/>
        <p:nvPr/>
      </p:nvGrpSpPr>
      <p:grpSpPr>
        <a:xfrm>
          <a:off x="0" y="0"/>
          <a:ext cx="0" cy="0"/>
          <a:chOff x="0" y="0"/>
          <a:chExt cx="0" cy="0"/>
        </a:xfrm>
      </p:grpSpPr>
      <p:sp>
        <p:nvSpPr>
          <p:cNvPr id="95" name="Google Shape;95;p17">
            <a:extLst>
              <a:ext uri="{FF2B5EF4-FFF2-40B4-BE49-F238E27FC236}">
                <a16:creationId xmlns:a16="http://schemas.microsoft.com/office/drawing/2014/main" id="{75201C76-69C2-CC45-D802-8787AC782C8E}"/>
              </a:ext>
            </a:extLst>
          </p:cNvPr>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6" name="Google Shape;96;p17">
            <a:extLst>
              <a:ext uri="{FF2B5EF4-FFF2-40B4-BE49-F238E27FC236}">
                <a16:creationId xmlns:a16="http://schemas.microsoft.com/office/drawing/2014/main" id="{A750062D-74B9-F6B5-1B74-B91DD2E2F332}"/>
              </a:ext>
            </a:extLst>
          </p:cNvPr>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p>
            <a:pPr marL="50800" indent="0">
              <a:spcBef>
                <a:spcPts val="0"/>
              </a:spcBef>
              <a:buNone/>
            </a:pPr>
            <a:r>
              <a:rPr lang="en-US" dirty="0">
                <a:latin typeface="Arial"/>
                <a:ea typeface="Arial"/>
                <a:cs typeface="Arial"/>
                <a:sym typeface="Arial"/>
              </a:rPr>
              <a:t> </a:t>
            </a:r>
            <a:r>
              <a:rPr lang="en-US" dirty="0">
                <a:solidFill>
                  <a:schemeClr val="tx1"/>
                </a:solidFill>
                <a:latin typeface="Arial"/>
                <a:ea typeface="Arial"/>
                <a:cs typeface="Arial"/>
                <a:sym typeface="Arial"/>
              </a:rPr>
              <a:t>1. </a:t>
            </a:r>
            <a:r>
              <a:rPr lang="en-US" dirty="0" err="1">
                <a:solidFill>
                  <a:schemeClr val="tx1"/>
                </a:solidFill>
                <a:latin typeface="Arial"/>
                <a:ea typeface="Arial"/>
                <a:cs typeface="Arial"/>
                <a:sym typeface="Arial"/>
              </a:rPr>
              <a:t>Giới</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thiệu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thành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viên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công</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nhiệm</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vụ</a:t>
            </a:r>
            <a:r>
              <a:rPr lang="en-US" dirty="0">
                <a:solidFill>
                  <a:schemeClr val="tx1"/>
                </a:solidFill>
                <a:latin typeface="Arial"/>
                <a:ea typeface="Arial"/>
                <a:cs typeface="Arial"/>
                <a:sym typeface="Arial"/>
              </a:rPr>
              <a:t>, Timeline </a:t>
            </a:r>
            <a:r>
              <a:rPr lang="en-US" dirty="0" err="1">
                <a:solidFill>
                  <a:schemeClr val="tx1"/>
                </a:solidFill>
                <a:latin typeface="Arial"/>
                <a:ea typeface="Arial"/>
                <a:cs typeface="Arial"/>
                <a:sym typeface="Arial"/>
              </a:rPr>
              <a:t>dự</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kiến</a:t>
            </a:r>
            <a:endParaRPr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latin typeface="Arial"/>
                <a:ea typeface="Arial"/>
                <a:cs typeface="Arial"/>
                <a:sym typeface="Arial"/>
              </a:rPr>
              <a:t>2. </a:t>
            </a:r>
            <a:r>
              <a:rPr lang="en-US" dirty="0" err="1">
                <a:latin typeface="Arial"/>
                <a:ea typeface="Arial"/>
                <a:cs typeface="Arial"/>
                <a:sym typeface="Arial"/>
              </a:rPr>
              <a:t>Giới</a:t>
            </a:r>
            <a:r>
              <a:rPr lang="en-US" dirty="0">
                <a:latin typeface="Arial"/>
                <a:ea typeface="Arial"/>
                <a:cs typeface="Arial"/>
                <a:sym typeface="Arial"/>
              </a:rPr>
              <a:t> </a:t>
            </a:r>
            <a:r>
              <a:rPr lang="en-US" dirty="0" err="1">
                <a:latin typeface="Arial"/>
                <a:ea typeface="Arial"/>
                <a:cs typeface="Arial"/>
                <a:sym typeface="Arial"/>
              </a:rPr>
              <a:t>thiệu</a:t>
            </a:r>
            <a:r>
              <a:rPr lang="en-US" dirty="0">
                <a:latin typeface="Arial"/>
                <a:ea typeface="Arial"/>
                <a:cs typeface="Arial"/>
                <a:sym typeface="Arial"/>
              </a:rPr>
              <a:t> </a:t>
            </a:r>
            <a:r>
              <a:rPr lang="en-US" dirty="0" err="1">
                <a:latin typeface="Arial"/>
                <a:ea typeface="Arial"/>
                <a:cs typeface="Arial"/>
                <a:sym typeface="Arial"/>
              </a:rPr>
              <a:t>đề</a:t>
            </a:r>
            <a:r>
              <a:rPr lang="en-US" dirty="0">
                <a:latin typeface="Arial"/>
                <a:ea typeface="Arial"/>
                <a:cs typeface="Arial"/>
                <a:sym typeface="Arial"/>
              </a:rPr>
              <a:t> </a:t>
            </a:r>
            <a:r>
              <a:rPr lang="en-US" dirty="0" err="1">
                <a:latin typeface="Arial"/>
                <a:ea typeface="Arial"/>
                <a:cs typeface="Arial"/>
                <a:sym typeface="Arial"/>
              </a:rPr>
              <a:t>tài</a:t>
            </a:r>
            <a:endParaRPr dirty="0">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chemeClr val="tx1"/>
                </a:solidFill>
                <a:latin typeface="Arial"/>
                <a:ea typeface="Arial"/>
                <a:cs typeface="Arial"/>
                <a:sym typeface="Arial"/>
              </a:rPr>
              <a:t>3.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tích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yêu</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cầu</a:t>
            </a:r>
            <a:endParaRPr lang="en-US"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chemeClr val="tx1"/>
                </a:solidFill>
                <a:latin typeface="Arial"/>
                <a:ea typeface="Arial"/>
                <a:cs typeface="Arial"/>
                <a:sym typeface="Arial"/>
              </a:rPr>
              <a:t>4. </a:t>
            </a:r>
            <a:r>
              <a:rPr lang="en-US" dirty="0" err="1">
                <a:solidFill>
                  <a:schemeClr val="tx1"/>
                </a:solidFill>
                <a:latin typeface="Arial"/>
                <a:ea typeface="Arial"/>
                <a:cs typeface="Arial"/>
                <a:sym typeface="Arial"/>
              </a:rPr>
              <a:t>Phân</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tích</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hệ</a:t>
            </a: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thống</a:t>
            </a:r>
            <a:endParaRPr lang="vi-VN" dirty="0">
              <a:solidFill>
                <a:schemeClr val="tx1"/>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r>
              <a:rPr lang="en-US" dirty="0">
                <a:solidFill>
                  <a:srgbClr val="FF0000"/>
                </a:solidFill>
                <a:latin typeface="Arial"/>
                <a:ea typeface="Arial"/>
                <a:cs typeface="Arial"/>
                <a:sym typeface="Arial"/>
              </a:rPr>
              <a:t>5</a:t>
            </a:r>
            <a:r>
              <a:rPr lang="vi-VN"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Thiết</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kế</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kiến</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trúc</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hệ</a:t>
            </a:r>
            <a:r>
              <a:rPr lang="en-US" dirty="0">
                <a:solidFill>
                  <a:srgbClr val="FF0000"/>
                </a:solidFill>
                <a:latin typeface="Arial"/>
                <a:ea typeface="Arial"/>
                <a:cs typeface="Arial"/>
                <a:sym typeface="Arial"/>
              </a:rPr>
              <a:t> </a:t>
            </a:r>
            <a:r>
              <a:rPr lang="en-US" dirty="0" err="1">
                <a:solidFill>
                  <a:srgbClr val="FF0000"/>
                </a:solidFill>
                <a:latin typeface="Arial"/>
                <a:ea typeface="Arial"/>
                <a:cs typeface="Arial"/>
                <a:sym typeface="Arial"/>
              </a:rPr>
              <a:t>thống</a:t>
            </a:r>
            <a:endParaRPr lang="en-US" dirty="0">
              <a:solidFill>
                <a:srgbClr val="FF0000"/>
              </a:solidFill>
              <a:latin typeface="Arial"/>
              <a:ea typeface="Arial"/>
              <a:cs typeface="Arial"/>
              <a:sym typeface="Arial"/>
            </a:endParaRPr>
          </a:p>
        </p:txBody>
      </p:sp>
      <p:sp>
        <p:nvSpPr>
          <p:cNvPr id="97" name="Google Shape;97;p17">
            <a:extLst>
              <a:ext uri="{FF2B5EF4-FFF2-40B4-BE49-F238E27FC236}">
                <a16:creationId xmlns:a16="http://schemas.microsoft.com/office/drawing/2014/main" id="{537775D5-21DC-D1B1-2CF5-3AEB8937AA2D}"/>
              </a:ext>
            </a:extLst>
          </p:cNvPr>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825430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E8EA-41A4-210F-89C9-5EA077EA34B5}"/>
              </a:ext>
            </a:extLst>
          </p:cNvPr>
          <p:cNvSpPr>
            <a:spLocks noGrp="1"/>
          </p:cNvSpPr>
          <p:nvPr>
            <p:ph type="title"/>
          </p:nvPr>
        </p:nvSpPr>
        <p:spPr/>
        <p:txBody>
          <a:bodyPr/>
          <a:lstStyle/>
          <a:p>
            <a:r>
              <a:rPr lang="en-US" dirty="0" err="1"/>
              <a:t>Biểu</a:t>
            </a:r>
            <a:r>
              <a:rPr lang="en-US" dirty="0"/>
              <a:t> </a:t>
            </a:r>
            <a:r>
              <a:rPr lang="en-US" dirty="0" err="1"/>
              <a:t>đồ</a:t>
            </a:r>
            <a:r>
              <a:rPr lang="en-US" dirty="0"/>
              <a:t> </a:t>
            </a:r>
            <a:r>
              <a:rPr lang="en-US" dirty="0" err="1"/>
              <a:t>Bối</a:t>
            </a:r>
            <a:r>
              <a:rPr lang="en-US" dirty="0"/>
              <a:t> </a:t>
            </a:r>
            <a:r>
              <a:rPr lang="en-US" dirty="0" err="1"/>
              <a:t>cảnh</a:t>
            </a:r>
            <a:r>
              <a:rPr lang="en-US" dirty="0"/>
              <a:t> </a:t>
            </a:r>
            <a:r>
              <a:rPr lang="en-US" dirty="0" err="1"/>
              <a:t>hệ</a:t>
            </a:r>
            <a:r>
              <a:rPr lang="en-US" dirty="0"/>
              <a:t> </a:t>
            </a:r>
            <a:r>
              <a:rPr lang="en-US" dirty="0" err="1"/>
              <a:t>thống</a:t>
            </a:r>
            <a:r>
              <a:rPr lang="en-US" dirty="0"/>
              <a:t> (C1 - System Context Diagram)</a:t>
            </a:r>
            <a:br>
              <a:rPr lang="en-US" dirty="0"/>
            </a:br>
            <a:endParaRPr lang="en-US" dirty="0"/>
          </a:p>
        </p:txBody>
      </p:sp>
      <p:sp>
        <p:nvSpPr>
          <p:cNvPr id="4" name="Slide Number Placeholder 3">
            <a:extLst>
              <a:ext uri="{FF2B5EF4-FFF2-40B4-BE49-F238E27FC236}">
                <a16:creationId xmlns:a16="http://schemas.microsoft.com/office/drawing/2014/main" id="{F8D97A8B-DEEF-295B-164A-F570BCEDA5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pic>
        <p:nvPicPr>
          <p:cNvPr id="3" name="Picture 2">
            <a:extLst>
              <a:ext uri="{FF2B5EF4-FFF2-40B4-BE49-F238E27FC236}">
                <a16:creationId xmlns:a16="http://schemas.microsoft.com/office/drawing/2014/main" id="{3F9A9B93-A988-64EE-3B13-C9C26E1E5A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7854" y="1837370"/>
            <a:ext cx="12050268" cy="3183260"/>
          </a:xfrm>
          <a:prstGeom prst="rect">
            <a:avLst/>
          </a:prstGeom>
          <a:noFill/>
          <a:ln>
            <a:noFill/>
          </a:ln>
        </p:spPr>
      </p:pic>
    </p:spTree>
    <p:extLst>
      <p:ext uri="{BB962C8B-B14F-4D97-AF65-F5344CB8AC3E}">
        <p14:creationId xmlns:p14="http://schemas.microsoft.com/office/powerpoint/2010/main" val="2988383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005F5-EB5E-62AE-9AA7-60D8A0BA3C59}"/>
              </a:ext>
            </a:extLst>
          </p:cNvPr>
          <p:cNvSpPr>
            <a:spLocks noGrp="1"/>
          </p:cNvSpPr>
          <p:nvPr>
            <p:ph type="title"/>
          </p:nvPr>
        </p:nvSpPr>
        <p:spPr/>
        <p:txBody>
          <a:bodyPr/>
          <a:lstStyle/>
          <a:p>
            <a:r>
              <a:rPr lang="en-US" dirty="0" err="1"/>
              <a:t>Biểu</a:t>
            </a:r>
            <a:r>
              <a:rPr lang="en-US" dirty="0"/>
              <a:t> </a:t>
            </a:r>
            <a:r>
              <a:rPr lang="en-US" dirty="0" err="1"/>
              <a:t>đồ</a:t>
            </a:r>
            <a:r>
              <a:rPr lang="en-US" dirty="0"/>
              <a:t> </a:t>
            </a:r>
            <a:r>
              <a:rPr lang="en-US" dirty="0" err="1"/>
              <a:t>Vùng</a:t>
            </a:r>
            <a:r>
              <a:rPr lang="en-US" dirty="0"/>
              <a:t> </a:t>
            </a:r>
            <a:r>
              <a:rPr lang="en-US" dirty="0" err="1"/>
              <a:t>chứa</a:t>
            </a:r>
            <a:r>
              <a:rPr lang="en-US" dirty="0"/>
              <a:t> </a:t>
            </a:r>
            <a:r>
              <a:rPr lang="en-US" dirty="0" err="1"/>
              <a:t>Ứng</a:t>
            </a:r>
            <a:r>
              <a:rPr lang="en-US" dirty="0"/>
              <a:t> </a:t>
            </a:r>
            <a:r>
              <a:rPr lang="en-US" dirty="0" err="1"/>
              <a:t>dụng</a:t>
            </a:r>
            <a:r>
              <a:rPr lang="en-US" dirty="0"/>
              <a:t> (C2 - Container Diagram)</a:t>
            </a:r>
            <a:br>
              <a:rPr lang="en-US" dirty="0"/>
            </a:br>
            <a:endParaRPr lang="en-US" dirty="0"/>
          </a:p>
        </p:txBody>
      </p:sp>
      <p:sp>
        <p:nvSpPr>
          <p:cNvPr id="4" name="Slide Number Placeholder 3">
            <a:extLst>
              <a:ext uri="{FF2B5EF4-FFF2-40B4-BE49-F238E27FC236}">
                <a16:creationId xmlns:a16="http://schemas.microsoft.com/office/drawing/2014/main" id="{D306FDEE-C507-AAEE-8089-D4A3160262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pic>
        <p:nvPicPr>
          <p:cNvPr id="6" name="Picture 5">
            <a:extLst>
              <a:ext uri="{FF2B5EF4-FFF2-40B4-BE49-F238E27FC236}">
                <a16:creationId xmlns:a16="http://schemas.microsoft.com/office/drawing/2014/main" id="{7EADC62E-31BD-EBAC-2FC8-B0BAEB6CC4EB}"/>
              </a:ext>
            </a:extLst>
          </p:cNvPr>
          <p:cNvPicPr>
            <a:picLocks noChangeAspect="1"/>
          </p:cNvPicPr>
          <p:nvPr/>
        </p:nvPicPr>
        <p:blipFill>
          <a:blip r:embed="rId2"/>
          <a:stretch>
            <a:fillRect/>
          </a:stretch>
        </p:blipFill>
        <p:spPr>
          <a:xfrm>
            <a:off x="7909633" y="904567"/>
            <a:ext cx="3259811" cy="5398436"/>
          </a:xfrm>
          <a:prstGeom prst="rect">
            <a:avLst/>
          </a:prstGeom>
        </p:spPr>
      </p:pic>
      <p:graphicFrame>
        <p:nvGraphicFramePr>
          <p:cNvPr id="11" name="Table 10">
            <a:extLst>
              <a:ext uri="{FF2B5EF4-FFF2-40B4-BE49-F238E27FC236}">
                <a16:creationId xmlns:a16="http://schemas.microsoft.com/office/drawing/2014/main" id="{68601777-C3D8-E9E7-FDCC-081ABCC3CD31}"/>
              </a:ext>
            </a:extLst>
          </p:cNvPr>
          <p:cNvGraphicFramePr>
            <a:graphicFrameLocks noGrp="1"/>
          </p:cNvGraphicFramePr>
          <p:nvPr>
            <p:extLst>
              <p:ext uri="{D42A27DB-BD31-4B8C-83A1-F6EECF244321}">
                <p14:modId xmlns:p14="http://schemas.microsoft.com/office/powerpoint/2010/main" val="1557920891"/>
              </p:ext>
            </p:extLst>
          </p:nvPr>
        </p:nvGraphicFramePr>
        <p:xfrm>
          <a:off x="781188" y="2140745"/>
          <a:ext cx="6258710" cy="2926080"/>
        </p:xfrm>
        <a:graphic>
          <a:graphicData uri="http://schemas.openxmlformats.org/drawingml/2006/table">
            <a:tbl>
              <a:tblPr firstRow="1" bandRow="1">
                <a:tableStyleId>{01511797-984D-44DA-BBBC-5FB16A20FFCF}</a:tableStyleId>
              </a:tblPr>
              <a:tblGrid>
                <a:gridCol w="1443023">
                  <a:extLst>
                    <a:ext uri="{9D8B030D-6E8A-4147-A177-3AD203B41FA5}">
                      <a16:colId xmlns:a16="http://schemas.microsoft.com/office/drawing/2014/main" val="3257012724"/>
                    </a:ext>
                  </a:extLst>
                </a:gridCol>
                <a:gridCol w="1412643">
                  <a:extLst>
                    <a:ext uri="{9D8B030D-6E8A-4147-A177-3AD203B41FA5}">
                      <a16:colId xmlns:a16="http://schemas.microsoft.com/office/drawing/2014/main" val="4193005795"/>
                    </a:ext>
                  </a:extLst>
                </a:gridCol>
                <a:gridCol w="3403044">
                  <a:extLst>
                    <a:ext uri="{9D8B030D-6E8A-4147-A177-3AD203B41FA5}">
                      <a16:colId xmlns:a16="http://schemas.microsoft.com/office/drawing/2014/main" val="90094308"/>
                    </a:ext>
                  </a:extLst>
                </a:gridCol>
              </a:tblGrid>
              <a:tr h="0">
                <a:tc>
                  <a:txBody>
                    <a:bodyPr/>
                    <a:lstStyle/>
                    <a:p>
                      <a:pPr algn="ctr"/>
                      <a:r>
                        <a:rPr lang="vi-VN" b="1" dirty="0">
                          <a:latin typeface="+mj-lt"/>
                        </a:rPr>
                        <a:t>Tên </a:t>
                      </a:r>
                      <a:r>
                        <a:rPr lang="vi-VN" b="1" dirty="0" err="1">
                          <a:latin typeface="+mj-lt"/>
                        </a:rPr>
                        <a:t>Container</a:t>
                      </a:r>
                      <a:endParaRPr lang="en-US"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vi-VN" b="1" dirty="0">
                          <a:latin typeface="+mj-lt"/>
                        </a:rPr>
                        <a:t>Công nghệ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b="1" dirty="0">
                          <a:latin typeface="+mj-lt"/>
                        </a:rPr>
                        <a:t>Chức năng</a:t>
                      </a:r>
                      <a:endParaRPr lang="en-US"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147813"/>
                  </a:ext>
                </a:extLst>
              </a:tr>
              <a:tr h="370840">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Frontend Web Application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ReactJS, Vite, Tailwind CSS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Chạy</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trên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trình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duyệt</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Hiển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thị</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giao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diện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cho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cả</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hai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vai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trò</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form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nhập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liệu</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bảng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danh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sách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dashboard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biểu</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đồ</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Tiếp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nhận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thao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tác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Gọi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API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điều</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hướng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theo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vai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trò</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4827388"/>
                  </a:ext>
                </a:extLst>
              </a:tr>
              <a:tr h="370840">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Backend API Server</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NodeJS, Express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Cung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cấp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REST API (JSON).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Xử</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lý</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nghiệp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vụ</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xác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thực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phân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quyền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kiểm</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tra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ràng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buộc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phòng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xóa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người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thuê</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tính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đơn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tạo</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thông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báo</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7334514"/>
                  </a:ext>
                </a:extLst>
              </a:tr>
              <a:tr h="370840">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Database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PostgreSQL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Lưu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tài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khoản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phòng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người</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thuê</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hợp</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đồng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chỉ</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số</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điện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nước</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hóa</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đơn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thanh</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toán</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sự</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cố</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và</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thông</a:t>
                      </a:r>
                      <a:r>
                        <a:rPr lang="en-US" sz="1400" b="0" i="0" u="none" strike="noStrike" cap="none" spc="0"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US" sz="1400" b="0" i="0" u="none" strike="noStrike" cap="none" spc="0" dirty="0" err="1">
                          <a:solidFill>
                            <a:srgbClr val="000000"/>
                          </a:solidFill>
                          <a:effectLst/>
                          <a:latin typeface="Times New Roman" panose="02020603050405020304" pitchFamily="18" charset="0"/>
                          <a:ea typeface="Arial"/>
                          <a:cs typeface="Times New Roman" panose="02020603050405020304" pitchFamily="18" charset="0"/>
                          <a:sym typeface="Arial"/>
                        </a:rPr>
                        <a:t>báo</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371174"/>
                  </a:ext>
                </a:extLst>
              </a:tr>
            </a:tbl>
          </a:graphicData>
        </a:graphic>
      </p:graphicFrame>
    </p:spTree>
    <p:extLst>
      <p:ext uri="{BB962C8B-B14F-4D97-AF65-F5344CB8AC3E}">
        <p14:creationId xmlns:p14="http://schemas.microsoft.com/office/powerpoint/2010/main" val="1462577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FAAC-7A3F-E491-230E-C73B08528E01}"/>
              </a:ext>
            </a:extLst>
          </p:cNvPr>
          <p:cNvSpPr>
            <a:spLocks noGrp="1"/>
          </p:cNvSpPr>
          <p:nvPr>
            <p:ph type="title"/>
          </p:nvPr>
        </p:nvSpPr>
        <p:spPr/>
        <p:txBody>
          <a:bodyPr/>
          <a:lstStyle/>
          <a:p>
            <a:pPr algn="ctr"/>
            <a:r>
              <a:rPr lang="vi-VN" dirty="0"/>
              <a:t>Sơ đồ thực thể – liên kết (ERD)</a:t>
            </a:r>
            <a:endParaRPr lang="en-US" dirty="0"/>
          </a:p>
        </p:txBody>
      </p:sp>
      <p:sp>
        <p:nvSpPr>
          <p:cNvPr id="4" name="Slide Number Placeholder 3">
            <a:extLst>
              <a:ext uri="{FF2B5EF4-FFF2-40B4-BE49-F238E27FC236}">
                <a16:creationId xmlns:a16="http://schemas.microsoft.com/office/drawing/2014/main" id="{0500289D-FB2E-1ADD-DE41-8547AC10FB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pic>
        <p:nvPicPr>
          <p:cNvPr id="6" name="Picture 5">
            <a:extLst>
              <a:ext uri="{FF2B5EF4-FFF2-40B4-BE49-F238E27FC236}">
                <a16:creationId xmlns:a16="http://schemas.microsoft.com/office/drawing/2014/main" id="{0D462A36-9E89-5489-7F6D-5C157CB3BC7F}"/>
              </a:ext>
            </a:extLst>
          </p:cNvPr>
          <p:cNvPicPr>
            <a:picLocks noChangeAspect="1"/>
          </p:cNvPicPr>
          <p:nvPr/>
        </p:nvPicPr>
        <p:blipFill>
          <a:blip r:embed="rId2"/>
          <a:stretch>
            <a:fillRect/>
          </a:stretch>
        </p:blipFill>
        <p:spPr>
          <a:xfrm>
            <a:off x="198574" y="855385"/>
            <a:ext cx="4511078" cy="5801582"/>
          </a:xfrm>
          <a:prstGeom prst="rect">
            <a:avLst/>
          </a:prstGeom>
        </p:spPr>
      </p:pic>
      <p:graphicFrame>
        <p:nvGraphicFramePr>
          <p:cNvPr id="8" name="Table 7">
            <a:extLst>
              <a:ext uri="{FF2B5EF4-FFF2-40B4-BE49-F238E27FC236}">
                <a16:creationId xmlns:a16="http://schemas.microsoft.com/office/drawing/2014/main" id="{FB6ADC07-2D8D-B36D-3A65-B79DA2EAC71B}"/>
              </a:ext>
            </a:extLst>
          </p:cNvPr>
          <p:cNvGraphicFramePr>
            <a:graphicFrameLocks noGrp="1"/>
          </p:cNvGraphicFramePr>
          <p:nvPr>
            <p:extLst>
              <p:ext uri="{D42A27DB-BD31-4B8C-83A1-F6EECF244321}">
                <p14:modId xmlns:p14="http://schemas.microsoft.com/office/powerpoint/2010/main" val="3974014543"/>
              </p:ext>
            </p:extLst>
          </p:nvPr>
        </p:nvGraphicFramePr>
        <p:xfrm>
          <a:off x="5419091" y="930439"/>
          <a:ext cx="6434173" cy="5405120"/>
        </p:xfrm>
        <a:graphic>
          <a:graphicData uri="http://schemas.openxmlformats.org/drawingml/2006/table">
            <a:tbl>
              <a:tblPr firstRow="1" bandRow="1">
                <a:tableStyleId>{01511797-984D-44DA-BBBC-5FB16A20FFCF}</a:tableStyleId>
              </a:tblPr>
              <a:tblGrid>
                <a:gridCol w="1655695">
                  <a:extLst>
                    <a:ext uri="{9D8B030D-6E8A-4147-A177-3AD203B41FA5}">
                      <a16:colId xmlns:a16="http://schemas.microsoft.com/office/drawing/2014/main" val="972550040"/>
                    </a:ext>
                  </a:extLst>
                </a:gridCol>
                <a:gridCol w="4778478">
                  <a:extLst>
                    <a:ext uri="{9D8B030D-6E8A-4147-A177-3AD203B41FA5}">
                      <a16:colId xmlns:a16="http://schemas.microsoft.com/office/drawing/2014/main" val="847603900"/>
                    </a:ext>
                  </a:extLst>
                </a:gridCol>
              </a:tblGrid>
              <a:tr h="370840">
                <a:tc>
                  <a:txBody>
                    <a:bodyPr/>
                    <a:lstStyle/>
                    <a:p>
                      <a:pPr algn="ctr"/>
                      <a:r>
                        <a:rPr lang="vi-VN" sz="1400" b="1" dirty="0">
                          <a:latin typeface="+mj-lt"/>
                        </a:rPr>
                        <a:t>Bảng</a:t>
                      </a:r>
                      <a:endParaRPr lang="en-US" sz="1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sz="1400" b="1" dirty="0">
                          <a:latin typeface="+mj-lt"/>
                        </a:rPr>
                        <a:t>Chức năng</a:t>
                      </a:r>
                      <a:endParaRPr lang="en-US" sz="1400" b="1"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7273470"/>
                  </a:ext>
                </a:extLst>
              </a:tr>
              <a:tr h="370840">
                <a:tc>
                  <a:txBody>
                    <a:bodyPr/>
                    <a:lstStyle/>
                    <a:p>
                      <a:r>
                        <a:rPr lang="vi-VN" sz="1400" dirty="0" err="1">
                          <a:latin typeface="+mj-lt"/>
                        </a:rPr>
                        <a:t>users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400" b="0" i="0" u="none" strike="noStrike" cap="none" spc="0" dirty="0">
                          <a:solidFill>
                            <a:srgbClr val="000000"/>
                          </a:solidFill>
                          <a:effectLst/>
                          <a:latin typeface="+mj-lt"/>
                          <a:ea typeface="Arial"/>
                          <a:cs typeface="Arial"/>
                          <a:sym typeface="Arial"/>
                        </a:rPr>
                        <a:t>Lưu tài khoản đăng nhập, mật khẩu đã băm, vai trò và thông tin cơ bản của người dùng</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3380487"/>
                  </a:ext>
                </a:extLst>
              </a:tr>
              <a:tr h="370840">
                <a:tc>
                  <a:txBody>
                    <a:bodyPr/>
                    <a:lstStyle/>
                    <a:p>
                      <a:r>
                        <a:rPr lang="vi-VN" sz="1400" dirty="0" err="1">
                          <a:latin typeface="+mj-lt"/>
                        </a:rPr>
                        <a:t>tenants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hồ</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liên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kết</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với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tài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tương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ứng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nếu</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có</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tài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7215743"/>
                  </a:ext>
                </a:extLst>
              </a:tr>
              <a:tr h="370840">
                <a:tc>
                  <a:txBody>
                    <a:bodyPr/>
                    <a:lstStyle/>
                    <a:p>
                      <a:r>
                        <a:rPr lang="vi-VN" sz="1400" dirty="0" err="1">
                          <a:latin typeface="+mj-lt"/>
                        </a:rPr>
                        <a:t>rooms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mã</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diện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tích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1011215"/>
                  </a:ext>
                </a:extLst>
              </a:tr>
              <a:tr h="370840">
                <a:tc>
                  <a:txBody>
                    <a:bodyPr/>
                    <a:lstStyle/>
                    <a:p>
                      <a:r>
                        <a:rPr lang="vi-VN" sz="1400" dirty="0" err="1">
                          <a:latin typeface="+mj-lt"/>
                        </a:rPr>
                        <a:t>contracts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hợp</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đồng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thuê</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đặt</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cọc</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9324296"/>
                  </a:ext>
                </a:extLst>
              </a:tr>
              <a:tr h="370840">
                <a:tc>
                  <a:txBody>
                    <a:bodyPr/>
                    <a:lstStyle/>
                    <a:p>
                      <a:r>
                        <a:rPr lang="vi-VN" sz="1400" dirty="0" err="1">
                          <a:latin typeface="+mj-lt"/>
                        </a:rPr>
                        <a:t>utility_readings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chỉ</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số</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điện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nước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theo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từng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kỳ</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ghi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nhận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kèm</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giá</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áp</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dụng</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2615405"/>
                  </a:ext>
                </a:extLst>
              </a:tr>
              <a:tr h="370840">
                <a:tc>
                  <a:txBody>
                    <a:bodyPr/>
                    <a:lstStyle/>
                    <a:p>
                      <a:r>
                        <a:rPr lang="vi-VN" sz="1400" dirty="0" err="1">
                          <a:latin typeface="+mj-lt"/>
                        </a:rPr>
                        <a:t>invoices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hóa</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theo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hợp</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đồng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kỳ</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tính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thanh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toán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tổng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248312"/>
                  </a:ext>
                </a:extLst>
              </a:tr>
              <a:tr h="370840">
                <a:tc>
                  <a:txBody>
                    <a:bodyPr/>
                    <a:lstStyle/>
                    <a:p>
                      <a:r>
                        <a:rPr lang="vi-VN" sz="1400" dirty="0" err="1">
                          <a:latin typeface="+mj-lt"/>
                        </a:rPr>
                        <a:t>invoice_items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từng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trong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hóa</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như</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điện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nước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phí</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dịch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vụ</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6572857"/>
                  </a:ext>
                </a:extLst>
              </a:tr>
              <a:tr h="370840">
                <a:tc>
                  <a:txBody>
                    <a:bodyPr/>
                    <a:lstStyle/>
                    <a:p>
                      <a:r>
                        <a:rPr lang="vi-VN" sz="1400" dirty="0" err="1">
                          <a:latin typeface="+mj-lt"/>
                        </a:rPr>
                        <a:t>payments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các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giao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dịch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thanh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toán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số</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tiền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gian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xác</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nhận</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19724"/>
                  </a:ext>
                </a:extLst>
              </a:tr>
              <a:tr h="370840">
                <a:tc>
                  <a:txBody>
                    <a:bodyPr/>
                    <a:lstStyle/>
                    <a:p>
                      <a:r>
                        <a:rPr lang="vi-VN" sz="1400" dirty="0" err="1">
                          <a:latin typeface="+mj-lt"/>
                        </a:rPr>
                        <a:t>incidents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báo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cáo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sự</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cố</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người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gửi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phòng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liên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quan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tiến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độ</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xử</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lý</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7313142"/>
                  </a:ext>
                </a:extLst>
              </a:tr>
              <a:tr h="370840">
                <a:tc>
                  <a:txBody>
                    <a:bodyPr/>
                    <a:lstStyle/>
                    <a:p>
                      <a:r>
                        <a:rPr lang="vi-VN" sz="1400" dirty="0" err="1">
                          <a:latin typeface="+mj-lt"/>
                        </a:rPr>
                        <a:t>notifications</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i="0" u="none" strike="noStrike" cap="none" spc="0" dirty="0">
                          <a:solidFill>
                            <a:srgbClr val="000000"/>
                          </a:solidFill>
                          <a:effectLst/>
                          <a:latin typeface="+mj-lt"/>
                          <a:ea typeface="Arial"/>
                          <a:cs typeface="Arial"/>
                          <a:sym typeface="Arial"/>
                        </a:rPr>
                        <a:t>Lưu </a:t>
                      </a:r>
                      <a:r>
                        <a:rPr lang="en-US" sz="1400" b="0" i="0" u="none" strike="noStrike" cap="none" spc="0" dirty="0" err="1">
                          <a:solidFill>
                            <a:srgbClr val="000000"/>
                          </a:solidFill>
                          <a:effectLst/>
                          <a:latin typeface="+mj-lt"/>
                          <a:ea typeface="Arial"/>
                          <a:cs typeface="Arial"/>
                          <a:sym typeface="Arial"/>
                        </a:rPr>
                        <a:t>thông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báo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dành</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cho</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từng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tài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khoản</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và</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trạng</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thái</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đã</a:t>
                      </a:r>
                      <a:r>
                        <a:rPr lang="en-US" sz="1400" b="0" i="0" u="none" strike="noStrike" cap="none" spc="0" dirty="0">
                          <a:solidFill>
                            <a:srgbClr val="000000"/>
                          </a:solidFill>
                          <a:effectLst/>
                          <a:latin typeface="+mj-lt"/>
                          <a:ea typeface="Arial"/>
                          <a:cs typeface="Arial"/>
                          <a:sym typeface="Arial"/>
                        </a:rPr>
                        <a:t> </a:t>
                      </a:r>
                      <a:r>
                        <a:rPr lang="en-US" sz="1400" b="0" i="0" u="none" strike="noStrike" cap="none" spc="0" dirty="0" err="1">
                          <a:solidFill>
                            <a:srgbClr val="000000"/>
                          </a:solidFill>
                          <a:effectLst/>
                          <a:latin typeface="+mj-lt"/>
                          <a:ea typeface="Arial"/>
                          <a:cs typeface="Arial"/>
                          <a:sym typeface="Arial"/>
                        </a:rPr>
                        <a:t>đọc</a:t>
                      </a:r>
                      <a:endParaRPr lang="en-US" sz="14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1577780"/>
                  </a:ext>
                </a:extLst>
              </a:tr>
            </a:tbl>
          </a:graphicData>
        </a:graphic>
      </p:graphicFrame>
    </p:spTree>
    <p:extLst>
      <p:ext uri="{BB962C8B-B14F-4D97-AF65-F5344CB8AC3E}">
        <p14:creationId xmlns:p14="http://schemas.microsoft.com/office/powerpoint/2010/main" val="1525547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4030-14E5-EEE6-70F6-7068F7C6C5A6}"/>
              </a:ext>
            </a:extLst>
          </p:cNvPr>
          <p:cNvSpPr>
            <a:spLocks noGrp="1"/>
          </p:cNvSpPr>
          <p:nvPr>
            <p:ph type="title"/>
          </p:nvPr>
        </p:nvSpPr>
        <p:spPr/>
        <p:txBody>
          <a:bodyPr/>
          <a:lstStyle/>
          <a:p>
            <a:r>
              <a:rPr lang="vi-VN" dirty="0"/>
              <a:t>Tài liệu tham khảo	</a:t>
            </a:r>
            <a:endParaRPr lang="en-US" dirty="0"/>
          </a:p>
        </p:txBody>
      </p:sp>
      <p:sp>
        <p:nvSpPr>
          <p:cNvPr id="3" name="Text Placeholder 2">
            <a:extLst>
              <a:ext uri="{FF2B5EF4-FFF2-40B4-BE49-F238E27FC236}">
                <a16:creationId xmlns:a16="http://schemas.microsoft.com/office/drawing/2014/main" id="{E9F74995-8BE2-762F-DCDA-30FD7C477453}"/>
              </a:ext>
            </a:extLst>
          </p:cNvPr>
          <p:cNvSpPr>
            <a:spLocks noGrp="1"/>
          </p:cNvSpPr>
          <p:nvPr>
            <p:ph type="body" idx="1"/>
          </p:nvPr>
        </p:nvSpPr>
        <p:spPr/>
        <p:txBody>
          <a:bodyPr/>
          <a:lstStyle/>
          <a:p>
            <a:r>
              <a:rPr lang="en-US" dirty="0">
                <a:hlinkClick r:id="rId2"/>
              </a:rPr>
              <a:t>https://fptshop.com.vn/tin-tuc/danh-gia/phan-mem-quan-ly-nha-tro-172485</a:t>
            </a:r>
            <a:endParaRPr lang="vi-VN" dirty="0"/>
          </a:p>
          <a:p>
            <a:r>
              <a:rPr lang="en-US" dirty="0">
                <a:hlinkClick r:id="rId3"/>
              </a:rPr>
              <a:t>https://fossbk-spec.github.io/ktpmud-book/ch02_yeu_cau_thiet_ke_c4</a:t>
            </a:r>
            <a:endParaRPr lang="vi-VN" dirty="0"/>
          </a:p>
          <a:p>
            <a:r>
              <a:rPr lang="en-US" dirty="0">
                <a:hlinkClick r:id="rId4"/>
              </a:rPr>
              <a:t>https://fossbk-spec.github.io/ktpmud-book/ch01_tong_quan_sdlc</a:t>
            </a:r>
            <a:endParaRPr lang="vi-VN" dirty="0"/>
          </a:p>
          <a:p>
            <a:r>
              <a:rPr lang="en-US" dirty="0"/>
              <a:t>https://drive.google.com/drive/folders/1M_H4gYIb4BR8nvHoAhMrnJVDAq33Alk5</a:t>
            </a:r>
          </a:p>
        </p:txBody>
      </p:sp>
      <p:sp>
        <p:nvSpPr>
          <p:cNvPr id="4" name="Slide Number Placeholder 3">
            <a:extLst>
              <a:ext uri="{FF2B5EF4-FFF2-40B4-BE49-F238E27FC236}">
                <a16:creationId xmlns:a16="http://schemas.microsoft.com/office/drawing/2014/main" id="{CAB960B9-C4DB-8AA7-307E-9E227EAEFA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3465442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p:nvPr/>
        </p:nvSpPr>
        <p:spPr>
          <a:xfrm>
            <a:off x="5605763" y="2869457"/>
            <a:ext cx="5422456" cy="9713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6000"/>
              <a:buFont typeface="Lato"/>
              <a:buNone/>
            </a:pPr>
            <a:r>
              <a:rPr lang="en-US" sz="6000" b="1" i="0" u="none" strike="noStrike" cap="none">
                <a:solidFill>
                  <a:srgbClr val="C00000"/>
                </a:solidFill>
                <a:latin typeface="Lato"/>
                <a:ea typeface="Lato"/>
                <a:cs typeface="Lato"/>
                <a:sym typeface="Lato"/>
              </a:rPr>
              <a:t>THANK YOU !</a:t>
            </a:r>
            <a:endParaRPr/>
          </a:p>
        </p:txBody>
      </p:sp>
      <p:sp>
        <p:nvSpPr>
          <p:cNvPr id="234" name="Google Shape;234;p3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TotalTime>
  <Words>2616</Words>
  <Application>Microsoft Office PowerPoint</Application>
  <PresentationFormat>Widescreen</PresentationFormat>
  <Paragraphs>410</Paragraphs>
  <Slides>46</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Lato</vt:lpstr>
      <vt:lpstr>Times New Roman</vt:lpstr>
      <vt:lpstr>Calibri</vt:lpstr>
      <vt:lpstr>Office Theme</vt:lpstr>
      <vt:lpstr>PowerPoint Presentation</vt:lpstr>
      <vt:lpstr>PowerPoint Presentation</vt:lpstr>
      <vt:lpstr>MỤC LỤC</vt:lpstr>
      <vt:lpstr>MỤC LỤC</vt:lpstr>
      <vt:lpstr>1. Giới thiệu thành viên &amp; Phân công nhiệm vụ</vt:lpstr>
      <vt:lpstr>1. Giới thiệu thành viên &amp; Phân công nhiệm vụ</vt:lpstr>
      <vt:lpstr>3. Timeline dự kiến</vt:lpstr>
      <vt:lpstr>Mô hình xây dựng hệ thống</vt:lpstr>
      <vt:lpstr>Use Case – Quản lý hợp đồng </vt:lpstr>
      <vt:lpstr>MỤC LỤC</vt:lpstr>
      <vt:lpstr>2. Giới thiệu đề tài</vt:lpstr>
      <vt:lpstr>2. Giới thiệu đề tài</vt:lpstr>
      <vt:lpstr>2. Giới thiệu đề tài</vt:lpstr>
      <vt:lpstr>2. Giới thiệu đề tài</vt:lpstr>
      <vt:lpstr>2. Giới thiệu đề tài</vt:lpstr>
      <vt:lpstr>2. Giới thiệu đề tài</vt:lpstr>
      <vt:lpstr>MỤC LỤC</vt:lpstr>
      <vt:lpstr>Đặc tả User Story</vt:lpstr>
      <vt:lpstr>Sơ đồ phân cấp chức năng</vt:lpstr>
      <vt:lpstr>Yêu cầu chức năng</vt:lpstr>
      <vt:lpstr>Yêu cầu phi chức năng</vt:lpstr>
      <vt:lpstr>Ma trận truy vết chức năng</vt:lpstr>
      <vt:lpstr>MỤC LỤC</vt:lpstr>
      <vt:lpstr>Use case - Tổng thể</vt:lpstr>
      <vt:lpstr>Use Case – Đăng nhập, phân quyền</vt:lpstr>
      <vt:lpstr>Use Case – Quản lý phòng, người thuê</vt:lpstr>
      <vt:lpstr>Use Case – Quản lý khoản phí và hóa đơn</vt:lpstr>
      <vt:lpstr>Use Case – Tìm kiếm, thống kê</vt:lpstr>
      <vt:lpstr>Use Case – Quản lý thông báo, báo cáo</vt:lpstr>
      <vt:lpstr>Sequence – Đăng nhập, phân quyền</vt:lpstr>
      <vt:lpstr>Sequence – Quản lý phòng, người thuê, hợp đồng</vt:lpstr>
      <vt:lpstr>Sequence – Quản lý thanh toán, hóa đơn</vt:lpstr>
      <vt:lpstr>Sequence – Tìm kiếm, thống kê</vt:lpstr>
      <vt:lpstr>Sequence – Báo cáo sự cố, thông báo</vt:lpstr>
      <vt:lpstr>Activity – Đăng nhập, phân quyền </vt:lpstr>
      <vt:lpstr>Activity – Quản lý phòng, người thuê</vt:lpstr>
      <vt:lpstr>Activity – Quản lý hợp đồng</vt:lpstr>
      <vt:lpstr>Activity – Quản lý than toán, hóa đơn </vt:lpstr>
      <vt:lpstr>Activity – Tìm kiếm, thống kê </vt:lpstr>
      <vt:lpstr>Activity – Báo cáo sự cố, thông báo</vt:lpstr>
      <vt:lpstr>MỤC LỤC</vt:lpstr>
      <vt:lpstr>Biểu đồ Bối cảnh hệ thống (C1 - System Context Diagram) </vt:lpstr>
      <vt:lpstr>Biểu đồ Vùng chứa Ứng dụng (C2 - Container Diagram) </vt:lpstr>
      <vt:lpstr>Sơ đồ thực thể – liên kết (ERD)</vt:lpstr>
      <vt:lpstr>Tài liệu tham khảo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 Minh Son 202414351</cp:lastModifiedBy>
  <cp:revision>17</cp:revision>
  <dcterms:modified xsi:type="dcterms:W3CDTF">2026-10-24T17:30:10Z</dcterms:modified>
</cp:coreProperties>
</file>